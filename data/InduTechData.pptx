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dat" ContentType="application/x-fontdata"/>
  <Default Extension="bin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media/image238.bin" ContentType="image/svg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embedTrueTypeFonts="1" saveSubsetFonts="0">
  <p:sldMasterIdLst>
    <p:sldMasterId id="2147483672" r:id="rId1"/>
  </p:sldMasterIdLst>
  <p:sldIdLst>
    <p:sldId id="301" r:id="rId10"/>
    <p:sldId id="319" r:id="rId22"/>
    <p:sldId id="377" r:id="rId52"/>
    <p:sldId id="398" r:id="rId60"/>
    <p:sldId id="463" r:id="rId94"/>
    <p:sldId id="533" r:id="rId134"/>
    <p:sldId id="566" r:id="rId148"/>
    <p:sldId id="691" r:id="rId218"/>
    <p:sldId id="734" r:id="rId234"/>
    <p:sldId id="854" r:id="rId296"/>
    <p:sldId id="966" r:id="rId358"/>
    <p:sldId id="1028" r:id="rId394"/>
    <p:sldId id="1111" r:id="rId438"/>
    <p:sldId id="1185" r:id="rId478"/>
    <p:sldId id="1265" r:id="rId508"/>
    <p:sldId id="1301" r:id="rId526"/>
    <p:sldId id="1320" r:id="rId534"/>
    <p:sldId id="1365" r:id="rId560"/>
    <p:sldId id="1382" r:id="rId568"/>
    <p:sldId id="1450" r:id="rId604"/>
    <p:sldId id="1474" r:id="rId612"/>
  </p:sldIdLst>
  <p:sldSz cx="18288000" cy="10287000"/>
  <p:notesSz cx="18288000" cy="10287000"/>
  <p:embeddedFontLst>
    <p:embeddedFont>
      <p:font typeface="Inter" pitchFamily="2" charset="77"/>
      <p:regular r:id="rId6"/>
      <p:bold r:id="rId7"/>
    </p:embeddedFont>
    <p:embeddedFont>
      <p:font typeface="Inter SemiBold" pitchFamily="2" charset="77"/>
      <p:regular r:id="rId8"/>
    </p:embeddedFont>
    <p:embeddedFont>
      <p:font typeface="Archivo" pitchFamily="2" charset="77"/>
      <p:regular r:id="rId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2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viewProps" Target="viewProps.xml" Id="rId3" /><Relationship Type="http://schemas.openxmlformats.org/officeDocument/2006/relationships/presProps" Target="presProps.xml" Id="rId2" /><Relationship Type="http://schemas.openxmlformats.org/officeDocument/2006/relationships/slideMaster" Target="slideMasters/slideMaster1.xml" Id="rId1" /><Relationship Type="http://schemas.openxmlformats.org/officeDocument/2006/relationships/tableStyles" Target="tableStyles.xml" Id="rId5" /><Relationship Type="http://schemas.openxmlformats.org/officeDocument/2006/relationships/theme" Target="theme/theme1.xml" Id="rId4" /><Relationship Type="http://schemas.openxmlformats.org/officeDocument/2006/relationships/font" Target="/ppt/fonts/font.dat" Id="rId6" /><Relationship Type="http://schemas.openxmlformats.org/officeDocument/2006/relationships/font" Target="/ppt/fonts/font2.dat" Id="rId7" /><Relationship Type="http://schemas.openxmlformats.org/officeDocument/2006/relationships/font" Target="/ppt/fonts/font3.dat" Id="rId8" /><Relationship Type="http://schemas.openxmlformats.org/officeDocument/2006/relationships/font" Target="/ppt/fonts/font4.dat" Id="rId9" /><Relationship Type="http://schemas.openxmlformats.org/officeDocument/2006/relationships/slide" Target="/ppt/slides/slide1.xml" Id="rId10" /><Relationship Type="http://schemas.openxmlformats.org/officeDocument/2006/relationships/slide" Target="/ppt/slides/slide2.xml" Id="rId22" /><Relationship Type="http://schemas.openxmlformats.org/officeDocument/2006/relationships/slide" Target="/ppt/slides/slide3.xml" Id="rId52" /><Relationship Type="http://schemas.openxmlformats.org/officeDocument/2006/relationships/slide" Target="/ppt/slides/slide4.xml" Id="rId60" /><Relationship Type="http://schemas.openxmlformats.org/officeDocument/2006/relationships/slide" Target="/ppt/slides/slide5.xml" Id="rId94" /><Relationship Type="http://schemas.openxmlformats.org/officeDocument/2006/relationships/slide" Target="/ppt/slides/slide6.xml" Id="rId134" /><Relationship Type="http://schemas.openxmlformats.org/officeDocument/2006/relationships/slide" Target="/ppt/slides/slide7.xml" Id="rId148" /><Relationship Type="http://schemas.openxmlformats.org/officeDocument/2006/relationships/slide" Target="/ppt/slides/slide8.xml" Id="rId218" /><Relationship Type="http://schemas.openxmlformats.org/officeDocument/2006/relationships/slide" Target="/ppt/slides/slide9.xml" Id="rId234" /><Relationship Type="http://schemas.openxmlformats.org/officeDocument/2006/relationships/slide" Target="/ppt/slides/slide10.xml" Id="rId296" /><Relationship Type="http://schemas.openxmlformats.org/officeDocument/2006/relationships/slide" Target="/ppt/slides/slide11.xml" Id="rId358" /><Relationship Type="http://schemas.openxmlformats.org/officeDocument/2006/relationships/slide" Target="/ppt/slides/slide12.xml" Id="rId394" /><Relationship Type="http://schemas.openxmlformats.org/officeDocument/2006/relationships/slide" Target="/ppt/slides/slide13.xml" Id="rId438" /><Relationship Type="http://schemas.openxmlformats.org/officeDocument/2006/relationships/slide" Target="/ppt/slides/slide14.xml" Id="rId478" /><Relationship Type="http://schemas.openxmlformats.org/officeDocument/2006/relationships/slide" Target="/ppt/slides/slide15.xml" Id="rId508" /><Relationship Type="http://schemas.openxmlformats.org/officeDocument/2006/relationships/slide" Target="/ppt/slides/slide16.xml" Id="rId526" /><Relationship Type="http://schemas.openxmlformats.org/officeDocument/2006/relationships/slide" Target="/ppt/slides/slide17.xml" Id="rId534" /><Relationship Type="http://schemas.openxmlformats.org/officeDocument/2006/relationships/slide" Target="/ppt/slides/slide18.xml" Id="rId560" /><Relationship Type="http://schemas.openxmlformats.org/officeDocument/2006/relationships/slide" Target="/ppt/slides/slide19.xml" Id="rId568" /><Relationship Type="http://schemas.openxmlformats.org/officeDocument/2006/relationships/slide" Target="/ppt/slides/slide20.xml" Id="rId604" /><Relationship Type="http://schemas.openxmlformats.org/officeDocument/2006/relationships/slide" Target="/ppt/slides/slide21.xml" Id="rId612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21-01-20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4757450"/>
      </p:ext>
    </p:extLst>
  </p:cSld>
  <p:clrMapOvr>
    <a:masterClrMapping/>
  </p:clrMapOvr>
</p:sldLayout>
</file>

<file path=ppt/slideLayouts/slideLayout2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21-01-20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8595789"/>
      </p:ext>
    </p:extLst>
  </p:cSld>
  <p:clrMapOvr>
    <a:masterClrMapping/>
  </p:clrMapOvr>
</p:sldLayout>
</file>

<file path=ppt/slideLayouts/slideLayout3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21-01-20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9559282"/>
      </p:ext>
    </p:extLst>
  </p:cSld>
  <p:clrMapOvr>
    <a:masterClrMapping/>
  </p:clrMapOvr>
</p:sldLayout>
</file>

<file path=ppt/slideLayouts/slideLayout4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21-01-20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965825"/>
      </p:ext>
    </p:extLst>
  </p:cSld>
  <p:clrMapOvr>
    <a:masterClrMapping/>
  </p:clrMapOvr>
</p:sldLayout>
</file>

<file path=ppt/slideLayouts/slideLayout5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21-01-20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1391113"/>
      </p:ext>
    </p:extLst>
  </p:cSld>
  <p:clrMapOvr>
    <a:masterClrMapping/>
  </p:clrMapOvr>
</p:sldLayout>
</file>

<file path=ppt/slideLayouts/slideLayout6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21-01-20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0817637"/>
      </p:ext>
    </p:extLst>
  </p:cSld>
  <p:clrMapOvr>
    <a:masterClrMapping/>
  </p:clrMapOvr>
</p:sldLayout>
</file>

<file path=ppt/slideLayouts/slideLayout7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21-01-20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6754893"/>
      </p:ext>
    </p:extLst>
  </p:cSld>
  <p:clrMapOvr>
    <a:masterClrMapping/>
  </p:clrMapOvr>
</p:sldLayout>
</file>

<file path=ppt/slideLayouts/slideLayout8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21-01-20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0941404"/>
      </p:ext>
    </p:extLst>
  </p:cSld>
  <p:clrMapOvr>
    <a:masterClrMapping/>
  </p:clrMapOvr>
</p:sldLayout>
</file>

<file path=ppt/slideLayouts/slideLayout9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21-01-20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880297"/>
      </p:ext>
    </p:extLst>
  </p:cSld>
  <p:clrMapOvr>
    <a:masterClrMapping/>
  </p:clrMapOvr>
</p:sldLayout>
</file>

<file path=ppt/slideLayouts/slideLayout10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21-01-20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3150442"/>
      </p:ext>
    </p:extLst>
  </p:cSld>
  <p:clrMapOvr>
    <a:masterClrMapping/>
  </p:clrMapOvr>
</p:sldLayout>
</file>

<file path=ppt/slideLayouts/slideLayout11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21-01-20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6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8CEAE-9ACF-4870-96B2-2FDD755B4008}" type="datetimeFigureOut">
              <a:rPr lang="en-IN" smtClean="0"/>
              <a:t>21-01-20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8084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1" /><Relationship Type="http://schemas.openxmlformats.org/officeDocument/2006/relationships/image" Target="/ppt/media/image.bin" Id="rId13" /><Relationship Type="http://schemas.openxmlformats.org/officeDocument/2006/relationships/image" Target="/ppt/media/image2.bin" Id="rId15" /><Relationship Type="http://schemas.openxmlformats.org/officeDocument/2006/relationships/image" Target="/ppt/media/image3.bin" Id="rId17" /><Relationship Type="http://schemas.openxmlformats.org/officeDocument/2006/relationships/image" Target="/ppt/media/image4.bin" Id="rId19" /><Relationship Type="http://schemas.openxmlformats.org/officeDocument/2006/relationships/image" Target="/ppt/media/image5.bin" Id="rId2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23" /><Relationship Type="http://schemas.openxmlformats.org/officeDocument/2006/relationships/image" Target="/ppt/media/image6.bin" Id="rId25" /><Relationship Type="http://schemas.openxmlformats.org/officeDocument/2006/relationships/image" Target="/ppt/media/image7.bin" Id="rId27" /><Relationship Type="http://schemas.openxmlformats.org/officeDocument/2006/relationships/image" Target="/ppt/media/image8.bin" Id="rId29" /><Relationship Type="http://schemas.openxmlformats.org/officeDocument/2006/relationships/image" Target="/ppt/media/image9.bin" Id="rId31" /><Relationship Type="http://schemas.openxmlformats.org/officeDocument/2006/relationships/image" Target="/ppt/media/image10.bin" Id="rId33" /><Relationship Type="http://schemas.openxmlformats.org/officeDocument/2006/relationships/image" Target="/ppt/media/image11.bin" Id="rId35" /><Relationship Type="http://schemas.openxmlformats.org/officeDocument/2006/relationships/image" Target="/ppt/media/image12.bin" Id="rId37" /><Relationship Type="http://schemas.openxmlformats.org/officeDocument/2006/relationships/image" Target="/ppt/media/image13.bin" Id="rId39" /><Relationship Type="http://schemas.openxmlformats.org/officeDocument/2006/relationships/image" Target="/ppt/media/image14.bin" Id="rId41" /><Relationship Type="http://schemas.openxmlformats.org/officeDocument/2006/relationships/image" Target="/ppt/media/image15.bin" Id="rId43" /><Relationship Type="http://schemas.openxmlformats.org/officeDocument/2006/relationships/image" Target="/ppt/media/image16.bin" Id="rId45" /><Relationship Type="http://schemas.openxmlformats.org/officeDocument/2006/relationships/image" Target="/ppt/media/image17.bin" Id="rId47" /><Relationship Type="http://schemas.openxmlformats.org/officeDocument/2006/relationships/image" Target="/ppt/media/image18.bin" Id="rId49" /><Relationship Type="http://schemas.openxmlformats.org/officeDocument/2006/relationships/image" Target="/ppt/media/image19.bin" Id="rId5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53" /><Relationship Type="http://schemas.openxmlformats.org/officeDocument/2006/relationships/image" Target="/ppt/media/image20.bin" Id="rId55" /><Relationship Type="http://schemas.openxmlformats.org/officeDocument/2006/relationships/image" Target="/ppt/media/image21.bin" Id="rId57" /><Relationship Type="http://schemas.openxmlformats.org/officeDocument/2006/relationships/image" Target="/ppt/media/image22.bin" Id="rId5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61" /><Relationship Type="http://schemas.openxmlformats.org/officeDocument/2006/relationships/image" Target="/ppt/media/image23.bin" Id="rId63" /><Relationship Type="http://schemas.openxmlformats.org/officeDocument/2006/relationships/image" Target="/ppt/media/image24.bin" Id="rId65" /><Relationship Type="http://schemas.openxmlformats.org/officeDocument/2006/relationships/image" Target="/ppt/media/image25.bin" Id="rId67" /><Relationship Type="http://schemas.openxmlformats.org/officeDocument/2006/relationships/image" Target="/ppt/media/image26.bin" Id="rId69" /><Relationship Type="http://schemas.openxmlformats.org/officeDocument/2006/relationships/image" Target="/ppt/media/image27.bin" Id="rId71" /><Relationship Type="http://schemas.openxmlformats.org/officeDocument/2006/relationships/image" Target="/ppt/media/image28.bin" Id="rId73" /><Relationship Type="http://schemas.openxmlformats.org/officeDocument/2006/relationships/image" Target="/ppt/media/image29.bin" Id="rId75" /><Relationship Type="http://schemas.openxmlformats.org/officeDocument/2006/relationships/image" Target="/ppt/media/image30.bin" Id="rId77" /><Relationship Type="http://schemas.openxmlformats.org/officeDocument/2006/relationships/image" Target="/ppt/media/image31.bin" Id="rId79" /><Relationship Type="http://schemas.openxmlformats.org/officeDocument/2006/relationships/image" Target="/ppt/media/image32.bin" Id="rId81" /><Relationship Type="http://schemas.openxmlformats.org/officeDocument/2006/relationships/image" Target="/ppt/media/image33.bin" Id="rId83" /><Relationship Type="http://schemas.openxmlformats.org/officeDocument/2006/relationships/image" Target="/ppt/media/image34.bin" Id="rId85" /><Relationship Type="http://schemas.openxmlformats.org/officeDocument/2006/relationships/image" Target="/ppt/media/image35.bin" Id="rId87" /><Relationship Type="http://schemas.openxmlformats.org/officeDocument/2006/relationships/image" Target="/ppt/media/image36.bin" Id="rId89" /><Relationship Type="http://schemas.openxmlformats.org/officeDocument/2006/relationships/image" Target="/ppt/media/image37.bin" Id="rId91" /><Relationship Type="http://schemas.openxmlformats.org/officeDocument/2006/relationships/image" Target="/ppt/media/image38.bin" Id="rId9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95" /><Relationship Type="http://schemas.openxmlformats.org/officeDocument/2006/relationships/image" Target="/ppt/media/image39.bin" Id="rId97" /><Relationship Type="http://schemas.openxmlformats.org/officeDocument/2006/relationships/image" Target="/ppt/media/image40.bin" Id="rId99" /><Relationship Type="http://schemas.openxmlformats.org/officeDocument/2006/relationships/image" Target="/ppt/media/image41.bin" Id="rId101" /><Relationship Type="http://schemas.openxmlformats.org/officeDocument/2006/relationships/image" Target="/ppt/media/image42.bin" Id="rId103" /><Relationship Type="http://schemas.openxmlformats.org/officeDocument/2006/relationships/image" Target="/ppt/media/image43.bin" Id="rId105" /><Relationship Type="http://schemas.openxmlformats.org/officeDocument/2006/relationships/image" Target="/ppt/media/image44.bin" Id="rId107" /><Relationship Type="http://schemas.openxmlformats.org/officeDocument/2006/relationships/image" Target="/ppt/media/image45.bin" Id="rId109" /><Relationship Type="http://schemas.openxmlformats.org/officeDocument/2006/relationships/image" Target="/ppt/media/image46.bin" Id="rId111" /><Relationship Type="http://schemas.openxmlformats.org/officeDocument/2006/relationships/image" Target="/ppt/media/image47.bin" Id="rId113" /><Relationship Type="http://schemas.openxmlformats.org/officeDocument/2006/relationships/image" Target="/ppt/media/image48.bin" Id="rId115" /><Relationship Type="http://schemas.openxmlformats.org/officeDocument/2006/relationships/image" Target="/ppt/media/image49.bin" Id="rId117" /><Relationship Type="http://schemas.openxmlformats.org/officeDocument/2006/relationships/image" Target="/ppt/media/image50.bin" Id="rId119" /><Relationship Type="http://schemas.openxmlformats.org/officeDocument/2006/relationships/image" Target="/ppt/media/image51.bin" Id="rId121" /><Relationship Type="http://schemas.openxmlformats.org/officeDocument/2006/relationships/image" Target="/ppt/media/image52.bin" Id="rId123" /><Relationship Type="http://schemas.openxmlformats.org/officeDocument/2006/relationships/image" Target="/ppt/media/image53.bin" Id="rId125" /><Relationship Type="http://schemas.openxmlformats.org/officeDocument/2006/relationships/image" Target="/ppt/media/image54.bin" Id="rId127" /><Relationship Type="http://schemas.openxmlformats.org/officeDocument/2006/relationships/image" Target="/ppt/media/image55.bin" Id="rId129" /><Relationship Type="http://schemas.openxmlformats.org/officeDocument/2006/relationships/image" Target="/ppt/media/image56.bin" Id="rId131" /><Relationship Type="http://schemas.openxmlformats.org/officeDocument/2006/relationships/image" Target="/ppt/media/image57.bin" Id="rId13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35" /><Relationship Type="http://schemas.openxmlformats.org/officeDocument/2006/relationships/image" Target="/ppt/media/image58.bin" Id="rId137" /><Relationship Type="http://schemas.openxmlformats.org/officeDocument/2006/relationships/image" Target="/ppt/media/image59.bin" Id="rId139" /><Relationship Type="http://schemas.openxmlformats.org/officeDocument/2006/relationships/image" Target="/ppt/media/image60.bin" Id="rId141" /><Relationship Type="http://schemas.openxmlformats.org/officeDocument/2006/relationships/image" Target="/ppt/media/image61.bin" Id="rId143" /><Relationship Type="http://schemas.openxmlformats.org/officeDocument/2006/relationships/image" Target="/ppt/media/image62.bin" Id="rId145" /><Relationship Type="http://schemas.openxmlformats.org/officeDocument/2006/relationships/image" Target="/ppt/media/image63.bin" Id="rId14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49" /><Relationship Type="http://schemas.openxmlformats.org/officeDocument/2006/relationships/image" Target="/ppt/media/image64.bin" Id="rId151" /><Relationship Type="http://schemas.openxmlformats.org/officeDocument/2006/relationships/image" Target="/ppt/media/image65.bin" Id="rId153" /><Relationship Type="http://schemas.openxmlformats.org/officeDocument/2006/relationships/image" Target="/ppt/media/image66.bin" Id="rId155" /><Relationship Type="http://schemas.openxmlformats.org/officeDocument/2006/relationships/image" Target="/ppt/media/image67.bin" Id="rId157" /><Relationship Type="http://schemas.openxmlformats.org/officeDocument/2006/relationships/image" Target="/ppt/media/image68.bin" Id="rId159" /><Relationship Type="http://schemas.openxmlformats.org/officeDocument/2006/relationships/image" Target="/ppt/media/image69.bin" Id="rId161" /><Relationship Type="http://schemas.openxmlformats.org/officeDocument/2006/relationships/image" Target="/ppt/media/image70.bin" Id="rId163" /><Relationship Type="http://schemas.openxmlformats.org/officeDocument/2006/relationships/image" Target="/ppt/media/image71.bin" Id="rId165" /><Relationship Type="http://schemas.openxmlformats.org/officeDocument/2006/relationships/image" Target="/ppt/media/image72.bin" Id="rId167" /><Relationship Type="http://schemas.openxmlformats.org/officeDocument/2006/relationships/image" Target="/ppt/media/image73.bin" Id="rId169" /><Relationship Type="http://schemas.openxmlformats.org/officeDocument/2006/relationships/image" Target="/ppt/media/image74.bin" Id="rId171" /><Relationship Type="http://schemas.openxmlformats.org/officeDocument/2006/relationships/image" Target="/ppt/media/image75.bin" Id="rId173" /><Relationship Type="http://schemas.openxmlformats.org/officeDocument/2006/relationships/image" Target="/ppt/media/image76.bin" Id="rId175" /><Relationship Type="http://schemas.openxmlformats.org/officeDocument/2006/relationships/image" Target="/ppt/media/image77.bin" Id="rId177" /><Relationship Type="http://schemas.openxmlformats.org/officeDocument/2006/relationships/image" Target="/ppt/media/image78.bin" Id="rId179" /><Relationship Type="http://schemas.openxmlformats.org/officeDocument/2006/relationships/image" Target="/ppt/media/image79.bin" Id="rId181" /><Relationship Type="http://schemas.openxmlformats.org/officeDocument/2006/relationships/image" Target="/ppt/media/image80.bin" Id="rId183" /><Relationship Type="http://schemas.openxmlformats.org/officeDocument/2006/relationships/image" Target="/ppt/media/image81.bin" Id="rId185" /><Relationship Type="http://schemas.openxmlformats.org/officeDocument/2006/relationships/image" Target="/ppt/media/image82.bin" Id="rId187" /><Relationship Type="http://schemas.openxmlformats.org/officeDocument/2006/relationships/image" Target="/ppt/media/image83.bin" Id="rId189" /><Relationship Type="http://schemas.openxmlformats.org/officeDocument/2006/relationships/image" Target="/ppt/media/image84.bin" Id="rId191" /><Relationship Type="http://schemas.openxmlformats.org/officeDocument/2006/relationships/image" Target="/ppt/media/image85.bin" Id="rId193" /><Relationship Type="http://schemas.openxmlformats.org/officeDocument/2006/relationships/image" Target="/ppt/media/image86.bin" Id="rId195" /><Relationship Type="http://schemas.openxmlformats.org/officeDocument/2006/relationships/image" Target="/ppt/media/image87.bin" Id="rId197" /><Relationship Type="http://schemas.openxmlformats.org/officeDocument/2006/relationships/image" Target="/ppt/media/image88.bin" Id="rId199" /><Relationship Type="http://schemas.openxmlformats.org/officeDocument/2006/relationships/image" Target="/ppt/media/image89.bin" Id="rId201" /><Relationship Type="http://schemas.openxmlformats.org/officeDocument/2006/relationships/image" Target="/ppt/media/image90.bin" Id="rId203" /><Relationship Type="http://schemas.openxmlformats.org/officeDocument/2006/relationships/image" Target="/ppt/media/image91.bin" Id="rId205" /><Relationship Type="http://schemas.openxmlformats.org/officeDocument/2006/relationships/image" Target="/ppt/media/image92.bin" Id="rId207" /><Relationship Type="http://schemas.openxmlformats.org/officeDocument/2006/relationships/image" Target="/ppt/media/image93.bin" Id="rId209" /><Relationship Type="http://schemas.openxmlformats.org/officeDocument/2006/relationships/image" Target="/ppt/media/image94.bin" Id="rId211" /><Relationship Type="http://schemas.openxmlformats.org/officeDocument/2006/relationships/image" Target="/ppt/media/image95.bin" Id="rId213" /><Relationship Type="http://schemas.openxmlformats.org/officeDocument/2006/relationships/image" Target="/ppt/media/image96.bin" Id="rId215" /><Relationship Type="http://schemas.openxmlformats.org/officeDocument/2006/relationships/image" Target="/ppt/media/image97.bin" Id="rId21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219" /><Relationship Type="http://schemas.openxmlformats.org/officeDocument/2006/relationships/image" Target="/ppt/media/image98.bin" Id="rId221" /><Relationship Type="http://schemas.openxmlformats.org/officeDocument/2006/relationships/image" Target="/ppt/media/image99.bin" Id="rId223" /><Relationship Type="http://schemas.openxmlformats.org/officeDocument/2006/relationships/image" Target="/ppt/media/image100.bin" Id="rId225" /><Relationship Type="http://schemas.openxmlformats.org/officeDocument/2006/relationships/image" Target="/ppt/media/image101.bin" Id="rId227" /><Relationship Type="http://schemas.openxmlformats.org/officeDocument/2006/relationships/image" Target="/ppt/media/image102.bin" Id="rId229" /><Relationship Type="http://schemas.openxmlformats.org/officeDocument/2006/relationships/image" Target="/ppt/media/image103.bin" Id="rId231" /><Relationship Type="http://schemas.openxmlformats.org/officeDocument/2006/relationships/image" Target="/ppt/media/image104.bin" Id="rId23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235" /><Relationship Type="http://schemas.openxmlformats.org/officeDocument/2006/relationships/image" Target="/ppt/media/image105.bin" Id="rId237" /><Relationship Type="http://schemas.openxmlformats.org/officeDocument/2006/relationships/image" Target="/ppt/media/image106.bin" Id="rId239" /><Relationship Type="http://schemas.openxmlformats.org/officeDocument/2006/relationships/image" Target="/ppt/media/image107.bin" Id="rId241" /><Relationship Type="http://schemas.openxmlformats.org/officeDocument/2006/relationships/image" Target="/ppt/media/image108.bin" Id="rId243" /><Relationship Type="http://schemas.openxmlformats.org/officeDocument/2006/relationships/image" Target="/ppt/media/image109.bin" Id="rId245" /><Relationship Type="http://schemas.openxmlformats.org/officeDocument/2006/relationships/image" Target="/ppt/media/image110.bin" Id="rId247" /><Relationship Type="http://schemas.openxmlformats.org/officeDocument/2006/relationships/image" Target="/ppt/media/image111.bin" Id="rId249" /><Relationship Type="http://schemas.openxmlformats.org/officeDocument/2006/relationships/image" Target="/ppt/media/image112.bin" Id="rId251" /><Relationship Type="http://schemas.openxmlformats.org/officeDocument/2006/relationships/image" Target="/ppt/media/image113.bin" Id="rId253" /><Relationship Type="http://schemas.openxmlformats.org/officeDocument/2006/relationships/image" Target="/ppt/media/image114.bin" Id="rId255" /><Relationship Type="http://schemas.openxmlformats.org/officeDocument/2006/relationships/image" Target="/ppt/media/image115.bin" Id="rId257" /><Relationship Type="http://schemas.openxmlformats.org/officeDocument/2006/relationships/image" Target="/ppt/media/image116.bin" Id="rId259" /><Relationship Type="http://schemas.openxmlformats.org/officeDocument/2006/relationships/image" Target="/ppt/media/image117.bin" Id="rId261" /><Relationship Type="http://schemas.openxmlformats.org/officeDocument/2006/relationships/image" Target="/ppt/media/image118.bin" Id="rId263" /><Relationship Type="http://schemas.openxmlformats.org/officeDocument/2006/relationships/image" Target="/ppt/media/image119.bin" Id="rId265" /><Relationship Type="http://schemas.openxmlformats.org/officeDocument/2006/relationships/image" Target="/ppt/media/image120.bin" Id="rId267" /><Relationship Type="http://schemas.openxmlformats.org/officeDocument/2006/relationships/image" Target="/ppt/media/image121.bin" Id="rId269" /><Relationship Type="http://schemas.openxmlformats.org/officeDocument/2006/relationships/image" Target="/ppt/media/image122.bin" Id="rId271" /><Relationship Type="http://schemas.openxmlformats.org/officeDocument/2006/relationships/image" Target="/ppt/media/image123.bin" Id="rId273" /><Relationship Type="http://schemas.openxmlformats.org/officeDocument/2006/relationships/image" Target="/ppt/media/image124.bin" Id="rId275" /><Relationship Type="http://schemas.openxmlformats.org/officeDocument/2006/relationships/image" Target="/ppt/media/image125.bin" Id="rId277" /><Relationship Type="http://schemas.openxmlformats.org/officeDocument/2006/relationships/image" Target="/ppt/media/image126.bin" Id="rId279" /><Relationship Type="http://schemas.openxmlformats.org/officeDocument/2006/relationships/image" Target="/ppt/media/image127.bin" Id="rId281" /><Relationship Type="http://schemas.openxmlformats.org/officeDocument/2006/relationships/image" Target="/ppt/media/image128.bin" Id="rId283" /><Relationship Type="http://schemas.openxmlformats.org/officeDocument/2006/relationships/image" Target="/ppt/media/image129.bin" Id="rId285" /><Relationship Type="http://schemas.openxmlformats.org/officeDocument/2006/relationships/image" Target="/ppt/media/image130.bin" Id="rId287" /><Relationship Type="http://schemas.openxmlformats.org/officeDocument/2006/relationships/image" Target="/ppt/media/image131.bin" Id="rId289" /><Relationship Type="http://schemas.openxmlformats.org/officeDocument/2006/relationships/image" Target="/ppt/media/image132.bin" Id="rId291" /><Relationship Type="http://schemas.openxmlformats.org/officeDocument/2006/relationships/image" Target="/ppt/media/image133.bin" Id="rId293" /><Relationship Type="http://schemas.openxmlformats.org/officeDocument/2006/relationships/image" Target="/ppt/media/image134.bin" Id="rId29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297" /><Relationship Type="http://schemas.openxmlformats.org/officeDocument/2006/relationships/image" Target="/ppt/media/image135.bin" Id="rId299" /><Relationship Type="http://schemas.openxmlformats.org/officeDocument/2006/relationships/image" Target="/ppt/media/image136.bin" Id="rId301" /><Relationship Type="http://schemas.openxmlformats.org/officeDocument/2006/relationships/image" Target="/ppt/media/image137.bin" Id="rId303" /><Relationship Type="http://schemas.openxmlformats.org/officeDocument/2006/relationships/image" Target="/ppt/media/image138.bin" Id="rId305" /><Relationship Type="http://schemas.openxmlformats.org/officeDocument/2006/relationships/image" Target="/ppt/media/image139.bin" Id="rId307" /><Relationship Type="http://schemas.openxmlformats.org/officeDocument/2006/relationships/image" Target="/ppt/media/image140.bin" Id="rId309" /><Relationship Type="http://schemas.openxmlformats.org/officeDocument/2006/relationships/image" Target="/ppt/media/image141.bin" Id="rId311" /><Relationship Type="http://schemas.openxmlformats.org/officeDocument/2006/relationships/image" Target="/ppt/media/image142.bin" Id="rId313" /><Relationship Type="http://schemas.openxmlformats.org/officeDocument/2006/relationships/image" Target="/ppt/media/image143.bin" Id="rId315" /><Relationship Type="http://schemas.openxmlformats.org/officeDocument/2006/relationships/image" Target="/ppt/media/image144.bin" Id="rId317" /><Relationship Type="http://schemas.openxmlformats.org/officeDocument/2006/relationships/image" Target="/ppt/media/image145.bin" Id="rId319" /><Relationship Type="http://schemas.openxmlformats.org/officeDocument/2006/relationships/image" Target="/ppt/media/image146.bin" Id="rId321" /><Relationship Type="http://schemas.openxmlformats.org/officeDocument/2006/relationships/image" Target="/ppt/media/image147.bin" Id="rId323" /><Relationship Type="http://schemas.openxmlformats.org/officeDocument/2006/relationships/image" Target="/ppt/media/image148.bin" Id="rId325" /><Relationship Type="http://schemas.openxmlformats.org/officeDocument/2006/relationships/image" Target="/ppt/media/image149.bin" Id="rId327" /><Relationship Type="http://schemas.openxmlformats.org/officeDocument/2006/relationships/image" Target="/ppt/media/image150.bin" Id="rId329" /><Relationship Type="http://schemas.openxmlformats.org/officeDocument/2006/relationships/image" Target="/ppt/media/image151.bin" Id="rId331" /><Relationship Type="http://schemas.openxmlformats.org/officeDocument/2006/relationships/image" Target="/ppt/media/image152.bin" Id="rId333" /><Relationship Type="http://schemas.openxmlformats.org/officeDocument/2006/relationships/image" Target="/ppt/media/image153.bin" Id="rId335" /><Relationship Type="http://schemas.openxmlformats.org/officeDocument/2006/relationships/image" Target="/ppt/media/image154.bin" Id="rId337" /><Relationship Type="http://schemas.openxmlformats.org/officeDocument/2006/relationships/image" Target="/ppt/media/image155.bin" Id="rId339" /><Relationship Type="http://schemas.openxmlformats.org/officeDocument/2006/relationships/image" Target="/ppt/media/image156.bin" Id="rId341" /><Relationship Type="http://schemas.openxmlformats.org/officeDocument/2006/relationships/image" Target="/ppt/media/image157.bin" Id="rId343" /><Relationship Type="http://schemas.openxmlformats.org/officeDocument/2006/relationships/image" Target="/ppt/media/image158.bin" Id="rId345" /><Relationship Type="http://schemas.openxmlformats.org/officeDocument/2006/relationships/image" Target="/ppt/media/image159.bin" Id="rId347" /><Relationship Type="http://schemas.openxmlformats.org/officeDocument/2006/relationships/image" Target="/ppt/media/image160.bin" Id="rId349" /><Relationship Type="http://schemas.openxmlformats.org/officeDocument/2006/relationships/image" Target="/ppt/media/image161.bin" Id="rId351" /><Relationship Type="http://schemas.openxmlformats.org/officeDocument/2006/relationships/image" Target="/ppt/media/image162.bin" Id="rId353" /><Relationship Type="http://schemas.openxmlformats.org/officeDocument/2006/relationships/image" Target="/ppt/media/image163.bin" Id="rId355" /><Relationship Type="http://schemas.openxmlformats.org/officeDocument/2006/relationships/image" Target="/ppt/media/image164.bin" Id="rId35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359" /><Relationship Type="http://schemas.openxmlformats.org/officeDocument/2006/relationships/image" Target="/ppt/media/image165.bin" Id="rId361" /><Relationship Type="http://schemas.openxmlformats.org/officeDocument/2006/relationships/image" Target="/ppt/media/image166.bin" Id="rId363" /><Relationship Type="http://schemas.openxmlformats.org/officeDocument/2006/relationships/image" Target="/ppt/media/image167.bin" Id="rId365" /><Relationship Type="http://schemas.openxmlformats.org/officeDocument/2006/relationships/image" Target="/ppt/media/image168.bin" Id="rId367" /><Relationship Type="http://schemas.openxmlformats.org/officeDocument/2006/relationships/image" Target="/ppt/media/image169.bin" Id="rId369" /><Relationship Type="http://schemas.openxmlformats.org/officeDocument/2006/relationships/image" Target="/ppt/media/image170.bin" Id="rId371" /><Relationship Type="http://schemas.openxmlformats.org/officeDocument/2006/relationships/image" Target="/ppt/media/image171.bin" Id="rId373" /><Relationship Type="http://schemas.openxmlformats.org/officeDocument/2006/relationships/image" Target="/ppt/media/image172.bin" Id="rId375" /><Relationship Type="http://schemas.openxmlformats.org/officeDocument/2006/relationships/image" Target="/ppt/media/image173.bin" Id="rId377" /><Relationship Type="http://schemas.openxmlformats.org/officeDocument/2006/relationships/image" Target="/ppt/media/image174.bin" Id="rId379" /><Relationship Type="http://schemas.openxmlformats.org/officeDocument/2006/relationships/image" Target="/ppt/media/image175.bin" Id="rId381" /><Relationship Type="http://schemas.openxmlformats.org/officeDocument/2006/relationships/image" Target="/ppt/media/image176.bin" Id="rId383" /><Relationship Type="http://schemas.openxmlformats.org/officeDocument/2006/relationships/image" Target="/ppt/media/image177.bin" Id="rId385" /><Relationship Type="http://schemas.openxmlformats.org/officeDocument/2006/relationships/image" Target="/ppt/media/image178.bin" Id="rId387" /><Relationship Type="http://schemas.openxmlformats.org/officeDocument/2006/relationships/image" Target="/ppt/media/image179.bin" Id="rId389" /><Relationship Type="http://schemas.openxmlformats.org/officeDocument/2006/relationships/image" Target="/ppt/media/image180.bin" Id="rId391" /><Relationship Type="http://schemas.openxmlformats.org/officeDocument/2006/relationships/image" Target="/ppt/media/image181.bin" Id="rId39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395" /><Relationship Type="http://schemas.openxmlformats.org/officeDocument/2006/relationships/image" Target="/ppt/media/image182.bin" Id="rId397" /><Relationship Type="http://schemas.openxmlformats.org/officeDocument/2006/relationships/image" Target="/ppt/media/image183.bin" Id="rId399" /><Relationship Type="http://schemas.openxmlformats.org/officeDocument/2006/relationships/image" Target="/ppt/media/image184.bin" Id="rId401" /><Relationship Type="http://schemas.openxmlformats.org/officeDocument/2006/relationships/image" Target="/ppt/media/image185.bin" Id="rId403" /><Relationship Type="http://schemas.openxmlformats.org/officeDocument/2006/relationships/image" Target="/ppt/media/image186.bin" Id="rId405" /><Relationship Type="http://schemas.openxmlformats.org/officeDocument/2006/relationships/image" Target="/ppt/media/image187.bin" Id="rId407" /><Relationship Type="http://schemas.openxmlformats.org/officeDocument/2006/relationships/image" Target="/ppt/media/image188.bin" Id="rId409" /><Relationship Type="http://schemas.openxmlformats.org/officeDocument/2006/relationships/image" Target="/ppt/media/image189.bin" Id="rId411" /><Relationship Type="http://schemas.openxmlformats.org/officeDocument/2006/relationships/image" Target="/ppt/media/image190.bin" Id="rId413" /><Relationship Type="http://schemas.openxmlformats.org/officeDocument/2006/relationships/image" Target="/ppt/media/image191.bin" Id="rId415" /><Relationship Type="http://schemas.openxmlformats.org/officeDocument/2006/relationships/image" Target="/ppt/media/image192.bin" Id="rId417" /><Relationship Type="http://schemas.openxmlformats.org/officeDocument/2006/relationships/image" Target="/ppt/media/image193.bin" Id="rId419" /><Relationship Type="http://schemas.openxmlformats.org/officeDocument/2006/relationships/image" Target="/ppt/media/image194.bin" Id="rId421" /><Relationship Type="http://schemas.openxmlformats.org/officeDocument/2006/relationships/image" Target="/ppt/media/image195.bin" Id="rId423" /><Relationship Type="http://schemas.openxmlformats.org/officeDocument/2006/relationships/image" Target="/ppt/media/image196.bin" Id="rId425" /><Relationship Type="http://schemas.openxmlformats.org/officeDocument/2006/relationships/image" Target="/ppt/media/image197.bin" Id="rId427" /><Relationship Type="http://schemas.openxmlformats.org/officeDocument/2006/relationships/image" Target="/ppt/media/image198.bin" Id="rId429" /><Relationship Type="http://schemas.openxmlformats.org/officeDocument/2006/relationships/image" Target="/ppt/media/image199.bin" Id="rId431" /><Relationship Type="http://schemas.openxmlformats.org/officeDocument/2006/relationships/image" Target="/ppt/media/image200.bin" Id="rId433" /><Relationship Type="http://schemas.openxmlformats.org/officeDocument/2006/relationships/image" Target="/ppt/media/image201.bin" Id="rId435" /><Relationship Type="http://schemas.openxmlformats.org/officeDocument/2006/relationships/image" Target="/ppt/media/image202.bin" Id="rId43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439" /><Relationship Type="http://schemas.openxmlformats.org/officeDocument/2006/relationships/image" Target="/ppt/media/image203.bin" Id="rId441" /><Relationship Type="http://schemas.openxmlformats.org/officeDocument/2006/relationships/image" Target="/ppt/media/image204.bin" Id="rId443" /><Relationship Type="http://schemas.openxmlformats.org/officeDocument/2006/relationships/image" Target="/ppt/media/image205.bin" Id="rId445" /><Relationship Type="http://schemas.openxmlformats.org/officeDocument/2006/relationships/image" Target="/ppt/media/image206.bin" Id="rId447" /><Relationship Type="http://schemas.openxmlformats.org/officeDocument/2006/relationships/image" Target="/ppt/media/image207.bin" Id="rId449" /><Relationship Type="http://schemas.openxmlformats.org/officeDocument/2006/relationships/image" Target="/ppt/media/image208.bin" Id="rId451" /><Relationship Type="http://schemas.openxmlformats.org/officeDocument/2006/relationships/image" Target="/ppt/media/image209.bin" Id="rId453" /><Relationship Type="http://schemas.openxmlformats.org/officeDocument/2006/relationships/image" Target="/ppt/media/image210.bin" Id="rId455" /><Relationship Type="http://schemas.openxmlformats.org/officeDocument/2006/relationships/image" Target="/ppt/media/image211.bin" Id="rId457" /><Relationship Type="http://schemas.openxmlformats.org/officeDocument/2006/relationships/image" Target="/ppt/media/image212.bin" Id="rId459" /><Relationship Type="http://schemas.openxmlformats.org/officeDocument/2006/relationships/image" Target="/ppt/media/image213.bin" Id="rId461" /><Relationship Type="http://schemas.openxmlformats.org/officeDocument/2006/relationships/image" Target="/ppt/media/image214.bin" Id="rId463" /><Relationship Type="http://schemas.openxmlformats.org/officeDocument/2006/relationships/image" Target="/ppt/media/image215.bin" Id="rId465" /><Relationship Type="http://schemas.openxmlformats.org/officeDocument/2006/relationships/image" Target="/ppt/media/image216.bin" Id="rId467" /><Relationship Type="http://schemas.openxmlformats.org/officeDocument/2006/relationships/image" Target="/ppt/media/image217.bin" Id="rId469" /><Relationship Type="http://schemas.openxmlformats.org/officeDocument/2006/relationships/image" Target="/ppt/media/image218.bin" Id="rId471" /><Relationship Type="http://schemas.openxmlformats.org/officeDocument/2006/relationships/image" Target="/ppt/media/image219.bin" Id="rId473" /><Relationship Type="http://schemas.openxmlformats.org/officeDocument/2006/relationships/image" Target="/ppt/media/image220.bin" Id="rId475" /><Relationship Type="http://schemas.openxmlformats.org/officeDocument/2006/relationships/image" Target="/ppt/media/image221.bin" Id="rId47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479" /><Relationship Type="http://schemas.openxmlformats.org/officeDocument/2006/relationships/image" Target="/ppt/media/image222.bin" Id="rId481" /><Relationship Type="http://schemas.openxmlformats.org/officeDocument/2006/relationships/image" Target="/ppt/media/image223.bin" Id="rId483" /><Relationship Type="http://schemas.openxmlformats.org/officeDocument/2006/relationships/image" Target="/ppt/media/image224.bin" Id="rId485" /><Relationship Type="http://schemas.openxmlformats.org/officeDocument/2006/relationships/image" Target="/ppt/media/image225.bin" Id="rId487" /><Relationship Type="http://schemas.openxmlformats.org/officeDocument/2006/relationships/image" Target="/ppt/media/image226.bin" Id="rId489" /><Relationship Type="http://schemas.openxmlformats.org/officeDocument/2006/relationships/image" Target="/ppt/media/image227.bin" Id="rId491" /><Relationship Type="http://schemas.openxmlformats.org/officeDocument/2006/relationships/image" Target="/ppt/media/image228.bin" Id="rId493" /><Relationship Type="http://schemas.openxmlformats.org/officeDocument/2006/relationships/image" Target="/ppt/media/image229.bin" Id="rId495" /><Relationship Type="http://schemas.openxmlformats.org/officeDocument/2006/relationships/image" Target="/ppt/media/image230.bin" Id="rId497" /><Relationship Type="http://schemas.openxmlformats.org/officeDocument/2006/relationships/image" Target="/ppt/media/image231.bin" Id="rId499" /><Relationship Type="http://schemas.openxmlformats.org/officeDocument/2006/relationships/image" Target="/ppt/media/image232.bin" Id="rId501" /><Relationship Type="http://schemas.openxmlformats.org/officeDocument/2006/relationships/image" Target="/ppt/media/image233.bin" Id="rId503" /><Relationship Type="http://schemas.openxmlformats.org/officeDocument/2006/relationships/image" Target="/ppt/media/image234.bin" Id="rId505" /><Relationship Type="http://schemas.openxmlformats.org/officeDocument/2006/relationships/image" Target="/ppt/media/image235.bin" Id="rId50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509" /><Relationship Type="http://schemas.openxmlformats.org/officeDocument/2006/relationships/image" Target="/ppt/media/image236.bin" Id="rId511" /><Relationship Type="http://schemas.openxmlformats.org/officeDocument/2006/relationships/image" Target="/ppt/media/image237.bin" Id="rId513" /><Relationship Type="http://schemas.openxmlformats.org/officeDocument/2006/relationships/image" Target="/ppt/media/image238.bin" Id="rId515" /><Relationship Type="http://schemas.openxmlformats.org/officeDocument/2006/relationships/image" Target="/ppt/media/image239.bin" Id="rId516" /><Relationship Type="http://schemas.openxmlformats.org/officeDocument/2006/relationships/image" Target="/ppt/media/image240.bin" Id="rId517" /><Relationship Type="http://schemas.openxmlformats.org/officeDocument/2006/relationships/image" Target="/ppt/media/image241.bin" Id="rId519" /><Relationship Type="http://schemas.openxmlformats.org/officeDocument/2006/relationships/image" Target="/ppt/media/image242.bin" Id="rId521" /><Relationship Type="http://schemas.openxmlformats.org/officeDocument/2006/relationships/image" Target="/ppt/media/image243.bin" Id="rId523" /><Relationship Type="http://schemas.openxmlformats.org/officeDocument/2006/relationships/image" Target="/ppt/media/image244.bin" Id="rId52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527" /><Relationship Type="http://schemas.openxmlformats.org/officeDocument/2006/relationships/image" Target="/ppt/media/image245.bin" Id="rId529" /><Relationship Type="http://schemas.openxmlformats.org/officeDocument/2006/relationships/image" Target="/ppt/media/image246.bin" Id="rId531" /><Relationship Type="http://schemas.openxmlformats.org/officeDocument/2006/relationships/image" Target="/ppt/media/image247.bin" Id="rId53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535" /><Relationship Type="http://schemas.openxmlformats.org/officeDocument/2006/relationships/image" Target="/ppt/media/image248.bin" Id="rId537" /><Relationship Type="http://schemas.openxmlformats.org/officeDocument/2006/relationships/image" Target="/ppt/media/image249.bin" Id="rId539" /><Relationship Type="http://schemas.openxmlformats.org/officeDocument/2006/relationships/image" Target="/ppt/media/image250.bin" Id="rId541" /><Relationship Type="http://schemas.openxmlformats.org/officeDocument/2006/relationships/image" Target="/ppt/media/image251.bin" Id="rId543" /><Relationship Type="http://schemas.openxmlformats.org/officeDocument/2006/relationships/image" Target="/ppt/media/image252.bin" Id="rId545" /><Relationship Type="http://schemas.openxmlformats.org/officeDocument/2006/relationships/image" Target="/ppt/media/image253.bin" Id="rId547" /><Relationship Type="http://schemas.openxmlformats.org/officeDocument/2006/relationships/image" Target="/ppt/media/image254.bin" Id="rId549" /><Relationship Type="http://schemas.openxmlformats.org/officeDocument/2006/relationships/image" Target="/ppt/media/image255.bin" Id="rId551" /><Relationship Type="http://schemas.openxmlformats.org/officeDocument/2006/relationships/image" Target="/ppt/media/image256.bin" Id="rId553" /><Relationship Type="http://schemas.openxmlformats.org/officeDocument/2006/relationships/image" Target="/ppt/media/image257.bin" Id="rId555" /><Relationship Type="http://schemas.openxmlformats.org/officeDocument/2006/relationships/image" Target="/ppt/media/image258.bin" Id="rId557" /><Relationship Type="http://schemas.openxmlformats.org/officeDocument/2006/relationships/image" Target="/ppt/media/image259.bin" Id="rId55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561" /><Relationship Type="http://schemas.openxmlformats.org/officeDocument/2006/relationships/image" Target="/ppt/media/image260.bin" Id="rId563" /><Relationship Type="http://schemas.openxmlformats.org/officeDocument/2006/relationships/image" Target="/ppt/media/image261.bin" Id="rId565" /><Relationship Type="http://schemas.openxmlformats.org/officeDocument/2006/relationships/image" Target="/ppt/media/image262.bin" Id="rId56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569" /><Relationship Type="http://schemas.openxmlformats.org/officeDocument/2006/relationships/image" Target="/ppt/media/image263.bin" Id="rId571" /><Relationship Type="http://schemas.openxmlformats.org/officeDocument/2006/relationships/image" Target="/ppt/media/image264.bin" Id="rId573" /><Relationship Type="http://schemas.openxmlformats.org/officeDocument/2006/relationships/image" Target="/ppt/media/image265.bin" Id="rId575" /><Relationship Type="http://schemas.openxmlformats.org/officeDocument/2006/relationships/image" Target="/ppt/media/image266.bin" Id="rId577" /><Relationship Type="http://schemas.openxmlformats.org/officeDocument/2006/relationships/image" Target="/ppt/media/image267.bin" Id="rId579" /><Relationship Type="http://schemas.openxmlformats.org/officeDocument/2006/relationships/image" Target="/ppt/media/image268.bin" Id="rId581" /><Relationship Type="http://schemas.openxmlformats.org/officeDocument/2006/relationships/image" Target="/ppt/media/image269.bin" Id="rId583" /><Relationship Type="http://schemas.openxmlformats.org/officeDocument/2006/relationships/image" Target="/ppt/media/image270.bin" Id="rId585" /><Relationship Type="http://schemas.openxmlformats.org/officeDocument/2006/relationships/image" Target="/ppt/media/image271.bin" Id="rId587" /><Relationship Type="http://schemas.openxmlformats.org/officeDocument/2006/relationships/image" Target="/ppt/media/image272.bin" Id="rId589" /><Relationship Type="http://schemas.openxmlformats.org/officeDocument/2006/relationships/image" Target="/ppt/media/image273.bin" Id="rId591" /><Relationship Type="http://schemas.openxmlformats.org/officeDocument/2006/relationships/image" Target="/ppt/media/image274.bin" Id="rId593" /><Relationship Type="http://schemas.openxmlformats.org/officeDocument/2006/relationships/image" Target="/ppt/media/image275.bin" Id="rId595" /><Relationship Type="http://schemas.openxmlformats.org/officeDocument/2006/relationships/image" Target="/ppt/media/image276.bin" Id="rId597" /><Relationship Type="http://schemas.openxmlformats.org/officeDocument/2006/relationships/image" Target="/ppt/media/image277.bin" Id="rId599" /><Relationship Type="http://schemas.openxmlformats.org/officeDocument/2006/relationships/image" Target="/ppt/media/image278.bin" Id="rId601" /><Relationship Type="http://schemas.openxmlformats.org/officeDocument/2006/relationships/image" Target="/ppt/media/image279.bin" Id="rId60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605" /><Relationship Type="http://schemas.openxmlformats.org/officeDocument/2006/relationships/image" Target="/ppt/media/image280.bin" Id="rId607" /><Relationship Type="http://schemas.openxmlformats.org/officeDocument/2006/relationships/image" Target="/ppt/media/image281.bin" Id="rId609" /><Relationship Type="http://schemas.openxmlformats.org/officeDocument/2006/relationships/image" Target="/ppt/media/image282.bin" Id="rId61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613" /><Relationship Type="http://schemas.openxmlformats.org/officeDocument/2006/relationships/image" Target="/ppt/media/image283.bin" Id="rId615" /><Relationship Type="http://schemas.openxmlformats.org/officeDocument/2006/relationships/image" Target="/ppt/media/image284.bin" Id="rId617" /><Relationship Type="http://schemas.openxmlformats.org/officeDocument/2006/relationships/image" Target="/ppt/media/image285.bin" Id="rId619" /></Relationships>
</file>

<file path=ppt/slides/slide1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0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5">
            <a:alphaModFix amt="100000"/>
          </a:blip>
          <a:stretch/>
        </p:blipFill>
        <p:spPr>
          <a:xfrm>
            <a:off x="0" y="6172200"/>
            <a:ext cx="4752975" cy="4114800"/>
          </a:xfrm>
          <a:prstGeom prst="rect">
            <a:avLst/>
          </a:prstGeom>
        </p:spPr>
      </p:pic>
      <p:pic>
        <p:nvPicPr>
          <p:cNvPr id="30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7">
            <a:alphaModFix amt="100000"/>
          </a:blip>
          <a:stretch/>
        </p:blipFill>
        <p:spPr>
          <a:xfrm>
            <a:off x="2743200" y="0"/>
            <a:ext cx="15544800" cy="7429500"/>
          </a:xfrm>
          <a:prstGeom prst="rect">
            <a:avLst/>
          </a:prstGeom>
        </p:spPr>
      </p:pic>
      <p:pic>
        <p:nvPicPr>
          <p:cNvPr id="306" name="coverimag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19">
            <a:alphaModFix amt="100000"/>
          </a:blip>
          <a:stretch/>
        </p:blipFill>
        <p:spPr>
          <a:xfrm>
            <a:off x="914400" y="914400"/>
            <a:ext cx="6172200" cy="8458200"/>
          </a:xfrm>
          <a:prstGeom prst="rect">
            <a:avLst/>
          </a:prstGeom>
        </p:spPr>
      </p:pic>
      <p:sp>
        <p:nvSpPr>
          <p:cNvPr id="308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002810" y="1537144"/>
            <a:ext cx="9405938" cy="29146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7623"/>
              </a:lnSpc>
            </a:pPr>
            <a:r>
              <a:rPr lang="en-US" sz="6300" spc="-158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Architecture Cloud Hybride* pour InduTechData</a:t>
            </a:r>
          </a:p>
        </p:txBody>
      </p:sp>
      <p:sp>
        <p:nvSpPr>
          <p:cNvPr id="310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002810" y="4633055"/>
            <a:ext cx="9405938" cy="14954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sz="1650" spc="-36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InduTechData est une entreprise de taille moyenne</a:t>
            </a:r>
            <a:r>
              <a:rPr lang="en-US" sz="1650" spc="-36" dirty="0">
                <a:solidFill>
                  <a:srgbClr val="FFFFFF"/>
                </a:solidFill>
                <a:latin typeface="Inter" panose="00000700000000000000" pitchFamily="2" charset="0"/>
              </a:rPr>
              <a:t> fondée il y a 15 ans</a:t>
            </a:r>
            <a:r>
              <a:rPr lang="en-US" sz="1650" spc="-36" dirty="0">
                <a:solidFill>
                  <a:srgbClr val="FFFFFF"/>
                </a:solidFill>
                <a:latin typeface="Inter" panose="00000700000000000000" pitchFamily="2" charset="0"/>
              </a:rPr>
              <a:t> spécialisée dans l’analyse de données pour le secteur industriel.  </a:t>
            </a:r>
            <a:r>
              <a:rPr lang="en-US" sz="1650" spc="-36" dirty="0">
                <a:solidFill>
                  <a:srgbClr val="FFFFFF"/>
                </a:solidFill>
                <a:latin typeface="Inter" panose="00000700000000000000" pitchFamily="2" charset="0"/>
              </a:rPr>
              <a:t>Proposition technique détaillée pour une architecture hybride unifiée alliant on-premise et services cloud managés.</a:t>
            </a:r>
          </a:p>
        </p:txBody>
      </p:sp>
      <p:sp>
        <p:nvSpPr>
          <p:cNvPr id="312" name="Presenter Name-419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876949" y="8898350"/>
            <a:ext cx="6310312" cy="3905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2982"/>
              </a:lnSpc>
            </a:pPr>
            <a:r>
              <a:rPr lang="en-US" sz="2100" spc="-52" dirty="0">
                <a:solidFill>
                  <a:srgbClr val="161723">
                    <a:alpha val="100000"/>
                  </a:srgbClr>
                </a:solidFill>
                <a:latin typeface="Inter SemiBold" panose="00000700000000000000" pitchFamily="2" charset="0"/>
              </a:rPr>
              <a:t>Pascal DUVAL</a:t>
            </a:r>
          </a:p>
        </p:txBody>
      </p:sp>
      <p:sp>
        <p:nvSpPr>
          <p:cNvPr id="314" name="Presenter Designation-41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876949" y="9277064"/>
            <a:ext cx="6310312" cy="5810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2244"/>
              </a:lnSpc>
            </a:pPr>
            <a:r>
              <a:rPr lang="en-US" sz="1650" spc="-33" dirty="0">
                <a:solidFill>
                  <a:srgbClr val="6E6E74">
                    <a:alpha val="100000"/>
                  </a:srgbClr>
                </a:solidFill>
                <a:latin typeface="Inter" panose="00000700000000000000" pitchFamily="2" charset="0"/>
              </a:rPr>
              <a:t>AI/ML Engineer</a:t>
            </a:r>
            <a:r>
              <a:rPr lang="en-US" sz="1650" spc="-33" dirty="0">
                <a:solidFill>
                  <a:srgbClr val="6E6E74"/>
                </a:solidFill>
                <a:latin typeface="Inter" panose="00000700000000000000" pitchFamily="2" charset="0"/>
              </a:rPr>
              <a:t>responsable d'infrastructure cloud </a:t>
            </a:r>
          </a:p>
        </p:txBody>
      </p:sp>
      <p:pic>
        <p:nvPicPr>
          <p:cNvPr id="316" name="sgPresentorImageNod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21">
            <a:alphaModFix amt="100000"/>
          </a:blip>
          <a:stretch/>
        </p:blipFill>
        <p:spPr>
          <a:xfrm>
            <a:off x="16344805" y="8858250"/>
            <a:ext cx="1028700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2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5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2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alphaModFix amt="100000"/>
          </a:blip>
          <a:stretch/>
        </p:blipFill>
        <p:spPr>
          <a:xfrm>
            <a:off x="14630400" y="0"/>
            <a:ext cx="3657600" cy="914400"/>
          </a:xfrm>
          <a:prstGeom prst="rect">
            <a:avLst/>
          </a:prstGeom>
        </p:spPr>
      </p:pic>
      <p:pic>
        <p:nvPicPr>
          <p:cNvPr id="322" name="imageNode0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29">
            <a:alphaModFix amt="100000"/>
          </a:blip>
          <a:stretch/>
        </p:blipFill>
        <p:spPr>
          <a:xfrm>
            <a:off x="914400" y="2552700"/>
            <a:ext cx="3714750" cy="4000500"/>
          </a:xfrm>
          <a:prstGeom prst="rect">
            <a:avLst/>
          </a:prstGeom>
        </p:spPr>
      </p:pic>
      <p:sp>
        <p:nvSpPr>
          <p:cNvPr id="324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6932866"/>
            <a:ext cx="3748088" cy="3905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982"/>
              </a:lnSpc>
            </a:pPr>
            <a:r>
              <a:rPr lang="en-US" sz="2100" spc="-52" dirty="0">
                <a:solidFill>
                  <a:srgbClr val="161723">
                    <a:alpha val="100000"/>
                  </a:srgbClr>
                </a:solidFill>
                <a:latin typeface="Inter SemiBold" panose="00000700000000000000" pitchFamily="2" charset="0"/>
              </a:rPr>
              <a:t>Cluster </a:t>
            </a:r>
            <a:r>
              <a:rPr lang="en-US" sz="2100" b="1" spc="-52" dirty="0">
                <a:solidFill>
                  <a:srgbClr val="161723"/>
                </a:solidFill>
                <a:latin typeface="Inter SemiBold" panose="00000700000000000000" pitchFamily="2" charset="0"/>
              </a:rPr>
              <a:t>SQL Server</a:t>
            </a:r>
          </a:p>
        </p:txBody>
      </p:sp>
      <p:sp>
        <p:nvSpPr>
          <p:cNvPr id="326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76706" y="7425880"/>
            <a:ext cx="3585782" cy="6572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1800" spc="-36" dirty="0">
                <a:solidFill>
                  <a:srgbClr val="161723">
                    <a:alpha val="100000"/>
                  </a:srgbClr>
                </a:solidFill>
                <a:latin typeface="Inter" panose="00000700000000000000" pitchFamily="2" charset="0"/>
              </a:rPr>
              <a:t>40 To de données critiques hébergées</a:t>
            </a:r>
          </a:p>
        </p:txBody>
      </p:sp>
      <p:pic>
        <p:nvPicPr>
          <p:cNvPr id="328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1">
            <a:alphaModFix amt="100000"/>
          </a:blip>
          <a:stretch/>
        </p:blipFill>
        <p:spPr>
          <a:xfrm>
            <a:off x="914400" y="7555706"/>
            <a:ext cx="64740" cy="64740"/>
          </a:xfrm>
          <a:prstGeom prst="rect">
            <a:avLst/>
          </a:prstGeom>
        </p:spPr>
      </p:pic>
      <p:sp>
        <p:nvSpPr>
          <p:cNvPr id="330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76706" y="8075009"/>
            <a:ext cx="3585782" cy="6572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1800" spc="-36" dirty="0">
                <a:solidFill>
                  <a:srgbClr val="161723">
                    <a:alpha val="100000"/>
                  </a:srgbClr>
                </a:solidFill>
                <a:latin typeface="Inter" panose="00000700000000000000" pitchFamily="2" charset="0"/>
              </a:rPr>
              <a:t>Contient les données d'application ERP et CRM</a:t>
            </a:r>
          </a:p>
        </p:txBody>
      </p:sp>
      <p:pic>
        <p:nvPicPr>
          <p:cNvPr id="332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3">
            <a:alphaModFix amt="100000"/>
          </a:blip>
          <a:stretch/>
        </p:blipFill>
        <p:spPr>
          <a:xfrm>
            <a:off x="914400" y="8204835"/>
            <a:ext cx="64740" cy="64740"/>
          </a:xfrm>
          <a:prstGeom prst="rect">
            <a:avLst/>
          </a:prstGeom>
        </p:spPr>
      </p:pic>
      <p:sp>
        <p:nvSpPr>
          <p:cNvPr id="334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76706" y="8724138"/>
            <a:ext cx="3585782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1800" spc="-36" dirty="0">
                <a:solidFill>
                  <a:srgbClr val="161723">
                    <a:alpha val="100000"/>
                  </a:srgbClr>
                </a:solidFill>
                <a:latin typeface="Inter" panose="00000700000000000000" pitchFamily="2" charset="0"/>
              </a:rPr>
              <a:t>Sauvegardes régulières en place</a:t>
            </a:r>
          </a:p>
        </p:txBody>
      </p:sp>
      <p:pic>
        <p:nvPicPr>
          <p:cNvPr id="336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5">
            <a:alphaModFix amt="100000"/>
          </a:blip>
          <a:stretch/>
        </p:blipFill>
        <p:spPr>
          <a:xfrm>
            <a:off x="914400" y="8853964"/>
            <a:ext cx="64740" cy="64740"/>
          </a:xfrm>
          <a:prstGeom prst="rect">
            <a:avLst/>
          </a:prstGeom>
        </p:spPr>
      </p:pic>
      <p:sp>
        <p:nvSpPr>
          <p:cNvPr id="338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76706" y="9048655"/>
            <a:ext cx="3585782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1800" spc="-36" dirty="0">
                <a:solidFill>
                  <a:srgbClr val="161723">
                    <a:alpha val="100000"/>
                  </a:srgbClr>
                </a:solidFill>
                <a:latin typeface="Inter" panose="00000700000000000000" pitchFamily="2" charset="0"/>
              </a:rPr>
              <a:t>Réplication pour résilience</a:t>
            </a:r>
          </a:p>
        </p:txBody>
      </p:sp>
      <p:pic>
        <p:nvPicPr>
          <p:cNvPr id="340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7">
            <a:alphaModFix amt="100000"/>
          </a:blip>
          <a:stretch/>
        </p:blipFill>
        <p:spPr>
          <a:xfrm>
            <a:off x="914400" y="9178480"/>
            <a:ext cx="64740" cy="64740"/>
          </a:xfrm>
          <a:prstGeom prst="rect">
            <a:avLst/>
          </a:prstGeom>
        </p:spPr>
      </p:pic>
      <p:pic>
        <p:nvPicPr>
          <p:cNvPr id="342" name="imageNode1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9">
            <a:alphaModFix amt="100000"/>
          </a:blip>
          <a:stretch/>
        </p:blipFill>
        <p:spPr>
          <a:xfrm>
            <a:off x="5162550" y="2552700"/>
            <a:ext cx="3714750" cy="4000500"/>
          </a:xfrm>
          <a:prstGeom prst="rect">
            <a:avLst/>
          </a:prstGeom>
        </p:spPr>
      </p:pic>
      <p:sp>
        <p:nvSpPr>
          <p:cNvPr id="344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5162550" y="6934200"/>
            <a:ext cx="3748088" cy="3905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982"/>
              </a:lnSpc>
            </a:pPr>
            <a:r>
              <a:rPr lang="en-US" sz="2100" spc="-52" dirty="0">
                <a:solidFill>
                  <a:srgbClr val="161723">
                    <a:alpha val="100000"/>
                  </a:srgbClr>
                </a:solidFill>
                <a:latin typeface="Inter SemiBold" panose="00000700000000000000" pitchFamily="2" charset="0"/>
              </a:rPr>
              <a:t>Baie de stockage SAN</a:t>
            </a:r>
          </a:p>
        </p:txBody>
      </p:sp>
      <p:sp>
        <p:nvSpPr>
          <p:cNvPr id="346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5324856" y="7427214"/>
            <a:ext cx="3585782" cy="6572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1800" spc="-36" dirty="0">
                <a:solidFill>
                  <a:srgbClr val="161723">
                    <a:alpha val="100000"/>
                  </a:srgbClr>
                </a:solidFill>
                <a:latin typeface="Inter" panose="00000700000000000000" pitchFamily="2" charset="0"/>
              </a:rPr>
              <a:t>10 To de données non structurées (Données issues de capteurs IoT)</a:t>
            </a:r>
          </a:p>
        </p:txBody>
      </p:sp>
      <p:pic>
        <p:nvPicPr>
          <p:cNvPr id="348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1">
            <a:alphaModFix amt="100000"/>
          </a:blip>
          <a:stretch/>
        </p:blipFill>
        <p:spPr>
          <a:xfrm>
            <a:off x="5162550" y="7557040"/>
            <a:ext cx="64740" cy="64740"/>
          </a:xfrm>
          <a:prstGeom prst="rect">
            <a:avLst/>
          </a:prstGeom>
        </p:spPr>
      </p:pic>
      <p:sp>
        <p:nvSpPr>
          <p:cNvPr id="350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5324856" y="8076343"/>
            <a:ext cx="3585782" cy="6572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1800" spc="-36" dirty="0">
                <a:solidFill>
                  <a:srgbClr val="161723">
                    <a:alpha val="100000"/>
                  </a:srgbClr>
                </a:solidFill>
                <a:latin typeface="Inter" panose="00000700000000000000" pitchFamily="2" charset="0"/>
              </a:rPr>
              <a:t>Journaux système et fichiers utilisateurs</a:t>
            </a:r>
          </a:p>
        </p:txBody>
      </p:sp>
      <p:pic>
        <p:nvPicPr>
          <p:cNvPr id="352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3">
            <a:alphaModFix amt="100000"/>
          </a:blip>
          <a:stretch/>
        </p:blipFill>
        <p:spPr>
          <a:xfrm>
            <a:off x="5162550" y="8206168"/>
            <a:ext cx="64740" cy="64740"/>
          </a:xfrm>
          <a:prstGeom prst="rect">
            <a:avLst/>
          </a:prstGeom>
        </p:spPr>
      </p:pic>
      <p:pic>
        <p:nvPicPr>
          <p:cNvPr id="354" name="imageNode2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45">
            <a:alphaModFix amt="100000"/>
          </a:blip>
          <a:stretch/>
        </p:blipFill>
        <p:spPr>
          <a:xfrm>
            <a:off x="9410700" y="2552700"/>
            <a:ext cx="3714750" cy="4000500"/>
          </a:xfrm>
          <a:prstGeom prst="rect">
            <a:avLst/>
          </a:prstGeom>
        </p:spPr>
      </p:pic>
      <p:sp>
        <p:nvSpPr>
          <p:cNvPr id="356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410700" y="6934200"/>
            <a:ext cx="3748088" cy="3905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982"/>
              </a:lnSpc>
            </a:pPr>
            <a:r>
              <a:rPr lang="en-US" sz="2100" spc="-52" dirty="0">
                <a:solidFill>
                  <a:srgbClr val="161723">
                    <a:alpha val="100000"/>
                  </a:srgbClr>
                </a:solidFill>
                <a:latin typeface="Inter SemiBold" panose="00000700000000000000" pitchFamily="2" charset="0"/>
              </a:rPr>
              <a:t>Serveur </a:t>
            </a:r>
            <a:r>
              <a:rPr lang="en-US" sz="2100" b="1" spc="-52" dirty="0">
                <a:solidFill>
                  <a:srgbClr val="161723"/>
                </a:solidFill>
                <a:latin typeface="Inter SemiBold" panose="00000700000000000000" pitchFamily="2" charset="0"/>
              </a:rPr>
              <a:t>Active Directory</a:t>
            </a:r>
          </a:p>
        </p:txBody>
      </p:sp>
      <p:sp>
        <p:nvSpPr>
          <p:cNvPr id="358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410700" y="7427214"/>
            <a:ext cx="3748088" cy="16287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1800" spc="-36" dirty="0">
                <a:solidFill>
                  <a:srgbClr val="161723">
                    <a:alpha val="100000"/>
                  </a:srgbClr>
                </a:solidFill>
                <a:latin typeface="Inter" panose="00000700000000000000" pitchFamily="2" charset="0"/>
              </a:rPr>
              <a:t>Authentification et autorisation centralisées </a:t>
            </a:r>
            <a:r>
              <a:rPr lang="en-US" sz="1800" spc="-36" dirty="0">
                <a:solidFill>
                  <a:srgbClr val="161723"/>
                </a:solidFill>
                <a:latin typeface="Inter" panose="00000700000000000000" pitchFamily="2" charset="0"/>
              </a:rPr>
              <a:t>authn/authz</a:t>
            </a:r>
            <a:r>
              <a:rPr lang="en-US" sz="1800" spc="-36" dirty="0">
                <a:solidFill>
                  <a:srgbClr val="161723"/>
                </a:solidFill>
                <a:latin typeface="Inter" panose="00000700000000000000" pitchFamily="2" charset="0"/>
              </a:rPr>
              <a:t>Gestion des comptes et politiquesBase pour contrôle d'accès aux applications</a:t>
            </a:r>
          </a:p>
        </p:txBody>
      </p:sp>
      <p:pic>
        <p:nvPicPr>
          <p:cNvPr id="360" name="imageNode3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47">
            <a:alphaModFix amt="100000"/>
          </a:blip>
          <a:stretch/>
        </p:blipFill>
        <p:spPr>
          <a:xfrm>
            <a:off x="13658850" y="2552700"/>
            <a:ext cx="3714750" cy="4000500"/>
          </a:xfrm>
          <a:prstGeom prst="rect">
            <a:avLst/>
          </a:prstGeom>
        </p:spPr>
      </p:pic>
      <p:sp>
        <p:nvSpPr>
          <p:cNvPr id="362" name="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3658850" y="6934200"/>
            <a:ext cx="3748088" cy="3905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982"/>
              </a:lnSpc>
            </a:pPr>
            <a:r>
              <a:rPr lang="en-US" sz="2100" spc="-52" dirty="0">
                <a:solidFill>
                  <a:srgbClr val="161723">
                    <a:alpha val="100000"/>
                  </a:srgbClr>
                </a:solidFill>
                <a:latin typeface="Inter SemiBold" panose="00000700000000000000" pitchFamily="2" charset="0"/>
              </a:rPr>
              <a:t>Serveurs ERP et CRM dédiés</a:t>
            </a:r>
          </a:p>
        </p:txBody>
      </p:sp>
      <p:sp>
        <p:nvSpPr>
          <p:cNvPr id="364" name="Description of a 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3821156" y="7427214"/>
            <a:ext cx="3585782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1800" spc="-36" dirty="0">
                <a:solidFill>
                  <a:srgbClr val="161723">
                    <a:alpha val="100000"/>
                  </a:srgbClr>
                </a:solidFill>
                <a:latin typeface="Inter" panose="00000700000000000000" pitchFamily="2" charset="0"/>
              </a:rPr>
              <a:t>Gestion comptabilité et RH</a:t>
            </a:r>
          </a:p>
        </p:txBody>
      </p:sp>
      <p:pic>
        <p:nvPicPr>
          <p:cNvPr id="366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9">
            <a:alphaModFix amt="100000"/>
          </a:blip>
          <a:stretch/>
        </p:blipFill>
        <p:spPr>
          <a:xfrm>
            <a:off x="13658850" y="7557040"/>
            <a:ext cx="64740" cy="64740"/>
          </a:xfrm>
          <a:prstGeom prst="rect">
            <a:avLst/>
          </a:prstGeom>
        </p:spPr>
      </p:pic>
      <p:sp>
        <p:nvSpPr>
          <p:cNvPr id="368" name="Description of a 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3821156" y="7751731"/>
            <a:ext cx="3585782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1800" spc="-36" dirty="0">
                <a:solidFill>
                  <a:srgbClr val="161723">
                    <a:alpha val="100000"/>
                  </a:srgbClr>
                </a:solidFill>
                <a:latin typeface="Inter" panose="00000700000000000000" pitchFamily="2" charset="0"/>
              </a:rPr>
              <a:t>Gestion de la relation clien</a:t>
            </a:r>
          </a:p>
        </p:txBody>
      </p:sp>
      <p:pic>
        <p:nvPicPr>
          <p:cNvPr id="370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1">
            <a:alphaModFix amt="100000"/>
          </a:blip>
          <a:stretch/>
        </p:blipFill>
        <p:spPr>
          <a:xfrm>
            <a:off x="13658850" y="7881652"/>
            <a:ext cx="64740" cy="64740"/>
          </a:xfrm>
          <a:prstGeom prst="rect">
            <a:avLst/>
          </a:prstGeom>
        </p:spPr>
      </p:pic>
      <p:sp>
        <p:nvSpPr>
          <p:cNvPr id="372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876300"/>
            <a:ext cx="12682538" cy="6953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5376"/>
              </a:lnSpc>
            </a:pPr>
            <a:r>
              <a:rPr lang="en-US" sz="4200" spc="-105" dirty="0">
                <a:solidFill>
                  <a:srgbClr val="452E5A">
                    <a:alpha val="100000"/>
                  </a:srgbClr>
                </a:solidFill>
                <a:latin typeface="Inter" panose="00000700000000000000" pitchFamily="2" charset="0"/>
              </a:rPr>
              <a:t>SI existant </a:t>
            </a:r>
            <a:r>
              <a:rPr lang="en-US" sz="4200" i="1" spc="-105" dirty="0">
                <a:solidFill>
                  <a:srgbClr val="452E5A"/>
                </a:solidFill>
                <a:latin typeface="Inter" panose="00000700000000000000" pitchFamily="2" charset="0"/>
              </a:rPr>
              <a:t>on-premise</a:t>
            </a:r>
            <a:r>
              <a:rPr lang="en-US" sz="4200" spc="-105" dirty="0">
                <a:solidFill>
                  <a:srgbClr val="452E5A"/>
                </a:solidFill>
                <a:latin typeface="Inter" panose="00000700000000000000" pitchFamily="2" charset="0"/>
              </a:rPr>
              <a:t> </a:t>
            </a:r>
          </a:p>
        </p:txBody>
      </p:sp>
      <p:sp>
        <p:nvSpPr>
          <p:cNvPr id="374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1676400"/>
            <a:ext cx="1268253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1800" spc="-36" dirty="0">
                <a:solidFill>
                  <a:srgbClr val="6E6E74">
                    <a:alpha val="100000"/>
                  </a:srgbClr>
                </a:solidFill>
                <a:latin typeface="Inter" panose="00000700000000000000" pitchFamily="2" charset="0"/>
              </a:rPr>
              <a:t>Composants clés et des volumes de données  de l'infrastructure informatique installée et hébergée localement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3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5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7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7">
            <a:alphaModFix amt="100000"/>
          </a:blip>
          <a:stretch/>
        </p:blipFill>
        <p:spPr>
          <a:xfrm>
            <a:off x="14630400" y="0"/>
            <a:ext cx="3657600" cy="914400"/>
          </a:xfrm>
          <a:prstGeom prst="rect">
            <a:avLst/>
          </a:prstGeom>
        </p:spPr>
      </p:pic>
      <p:pic>
        <p:nvPicPr>
          <p:cNvPr id="380" name="svg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9">
            <a:alphaModFix amt="100000"/>
          </a:blip>
          <a:stretch/>
        </p:blipFill>
        <p:spPr>
          <a:xfrm>
            <a:off x="5029200" y="2628900"/>
            <a:ext cx="8229600" cy="6743700"/>
          </a:xfrm>
          <a:prstGeom prst="rect">
            <a:avLst/>
          </a:prstGeom>
        </p:spPr>
      </p:pic>
      <p:sp>
        <p:nvSpPr>
          <p:cNvPr id="381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2930366"/>
            <a:ext cx="5710238" cy="4381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3408"/>
              </a:lnSpc>
            </a:pPr>
            <a:r>
              <a:rPr lang="en-US" sz="2400" spc="-52" dirty="0">
                <a:solidFill>
                  <a:srgbClr val="161723">
                    <a:alpha val="100000"/>
                  </a:srgbClr>
                </a:solidFill>
                <a:latin typeface="Inter SemiBold" panose="00000700000000000000" pitchFamily="2" charset="0"/>
              </a:rPr>
              <a:t>Ingestion et </a:t>
            </a:r>
            <a:r>
              <a:rPr lang="en-US" sz="2400" b="1" spc="-52" dirty="0">
                <a:solidFill>
                  <a:srgbClr val="161723"/>
                </a:solidFill>
                <a:latin typeface="Inter SemiBold" panose="00000700000000000000" pitchFamily="2" charset="0"/>
              </a:rPr>
              <a:t>streaming</a:t>
            </a:r>
          </a:p>
        </p:txBody>
      </p:sp>
      <p:sp>
        <p:nvSpPr>
          <p:cNvPr id="382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3439287"/>
            <a:ext cx="5710238" cy="11430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2982"/>
              </a:lnSpc>
            </a:pPr>
            <a:r>
              <a:rPr lang="en-US" sz="2100" spc="-36" dirty="0">
                <a:solidFill>
                  <a:srgbClr val="E52F1F">
                    <a:alpha val="100000"/>
                  </a:srgbClr>
                </a:solidFill>
                <a:latin typeface="Inter" panose="00000700000000000000" pitchFamily="2" charset="0"/>
              </a:rPr>
              <a:t>Absorber 50 Go supplémentaires par mois de flux capteurs en temps réel avec traitement rapide</a:t>
            </a:r>
          </a:p>
        </p:txBody>
      </p:sp>
      <p:sp>
        <p:nvSpPr>
          <p:cNvPr id="383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685842" y="3119723"/>
            <a:ext cx="5719762" cy="4381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408"/>
              </a:lnSpc>
            </a:pPr>
            <a:r>
              <a:rPr lang="en-US" sz="2400" spc="-52" dirty="0">
                <a:solidFill>
                  <a:srgbClr val="161723">
                    <a:alpha val="100000"/>
                  </a:srgbClr>
                </a:solidFill>
                <a:latin typeface="Inter SemiBold" panose="00000700000000000000" pitchFamily="2" charset="0"/>
              </a:rPr>
              <a:t>Stockage évolutif</a:t>
            </a:r>
          </a:p>
        </p:txBody>
      </p:sp>
      <p:sp>
        <p:nvSpPr>
          <p:cNvPr id="384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685842" y="3628739"/>
            <a:ext cx="5719762" cy="7715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982"/>
              </a:lnSpc>
            </a:pPr>
            <a:r>
              <a:rPr lang="en-US" sz="2100" spc="-36" dirty="0">
                <a:solidFill>
                  <a:srgbClr val="F6550D">
                    <a:alpha val="100000"/>
                  </a:srgbClr>
                </a:solidFill>
                <a:latin typeface="Inter" panose="00000700000000000000" pitchFamily="2" charset="0"/>
              </a:rPr>
              <a:t>Données temps réel sur stockage cloud scalable compatible SI existant</a:t>
            </a:r>
          </a:p>
        </p:txBody>
      </p:sp>
      <p:sp>
        <p:nvSpPr>
          <p:cNvPr id="385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685842" y="5361813"/>
            <a:ext cx="5719762" cy="4381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408"/>
              </a:lnSpc>
            </a:pPr>
            <a:r>
              <a:rPr lang="en-US" sz="2400" spc="-52" dirty="0">
                <a:solidFill>
                  <a:srgbClr val="161723">
                    <a:alpha val="100000"/>
                  </a:srgbClr>
                </a:solidFill>
                <a:latin typeface="Inter SemiBold" panose="00000700000000000000" pitchFamily="2" charset="0"/>
              </a:rPr>
              <a:t>Traitement et résilience</a:t>
            </a:r>
          </a:p>
        </p:txBody>
      </p:sp>
      <p:sp>
        <p:nvSpPr>
          <p:cNvPr id="386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685842" y="5870734"/>
            <a:ext cx="5719762" cy="7715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982"/>
              </a:lnSpc>
            </a:pPr>
            <a:r>
              <a:rPr lang="en-US" sz="2100" spc="-36" dirty="0">
                <a:solidFill>
                  <a:srgbClr val="161723">
                    <a:alpha val="100000"/>
                  </a:srgbClr>
                </a:solidFill>
                <a:latin typeface="Inter" panose="00000700000000000000" pitchFamily="2" charset="0"/>
              </a:rPr>
              <a:t>Traitement fiable et performant</a:t>
            </a:r>
            <a:r>
              <a:rPr lang="en-US" sz="2100" spc="-36" dirty="0">
                <a:solidFill>
                  <a:srgbClr val="161723"/>
                </a:solidFill>
                <a:latin typeface="Inter" panose="00000700000000000000" pitchFamily="2" charset="0"/>
              </a:rPr>
              <a:t> </a:t>
            </a:r>
            <a:r>
              <a:rPr lang="en-US" sz="2100" spc="-36" dirty="0">
                <a:solidFill>
                  <a:srgbClr val="F6550D"/>
                </a:solidFill>
                <a:latin typeface="Inter" panose="00000700000000000000" pitchFamily="2" charset="0"/>
              </a:rPr>
              <a:t>pour flux continus, haute disponibilité</a:t>
            </a:r>
          </a:p>
        </p:txBody>
      </p:sp>
      <p:sp>
        <p:nvSpPr>
          <p:cNvPr id="387" name="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685842" y="7799165"/>
            <a:ext cx="5557838" cy="4381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408"/>
              </a:lnSpc>
            </a:pPr>
            <a:r>
              <a:rPr lang="en-US" sz="2400" spc="-52" dirty="0">
                <a:solidFill>
                  <a:srgbClr val="161723">
                    <a:alpha val="100000"/>
                  </a:srgbClr>
                </a:solidFill>
                <a:latin typeface="Inter SemiBold" panose="00000700000000000000" pitchFamily="2" charset="0"/>
              </a:rPr>
              <a:t>Sécurité des flux</a:t>
            </a:r>
          </a:p>
        </p:txBody>
      </p:sp>
      <p:sp>
        <p:nvSpPr>
          <p:cNvPr id="388" name="Description of a 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685842" y="8308086"/>
            <a:ext cx="5557838" cy="3905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982"/>
              </a:lnSpc>
            </a:pPr>
            <a:r>
              <a:rPr lang="en-US" sz="2100" spc="-36" dirty="0">
                <a:solidFill>
                  <a:srgbClr val="2A38DF">
                    <a:alpha val="100000"/>
                  </a:srgbClr>
                </a:solidFill>
                <a:latin typeface="Inter" panose="00000700000000000000" pitchFamily="2" charset="0"/>
              </a:rPr>
              <a:t>Protection des données</a:t>
            </a:r>
            <a:r>
              <a:rPr lang="en-US" sz="2100" spc="-36" dirty="0">
                <a:solidFill>
                  <a:srgbClr val="DF2A5C"/>
                </a:solidFill>
                <a:latin typeface="Inter" panose="00000700000000000000" pitchFamily="2" charset="0"/>
              </a:rPr>
              <a:t> en transit </a:t>
            </a:r>
            <a:r>
              <a:rPr lang="en-US" sz="2100" spc="-36" dirty="0">
                <a:solidFill>
                  <a:srgbClr val="2A38DF"/>
                </a:solidFill>
                <a:latin typeface="Inter" panose="00000700000000000000" pitchFamily="2" charset="0"/>
              </a:rPr>
              <a:t>et au repos</a:t>
            </a:r>
          </a:p>
        </p:txBody>
      </p:sp>
      <p:sp>
        <p:nvSpPr>
          <p:cNvPr id="389" name="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7610951"/>
            <a:ext cx="5710238" cy="4381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3408"/>
              </a:lnSpc>
            </a:pPr>
            <a:r>
              <a:rPr lang="en-US" sz="2400" spc="-52" dirty="0">
                <a:solidFill>
                  <a:srgbClr val="161723">
                    <a:alpha val="100000"/>
                  </a:srgbClr>
                </a:solidFill>
                <a:latin typeface="Inter SemiBold" panose="00000700000000000000" pitchFamily="2" charset="0"/>
              </a:rPr>
              <a:t>Interopérabilité SI</a:t>
            </a:r>
          </a:p>
        </p:txBody>
      </p:sp>
      <p:sp>
        <p:nvSpPr>
          <p:cNvPr id="390" name="Description of a 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8119872"/>
            <a:ext cx="5710238" cy="7715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2982"/>
              </a:lnSpc>
            </a:pPr>
            <a:r>
              <a:rPr lang="en-US" sz="2100" spc="-36" dirty="0">
                <a:solidFill>
                  <a:srgbClr val="F40B5B">
                    <a:alpha val="100000"/>
                  </a:srgbClr>
                </a:solidFill>
                <a:latin typeface="Inter" panose="00000700000000000000" pitchFamily="2" charset="0"/>
              </a:rPr>
              <a:t>Connexion fluide entre AWS et on-premise</a:t>
            </a:r>
            <a:r>
              <a:rPr lang="en-US" sz="2100" spc="-36" dirty="0">
                <a:solidFill>
                  <a:srgbClr val="530BF4"/>
                </a:solidFill>
                <a:latin typeface="Inter" panose="00000700000000000000" pitchFamily="2" charset="0"/>
              </a:rPr>
              <a:t> pour gestion des identités</a:t>
            </a:r>
          </a:p>
        </p:txBody>
      </p:sp>
      <p:sp>
        <p:nvSpPr>
          <p:cNvPr id="391" name="Primary Heading-5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2873026" y="5551075"/>
            <a:ext cx="3757612" cy="4381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3408"/>
              </a:lnSpc>
            </a:pPr>
            <a:r>
              <a:rPr lang="en-US" sz="2400" spc="-52" dirty="0">
                <a:solidFill>
                  <a:srgbClr val="161723">
                    <a:alpha val="100000"/>
                  </a:srgbClr>
                </a:solidFill>
                <a:latin typeface="Inter SemiBold" panose="00000700000000000000" pitchFamily="2" charset="0"/>
              </a:rPr>
              <a:t>Gouvernance </a:t>
            </a:r>
          </a:p>
        </p:txBody>
      </p:sp>
      <p:sp>
        <p:nvSpPr>
          <p:cNvPr id="392" name="Description of a primary heading-5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2873026" y="6060091"/>
            <a:ext cx="3757612" cy="3905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2982"/>
              </a:lnSpc>
            </a:pPr>
            <a:r>
              <a:rPr lang="en-US" sz="2100" spc="-36" dirty="0">
                <a:solidFill>
                  <a:srgbClr val="2432DB">
                    <a:alpha val="100000"/>
                  </a:srgbClr>
                </a:solidFill>
                <a:latin typeface="Inter" panose="00000700000000000000" pitchFamily="2" charset="0"/>
              </a:rPr>
              <a:t>Gestion centralisée des accès </a:t>
            </a:r>
          </a:p>
        </p:txBody>
      </p:sp>
      <p:sp>
        <p:nvSpPr>
          <p:cNvPr id="393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876300"/>
            <a:ext cx="12682538" cy="6953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5376"/>
              </a:lnSpc>
            </a:pPr>
            <a:r>
              <a:rPr lang="en-US" sz="4200" spc="-105" dirty="0">
                <a:solidFill>
                  <a:srgbClr val="452E5A">
                    <a:alpha val="100000"/>
                  </a:srgbClr>
                </a:solidFill>
                <a:latin typeface="Inter" panose="00000700000000000000" pitchFamily="2" charset="0"/>
              </a:rPr>
              <a:t>Moderniser la gestion des données </a:t>
            </a:r>
          </a:p>
        </p:txBody>
      </p:sp>
      <p:sp>
        <p:nvSpPr>
          <p:cNvPr id="395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1676400"/>
            <a:ext cx="12682538" cy="4476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408"/>
              </a:lnSpc>
            </a:pPr>
            <a:r>
              <a:rPr lang="en-US" sz="2400" b="1" i="1" spc="-36" dirty="0">
                <a:solidFill>
                  <a:srgbClr val="6E6E74">
                    <a:alpha val="100000"/>
                  </a:srgbClr>
                </a:solidFill>
                <a:latin typeface="Inter" panose="00000700000000000000" pitchFamily="2" charset="0"/>
              </a:rPr>
              <a:t>Scalabilité cloud (notamment AWS)  et interopérabilité avec l’on-premise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4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3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0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5">
            <a:alphaModFix amt="100000"/>
          </a:blip>
          <a:stretch/>
        </p:blipFill>
        <p:spPr>
          <a:xfrm>
            <a:off x="0" y="0"/>
            <a:ext cx="6362700" cy="10287000"/>
          </a:xfrm>
          <a:prstGeom prst="rect">
            <a:avLst/>
          </a:prstGeom>
        </p:spPr>
      </p:pic>
      <p:pic>
        <p:nvPicPr>
          <p:cNvPr id="402" name="iconNode0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7">
            <a:alphaModFix amt="100000"/>
          </a:blip>
          <a:stretch/>
        </p:blipFill>
        <p:spPr>
          <a:xfrm>
            <a:off x="7315200" y="1498473"/>
            <a:ext cx="1371600" cy="1371600"/>
          </a:xfrm>
          <a:prstGeom prst="rect">
            <a:avLst/>
          </a:prstGeom>
        </p:spPr>
      </p:pic>
      <p:sp>
        <p:nvSpPr>
          <p:cNvPr id="404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877300" y="1469993"/>
            <a:ext cx="8529638" cy="4953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834"/>
              </a:lnSpc>
            </a:pPr>
            <a:r>
              <a:rPr lang="en-US" sz="2700" spc="-52" dirty="0">
                <a:solidFill>
                  <a:srgbClr val="FFFFFF">
                    <a:alpha val="100000"/>
                  </a:srgbClr>
                </a:solidFill>
                <a:latin typeface="Inter SemiBold" panose="00000700000000000000" pitchFamily="2" charset="0"/>
              </a:rPr>
              <a:t>Latence</a:t>
            </a:r>
          </a:p>
        </p:txBody>
      </p:sp>
      <p:sp>
        <p:nvSpPr>
          <p:cNvPr id="406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093708" y="2033111"/>
            <a:ext cx="8313230" cy="4381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408"/>
              </a:lnSpc>
            </a:pPr>
            <a:r>
              <a:rPr lang="en-US" sz="2400" spc="-36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Mesure visible en 100 millisecondes?</a:t>
            </a:r>
          </a:p>
        </p:txBody>
      </p:sp>
      <p:pic>
        <p:nvPicPr>
          <p:cNvPr id="408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9">
            <a:alphaModFix amt="100000"/>
          </a:blip>
          <a:stretch/>
        </p:blipFill>
        <p:spPr>
          <a:xfrm>
            <a:off x="8877300" y="2206276"/>
            <a:ext cx="86469" cy="86469"/>
          </a:xfrm>
          <a:prstGeom prst="rect">
            <a:avLst/>
          </a:prstGeom>
        </p:spPr>
      </p:pic>
      <p:sp>
        <p:nvSpPr>
          <p:cNvPr id="410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093708" y="2465832"/>
            <a:ext cx="8313230" cy="4381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408"/>
              </a:lnSpc>
            </a:pPr>
            <a:r>
              <a:rPr lang="en-US" sz="2400" spc="-36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Ou en 5 secondes, 5 minutes, 1 heure?</a:t>
            </a:r>
          </a:p>
        </p:txBody>
      </p:sp>
      <p:pic>
        <p:nvPicPr>
          <p:cNvPr id="412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1">
            <a:alphaModFix amt="100000"/>
          </a:blip>
          <a:stretch/>
        </p:blipFill>
        <p:spPr>
          <a:xfrm>
            <a:off x="8877300" y="2638996"/>
            <a:ext cx="86469" cy="86469"/>
          </a:xfrm>
          <a:prstGeom prst="rect">
            <a:avLst/>
          </a:prstGeom>
        </p:spPr>
      </p:pic>
      <p:pic>
        <p:nvPicPr>
          <p:cNvPr id="414" name="iconNode1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3">
            <a:alphaModFix amt="100000"/>
          </a:blip>
          <a:stretch/>
        </p:blipFill>
        <p:spPr>
          <a:xfrm>
            <a:off x="7315200" y="3295840"/>
            <a:ext cx="1371600" cy="1371600"/>
          </a:xfrm>
          <a:prstGeom prst="rect">
            <a:avLst/>
          </a:prstGeom>
        </p:spPr>
      </p:pic>
      <p:sp>
        <p:nvSpPr>
          <p:cNvPr id="416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877300" y="3051048"/>
            <a:ext cx="8529638" cy="4953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834"/>
              </a:lnSpc>
            </a:pPr>
            <a:r>
              <a:rPr lang="en-US" sz="2700" spc="-52" dirty="0">
                <a:solidFill>
                  <a:srgbClr val="FFFFFF">
                    <a:alpha val="100000"/>
                  </a:srgbClr>
                </a:solidFill>
                <a:latin typeface="Inter SemiBold" panose="00000700000000000000" pitchFamily="2" charset="0"/>
              </a:rPr>
              <a:t>Résilience</a:t>
            </a:r>
          </a:p>
        </p:txBody>
      </p:sp>
      <p:sp>
        <p:nvSpPr>
          <p:cNvPr id="418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093708" y="3614071"/>
            <a:ext cx="8313230" cy="4381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408"/>
              </a:lnSpc>
            </a:pPr>
            <a:r>
              <a:rPr lang="en-US" sz="2400" spc="-36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Continuer à fonctionner en cas de panne</a:t>
            </a:r>
          </a:p>
        </p:txBody>
      </p:sp>
      <p:pic>
        <p:nvPicPr>
          <p:cNvPr id="420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5">
            <a:alphaModFix amt="100000"/>
          </a:blip>
          <a:stretch/>
        </p:blipFill>
        <p:spPr>
          <a:xfrm>
            <a:off x="8877300" y="3787235"/>
            <a:ext cx="86469" cy="86469"/>
          </a:xfrm>
          <a:prstGeom prst="rect">
            <a:avLst/>
          </a:prstGeom>
        </p:spPr>
      </p:pic>
      <p:sp>
        <p:nvSpPr>
          <p:cNvPr id="422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093708" y="4046887"/>
            <a:ext cx="8313230" cy="8763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408"/>
              </a:lnSpc>
            </a:pPr>
            <a:r>
              <a:rPr lang="en-US" sz="2400" spc="-36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Cas: AWS indisponible, connexion internet coupée, Redpanda crash</a:t>
            </a:r>
          </a:p>
        </p:txBody>
      </p:sp>
      <p:pic>
        <p:nvPicPr>
          <p:cNvPr id="424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7">
            <a:alphaModFix amt="100000"/>
          </a:blip>
          <a:stretch/>
        </p:blipFill>
        <p:spPr>
          <a:xfrm>
            <a:off x="8877300" y="4219956"/>
            <a:ext cx="86469" cy="86469"/>
          </a:xfrm>
          <a:prstGeom prst="rect">
            <a:avLst/>
          </a:prstGeom>
        </p:spPr>
      </p:pic>
      <p:pic>
        <p:nvPicPr>
          <p:cNvPr id="426" name="iconNode2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9">
            <a:alphaModFix amt="100000"/>
          </a:blip>
          <a:stretch/>
        </p:blipFill>
        <p:spPr>
          <a:xfrm>
            <a:off x="7315200" y="5309616"/>
            <a:ext cx="1371600" cy="1371600"/>
          </a:xfrm>
          <a:prstGeom prst="rect">
            <a:avLst/>
          </a:prstGeom>
        </p:spPr>
      </p:pic>
      <p:sp>
        <p:nvSpPr>
          <p:cNvPr id="428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877300" y="5064728"/>
            <a:ext cx="8529638" cy="4953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834"/>
              </a:lnSpc>
            </a:pPr>
            <a:r>
              <a:rPr lang="en-US" sz="2700" spc="-52" dirty="0">
                <a:solidFill>
                  <a:srgbClr val="FFFFFF">
                    <a:alpha val="100000"/>
                  </a:srgbClr>
                </a:solidFill>
                <a:latin typeface="Inter SemiBold" panose="00000700000000000000" pitchFamily="2" charset="0"/>
              </a:rPr>
              <a:t>Architecture propre</a:t>
            </a:r>
          </a:p>
        </p:txBody>
      </p:sp>
      <p:sp>
        <p:nvSpPr>
          <p:cNvPr id="430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093708" y="5627846"/>
            <a:ext cx="8313230" cy="4381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408"/>
              </a:lnSpc>
            </a:pPr>
            <a:r>
              <a:rPr lang="en-US" sz="2400" spc="-36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Séparer Temps réel, Historique, Métier</a:t>
            </a:r>
          </a:p>
        </p:txBody>
      </p:sp>
      <p:pic>
        <p:nvPicPr>
          <p:cNvPr id="432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81">
            <a:alphaModFix amt="100000"/>
          </a:blip>
          <a:stretch/>
        </p:blipFill>
        <p:spPr>
          <a:xfrm>
            <a:off x="8877300" y="5801011"/>
            <a:ext cx="86469" cy="86469"/>
          </a:xfrm>
          <a:prstGeom prst="rect">
            <a:avLst/>
          </a:prstGeom>
        </p:spPr>
      </p:pic>
      <p:sp>
        <p:nvSpPr>
          <p:cNvPr id="434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093708" y="6060567"/>
            <a:ext cx="8313230" cy="8763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408"/>
              </a:lnSpc>
            </a:pPr>
            <a:r>
              <a:rPr lang="en-US" sz="2400" spc="-36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Éviter de mélanger flux temps réel et bases métier critiques</a:t>
            </a:r>
          </a:p>
        </p:txBody>
      </p:sp>
      <p:pic>
        <p:nvPicPr>
          <p:cNvPr id="436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83">
            <a:alphaModFix amt="100000"/>
          </a:blip>
          <a:stretch/>
        </p:blipFill>
        <p:spPr>
          <a:xfrm>
            <a:off x="8877300" y="6233732"/>
            <a:ext cx="86469" cy="86469"/>
          </a:xfrm>
          <a:prstGeom prst="rect">
            <a:avLst/>
          </a:prstGeom>
        </p:spPr>
      </p:pic>
      <p:pic>
        <p:nvPicPr>
          <p:cNvPr id="438" name="iconNode3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85">
            <a:alphaModFix amt="100000"/>
          </a:blip>
          <a:stretch/>
        </p:blipFill>
        <p:spPr>
          <a:xfrm>
            <a:off x="7315200" y="7539800"/>
            <a:ext cx="1371600" cy="1371600"/>
          </a:xfrm>
          <a:prstGeom prst="rect">
            <a:avLst/>
          </a:prstGeom>
        </p:spPr>
      </p:pic>
      <p:sp>
        <p:nvSpPr>
          <p:cNvPr id="440" name="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877300" y="7078504"/>
            <a:ext cx="8529638" cy="4953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834"/>
              </a:lnSpc>
            </a:pPr>
            <a:r>
              <a:rPr lang="en-US" sz="2700" spc="-52" dirty="0">
                <a:solidFill>
                  <a:srgbClr val="FFFFFF">
                    <a:alpha val="100000"/>
                  </a:srgbClr>
                </a:solidFill>
                <a:latin typeface="Inter SemiBold" panose="00000700000000000000" pitchFamily="2" charset="0"/>
              </a:rPr>
              <a:t>Gouvernance data</a:t>
            </a:r>
          </a:p>
        </p:txBody>
      </p:sp>
      <p:sp>
        <p:nvSpPr>
          <p:cNvPr id="442" name="Description of a 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093708" y="7641622"/>
            <a:ext cx="8313230" cy="4381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408"/>
              </a:lnSpc>
            </a:pPr>
            <a:r>
              <a:rPr lang="en-US" sz="2400" spc="-36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S3 = source historique unique</a:t>
            </a:r>
          </a:p>
        </p:txBody>
      </p:sp>
      <p:pic>
        <p:nvPicPr>
          <p:cNvPr id="444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87">
            <a:alphaModFix amt="100000"/>
          </a:blip>
          <a:stretch/>
        </p:blipFill>
        <p:spPr>
          <a:xfrm>
            <a:off x="8877300" y="7814691"/>
            <a:ext cx="86469" cy="86469"/>
          </a:xfrm>
          <a:prstGeom prst="rect">
            <a:avLst/>
          </a:prstGeom>
        </p:spPr>
      </p:pic>
      <p:sp>
        <p:nvSpPr>
          <p:cNvPr id="446" name="Description of a 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093708" y="8074342"/>
            <a:ext cx="8313230" cy="4381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408"/>
              </a:lnSpc>
            </a:pPr>
            <a:r>
              <a:rPr lang="en-US" sz="2400" spc="-36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Redpanda = transport</a:t>
            </a:r>
          </a:p>
        </p:txBody>
      </p:sp>
      <p:pic>
        <p:nvPicPr>
          <p:cNvPr id="448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89">
            <a:alphaModFix amt="100000"/>
          </a:blip>
          <a:stretch/>
        </p:blipFill>
        <p:spPr>
          <a:xfrm>
            <a:off x="8877300" y="8247507"/>
            <a:ext cx="86469" cy="86469"/>
          </a:xfrm>
          <a:prstGeom prst="rect">
            <a:avLst/>
          </a:prstGeom>
        </p:spPr>
      </p:pic>
      <p:sp>
        <p:nvSpPr>
          <p:cNvPr id="450" name="Description of a 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093708" y="8507063"/>
            <a:ext cx="8313230" cy="4381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408"/>
              </a:lnSpc>
            </a:pPr>
            <a:r>
              <a:rPr lang="en-US" sz="2400" spc="-36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SQL Server = métier, AD pour accès contrôlé</a:t>
            </a:r>
          </a:p>
        </p:txBody>
      </p:sp>
      <p:pic>
        <p:nvPicPr>
          <p:cNvPr id="452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91">
            <a:alphaModFix amt="100000"/>
          </a:blip>
          <a:stretch/>
        </p:blipFill>
        <p:spPr>
          <a:xfrm>
            <a:off x="8877300" y="8680228"/>
            <a:ext cx="86469" cy="86469"/>
          </a:xfrm>
          <a:prstGeom prst="rect">
            <a:avLst/>
          </a:prstGeom>
        </p:spPr>
      </p:pic>
      <p:sp>
        <p:nvSpPr>
          <p:cNvPr id="454" name="Description of a 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093708" y="8939879"/>
            <a:ext cx="8313230" cy="4381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408"/>
              </a:lnSpc>
            </a:pPr>
            <a:r>
              <a:rPr lang="en-US" sz="2400" spc="-36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Lifecycle policies définies</a:t>
            </a:r>
          </a:p>
        </p:txBody>
      </p:sp>
      <p:pic>
        <p:nvPicPr>
          <p:cNvPr id="456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93">
            <a:alphaModFix amt="100000"/>
          </a:blip>
          <a:stretch/>
        </p:blipFill>
        <p:spPr>
          <a:xfrm>
            <a:off x="8877300" y="9112948"/>
            <a:ext cx="86469" cy="86469"/>
          </a:xfrm>
          <a:prstGeom prst="rect">
            <a:avLst/>
          </a:prstGeom>
        </p:spPr>
      </p:pic>
      <p:sp>
        <p:nvSpPr>
          <p:cNvPr id="458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52500" y="876300"/>
            <a:ext cx="4491038" cy="40957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5376"/>
              </a:lnSpc>
            </a:pPr>
            <a:r>
              <a:rPr lang="en-US" sz="4200" spc="-105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Nous n'avons pas  réellement un problème de volume.</a:t>
            </a:r>
          </a:p>
        </p:txBody>
      </p:sp>
      <p:sp>
        <p:nvSpPr>
          <p:cNvPr id="460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52500" y="5143500"/>
            <a:ext cx="4491038" cy="6381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1800" spc="-36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50 Go par mois = 600 Go par an — enjeux d’architecture et de gouvernance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5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97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6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99">
            <a:alphaModFix amt="100000"/>
          </a:blip>
          <a:stretch/>
        </p:blipFill>
        <p:spPr>
          <a:xfrm>
            <a:off x="14630400" y="0"/>
            <a:ext cx="3657600" cy="914400"/>
          </a:xfrm>
          <a:prstGeom prst="rect">
            <a:avLst/>
          </a:prstGeom>
        </p:spPr>
      </p:pic>
      <p:pic>
        <p:nvPicPr>
          <p:cNvPr id="46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01">
            <a:alphaModFix amt="100000"/>
          </a:blip>
          <a:stretch/>
        </p:blipFill>
        <p:spPr>
          <a:xfrm>
            <a:off x="914400" y="2552700"/>
            <a:ext cx="4114800" cy="6819900"/>
          </a:xfrm>
          <a:prstGeom prst="rect">
            <a:avLst/>
          </a:prstGeom>
        </p:spPr>
      </p:pic>
      <p:pic>
        <p:nvPicPr>
          <p:cNvPr id="468" name="iconNode0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03">
            <a:alphaModFix amt="100000"/>
          </a:blip>
          <a:stretch/>
        </p:blipFill>
        <p:spPr>
          <a:xfrm>
            <a:off x="1447800" y="3651599"/>
            <a:ext cx="1097280" cy="1097280"/>
          </a:xfrm>
          <a:prstGeom prst="rect">
            <a:avLst/>
          </a:prstGeom>
        </p:spPr>
      </p:pic>
      <p:sp>
        <p:nvSpPr>
          <p:cNvPr id="470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447800" y="5129879"/>
            <a:ext cx="3081338" cy="7715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982"/>
              </a:lnSpc>
            </a:pPr>
            <a:r>
              <a:rPr lang="en-US" sz="2100" spc="-52" dirty="0">
                <a:solidFill>
                  <a:srgbClr val="FFFFFF">
                    <a:alpha val="100000"/>
                  </a:srgbClr>
                </a:solidFill>
                <a:latin typeface="Inter SemiBold" panose="00000700000000000000" pitchFamily="2" charset="0"/>
              </a:rPr>
              <a:t>Stockage De Données Non Structurées </a:t>
            </a:r>
          </a:p>
        </p:txBody>
      </p:sp>
      <p:sp>
        <p:nvSpPr>
          <p:cNvPr id="472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637157" y="6001512"/>
            <a:ext cx="2891980" cy="11430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982"/>
              </a:lnSpc>
            </a:pPr>
            <a:r>
              <a:rPr lang="en-US" sz="2100" spc="-36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Logs, Données Brutes IoT, Fichiers Utilisateurs</a:t>
            </a:r>
          </a:p>
        </p:txBody>
      </p:sp>
      <p:pic>
        <p:nvPicPr>
          <p:cNvPr id="474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05">
            <a:alphaModFix amt="100000"/>
          </a:blip>
          <a:stretch/>
        </p:blipFill>
        <p:spPr>
          <a:xfrm>
            <a:off x="1447800" y="6153055"/>
            <a:ext cx="75605" cy="75605"/>
          </a:xfrm>
          <a:prstGeom prst="rect">
            <a:avLst/>
          </a:prstGeom>
        </p:spPr>
      </p:pic>
      <p:sp>
        <p:nvSpPr>
          <p:cNvPr id="476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637157" y="7137654"/>
            <a:ext cx="2891980" cy="11430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982"/>
              </a:lnSpc>
            </a:pPr>
            <a:r>
              <a:rPr lang="en-US" sz="2100" spc="-36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Scalabilité, Sécurité, Et Interopérabilité Avec </a:t>
            </a:r>
            <a:r>
              <a:rPr lang="en-US" sz="2100" b="1" spc="-36" dirty="0">
                <a:solidFill>
                  <a:srgbClr val="FFFFFF"/>
                </a:solidFill>
                <a:latin typeface="Inter" panose="00000700000000000000" pitchFamily="2" charset="0"/>
              </a:rPr>
              <a:t>Redpanda</a:t>
            </a:r>
          </a:p>
        </p:txBody>
      </p:sp>
      <p:pic>
        <p:nvPicPr>
          <p:cNvPr id="478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07">
            <a:alphaModFix amt="100000"/>
          </a:blip>
          <a:stretch/>
        </p:blipFill>
        <p:spPr>
          <a:xfrm>
            <a:off x="1447800" y="7289102"/>
            <a:ext cx="75605" cy="75605"/>
          </a:xfrm>
          <a:prstGeom prst="rect">
            <a:avLst/>
          </a:prstGeom>
        </p:spPr>
      </p:pic>
      <p:pic>
        <p:nvPicPr>
          <p:cNvPr id="48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09">
            <a:alphaModFix amt="100000"/>
          </a:blip>
          <a:stretch/>
        </p:blipFill>
        <p:spPr>
          <a:xfrm>
            <a:off x="4267200" y="2857500"/>
            <a:ext cx="457200" cy="457200"/>
          </a:xfrm>
          <a:prstGeom prst="rect">
            <a:avLst/>
          </a:prstGeom>
        </p:spPr>
      </p:pic>
      <p:sp>
        <p:nvSpPr>
          <p:cNvPr id="482" name="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4424267" y="2948940"/>
            <a:ext cx="176212" cy="2857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/>
            <a:r>
              <a:rPr lang="en-US" sz="2160" dirty="0">
                <a:solidFill>
                  <a:srgbClr val="161723">
                    <a:alpha val="100000"/>
                  </a:srgbClr>
                </a:solidFill>
                <a:latin typeface="Archivo" panose="00000700000000000000" pitchFamily="2" charset="0"/>
              </a:rPr>
              <a:t>1</a:t>
            </a:r>
          </a:p>
        </p:txBody>
      </p:sp>
      <p:pic>
        <p:nvPicPr>
          <p:cNvPr id="48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11">
            <a:alphaModFix amt="100000"/>
          </a:blip>
          <a:stretch/>
        </p:blipFill>
        <p:spPr>
          <a:xfrm>
            <a:off x="5029200" y="2552700"/>
            <a:ext cx="4114800" cy="6819900"/>
          </a:xfrm>
          <a:prstGeom prst="rect">
            <a:avLst/>
          </a:prstGeom>
        </p:spPr>
      </p:pic>
      <p:pic>
        <p:nvPicPr>
          <p:cNvPr id="486" name="iconNode1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13">
            <a:alphaModFix amt="100000"/>
          </a:blip>
          <a:stretch/>
        </p:blipFill>
        <p:spPr>
          <a:xfrm>
            <a:off x="5562600" y="3086100"/>
            <a:ext cx="1097280" cy="1097280"/>
          </a:xfrm>
          <a:prstGeom prst="rect">
            <a:avLst/>
          </a:prstGeom>
        </p:spPr>
      </p:pic>
      <p:sp>
        <p:nvSpPr>
          <p:cNvPr id="488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5562600" y="4564380"/>
            <a:ext cx="3081338" cy="3905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982"/>
              </a:lnSpc>
            </a:pPr>
            <a:r>
              <a:rPr lang="en-US" sz="2100" spc="-52" dirty="0">
                <a:solidFill>
                  <a:srgbClr val="FFFFFF">
                    <a:alpha val="100000"/>
                  </a:srgbClr>
                </a:solidFill>
                <a:latin typeface="Inter SemiBold" panose="00000700000000000000" pitchFamily="2" charset="0"/>
              </a:rPr>
              <a:t>Entrepôt De Données</a:t>
            </a:r>
          </a:p>
        </p:txBody>
      </p:sp>
      <p:sp>
        <p:nvSpPr>
          <p:cNvPr id="490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5751957" y="5057394"/>
            <a:ext cx="2891980" cy="19050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982"/>
              </a:lnSpc>
            </a:pPr>
            <a:r>
              <a:rPr lang="en-US" sz="2100" spc="-36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Centraliser Les Données Analytiques Et De Supporter Des Requêtes SQL Complexes</a:t>
            </a:r>
          </a:p>
        </p:txBody>
      </p:sp>
      <p:pic>
        <p:nvPicPr>
          <p:cNvPr id="492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15">
            <a:alphaModFix amt="100000"/>
          </a:blip>
          <a:stretch/>
        </p:blipFill>
        <p:spPr>
          <a:xfrm>
            <a:off x="5562600" y="5208842"/>
            <a:ext cx="75605" cy="75605"/>
          </a:xfrm>
          <a:prstGeom prst="rect">
            <a:avLst/>
          </a:prstGeom>
        </p:spPr>
      </p:pic>
      <p:sp>
        <p:nvSpPr>
          <p:cNvPr id="494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5751957" y="6950869"/>
            <a:ext cx="2891980" cy="19050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982"/>
              </a:lnSpc>
            </a:pPr>
            <a:r>
              <a:rPr lang="en-US" sz="2100" spc="-36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Schéma De Synchronisation Des Bases SQL Server On-premise Avec La Solution Cloud Choisie</a:t>
            </a:r>
          </a:p>
        </p:txBody>
      </p:sp>
      <p:pic>
        <p:nvPicPr>
          <p:cNvPr id="496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17">
            <a:alphaModFix amt="100000"/>
          </a:blip>
          <a:stretch/>
        </p:blipFill>
        <p:spPr>
          <a:xfrm>
            <a:off x="5562600" y="7102316"/>
            <a:ext cx="75605" cy="75605"/>
          </a:xfrm>
          <a:prstGeom prst="rect">
            <a:avLst/>
          </a:prstGeom>
        </p:spPr>
      </p:pic>
      <p:pic>
        <p:nvPicPr>
          <p:cNvPr id="49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19">
            <a:alphaModFix amt="100000"/>
          </a:blip>
          <a:stretch/>
        </p:blipFill>
        <p:spPr>
          <a:xfrm>
            <a:off x="8382000" y="2857500"/>
            <a:ext cx="457200" cy="457200"/>
          </a:xfrm>
          <a:prstGeom prst="rect">
            <a:avLst/>
          </a:prstGeom>
        </p:spPr>
      </p:pic>
      <p:sp>
        <p:nvSpPr>
          <p:cNvPr id="500" name="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532781" y="2948940"/>
            <a:ext cx="185738" cy="2857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/>
            <a:r>
              <a:rPr lang="en-US" sz="2160" dirty="0">
                <a:solidFill>
                  <a:srgbClr val="161723">
                    <a:alpha val="100000"/>
                  </a:srgbClr>
                </a:solidFill>
                <a:latin typeface="Archivo" panose="00000700000000000000" pitchFamily="2" charset="0"/>
              </a:rPr>
              <a:t>2</a:t>
            </a:r>
          </a:p>
        </p:txBody>
      </p:sp>
      <p:pic>
        <p:nvPicPr>
          <p:cNvPr id="50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21">
            <a:alphaModFix amt="100000"/>
          </a:blip>
          <a:stretch/>
        </p:blipFill>
        <p:spPr>
          <a:xfrm>
            <a:off x="9144000" y="2552700"/>
            <a:ext cx="4114800" cy="6819900"/>
          </a:xfrm>
          <a:prstGeom prst="rect">
            <a:avLst/>
          </a:prstGeom>
        </p:spPr>
      </p:pic>
      <p:pic>
        <p:nvPicPr>
          <p:cNvPr id="504" name="iconNode2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23">
            <a:alphaModFix amt="100000"/>
          </a:blip>
          <a:stretch/>
        </p:blipFill>
        <p:spPr>
          <a:xfrm>
            <a:off x="9677400" y="4030218"/>
            <a:ext cx="1097280" cy="1097280"/>
          </a:xfrm>
          <a:prstGeom prst="rect">
            <a:avLst/>
          </a:prstGeom>
        </p:spPr>
      </p:pic>
      <p:sp>
        <p:nvSpPr>
          <p:cNvPr id="506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677400" y="5508498"/>
            <a:ext cx="3081338" cy="11430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982"/>
              </a:lnSpc>
            </a:pPr>
            <a:r>
              <a:rPr lang="en-US" sz="2100" spc="-52" dirty="0">
                <a:solidFill>
                  <a:srgbClr val="FFFFFF">
                    <a:alpha val="100000"/>
                  </a:srgbClr>
                </a:solidFill>
                <a:latin typeface="Inter SemiBold" panose="00000700000000000000" pitchFamily="2" charset="0"/>
              </a:rPr>
              <a:t>Traitement Des Données En Temps Réel (streaming):</a:t>
            </a:r>
          </a:p>
        </p:txBody>
      </p:sp>
      <p:sp>
        <p:nvSpPr>
          <p:cNvPr id="508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866757" y="6758940"/>
            <a:ext cx="2891980" cy="11430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982"/>
              </a:lnSpc>
            </a:pPr>
            <a:r>
              <a:rPr lang="en-US" sz="2100" spc="-36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Redpanda Comme Plateforme De Streaming.</a:t>
            </a:r>
          </a:p>
        </p:txBody>
      </p:sp>
      <p:pic>
        <p:nvPicPr>
          <p:cNvPr id="510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25">
            <a:alphaModFix amt="100000"/>
          </a:blip>
          <a:stretch/>
        </p:blipFill>
        <p:spPr>
          <a:xfrm>
            <a:off x="9677400" y="6910388"/>
            <a:ext cx="75605" cy="75605"/>
          </a:xfrm>
          <a:prstGeom prst="rect">
            <a:avLst/>
          </a:prstGeom>
        </p:spPr>
      </p:pic>
      <p:pic>
        <p:nvPicPr>
          <p:cNvPr id="51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27">
            <a:alphaModFix amt="100000"/>
          </a:blip>
          <a:stretch/>
        </p:blipFill>
        <p:spPr>
          <a:xfrm>
            <a:off x="12496800" y="2857500"/>
            <a:ext cx="457200" cy="457200"/>
          </a:xfrm>
          <a:prstGeom prst="rect">
            <a:avLst/>
          </a:prstGeom>
        </p:spPr>
      </p:pic>
      <p:sp>
        <p:nvSpPr>
          <p:cNvPr id="514" name="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646724" y="2948940"/>
            <a:ext cx="195262" cy="2857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/>
            <a:r>
              <a:rPr lang="en-US" sz="2160" dirty="0">
                <a:solidFill>
                  <a:srgbClr val="161723">
                    <a:alpha val="100000"/>
                  </a:srgbClr>
                </a:solidFill>
                <a:latin typeface="Archivo" panose="00000700000000000000" pitchFamily="2" charset="0"/>
              </a:rPr>
              <a:t>3</a:t>
            </a:r>
          </a:p>
        </p:txBody>
      </p:sp>
      <p:pic>
        <p:nvPicPr>
          <p:cNvPr id="51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29">
            <a:alphaModFix amt="100000"/>
          </a:blip>
          <a:stretch/>
        </p:blipFill>
        <p:spPr>
          <a:xfrm>
            <a:off x="13258800" y="2552700"/>
            <a:ext cx="4114800" cy="6819900"/>
          </a:xfrm>
          <a:prstGeom prst="rect">
            <a:avLst/>
          </a:prstGeom>
        </p:spPr>
      </p:pic>
      <p:pic>
        <p:nvPicPr>
          <p:cNvPr id="518" name="iconNode3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31">
            <a:alphaModFix amt="100000"/>
          </a:blip>
          <a:stretch/>
        </p:blipFill>
        <p:spPr>
          <a:xfrm>
            <a:off x="13792200" y="4219575"/>
            <a:ext cx="1097280" cy="1097280"/>
          </a:xfrm>
          <a:prstGeom prst="rect">
            <a:avLst/>
          </a:prstGeom>
        </p:spPr>
      </p:pic>
      <p:sp>
        <p:nvSpPr>
          <p:cNvPr id="520" name="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3792200" y="5697855"/>
            <a:ext cx="3081338" cy="7715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982"/>
              </a:lnSpc>
            </a:pPr>
            <a:r>
              <a:rPr lang="en-US" sz="2100" spc="-52" dirty="0">
                <a:solidFill>
                  <a:srgbClr val="000000">
                    <a:alpha val="100000"/>
                  </a:srgbClr>
                </a:solidFill>
                <a:latin typeface="Inter SemiBold" panose="00000700000000000000" pitchFamily="2" charset="0"/>
              </a:rPr>
              <a:t>Sécurisation Et Gestion Des Accès</a:t>
            </a:r>
          </a:p>
        </p:txBody>
      </p:sp>
      <p:sp>
        <p:nvSpPr>
          <p:cNvPr id="522" name="Description of a 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3792200" y="6569583"/>
            <a:ext cx="3081338" cy="11430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982"/>
              </a:lnSpc>
            </a:pPr>
            <a:r>
              <a:rPr lang="en-US" sz="2100" spc="-36" dirty="0">
                <a:solidFill>
                  <a:srgbClr val="000000">
                    <a:alpha val="100000"/>
                  </a:srgbClr>
                </a:solidFill>
                <a:latin typeface="Inter" panose="00000700000000000000" pitchFamily="2" charset="0"/>
              </a:rPr>
              <a:t> Extension Éventuelle  De L'Active Directory On-premise Au Cloud.</a:t>
            </a:r>
          </a:p>
        </p:txBody>
      </p:sp>
      <p:pic>
        <p:nvPicPr>
          <p:cNvPr id="52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33">
            <a:alphaModFix amt="100000"/>
          </a:blip>
          <a:stretch/>
        </p:blipFill>
        <p:spPr>
          <a:xfrm>
            <a:off x="16611600" y="2857500"/>
            <a:ext cx="457200" cy="457200"/>
          </a:xfrm>
          <a:prstGeom prst="rect">
            <a:avLst/>
          </a:prstGeom>
        </p:spPr>
      </p:pic>
      <p:sp>
        <p:nvSpPr>
          <p:cNvPr id="526" name="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6764000" y="2948940"/>
            <a:ext cx="185738" cy="2857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/>
            <a:r>
              <a:rPr lang="en-US" sz="2160" dirty="0">
                <a:solidFill>
                  <a:srgbClr val="161723">
                    <a:alpha val="100000"/>
                  </a:srgbClr>
                </a:solidFill>
                <a:latin typeface="Archivo" panose="00000700000000000000" pitchFamily="2" charset="0"/>
              </a:rPr>
              <a:t>4</a:t>
            </a:r>
          </a:p>
        </p:txBody>
      </p:sp>
      <p:sp>
        <p:nvSpPr>
          <p:cNvPr id="528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876300"/>
            <a:ext cx="12682538" cy="6953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5376"/>
              </a:lnSpc>
            </a:pPr>
            <a:r>
              <a:rPr lang="en-US" sz="4200" spc="-105" dirty="0">
                <a:solidFill>
                  <a:srgbClr val="452E5A">
                    <a:alpha val="100000"/>
                  </a:srgbClr>
                </a:solidFill>
                <a:latin typeface="Inter" panose="00000700000000000000" pitchFamily="2" charset="0"/>
              </a:rPr>
              <a:t>Architecture hybride </a:t>
            </a:r>
          </a:p>
        </p:txBody>
      </p:sp>
      <p:sp>
        <p:nvSpPr>
          <p:cNvPr id="530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1676400"/>
            <a:ext cx="1268253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1800" spc="-36" dirty="0">
                <a:solidFill>
                  <a:srgbClr val="6E6E74">
                    <a:alpha val="100000"/>
                  </a:srgbClr>
                </a:solidFill>
                <a:latin typeface="Inter" panose="00000700000000000000" pitchFamily="2" charset="0"/>
              </a:rPr>
              <a:t>Ce que l'entreprise souhaite - Part 1 (exercice 1)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6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37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53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39">
            <a:alphaModFix amt="100000"/>
          </a:blip>
          <a:stretch/>
        </p:blipFill>
        <p:spPr>
          <a:xfrm>
            <a:off x="0" y="0"/>
            <a:ext cx="4914900" cy="10287000"/>
          </a:xfrm>
          <a:prstGeom prst="rect">
            <a:avLst/>
          </a:prstGeom>
        </p:spPr>
      </p:pic>
      <p:pic>
        <p:nvPicPr>
          <p:cNvPr id="53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41">
            <a:alphaModFix amt="100000"/>
          </a:blip>
          <a:stretch/>
        </p:blipFill>
        <p:spPr>
          <a:xfrm>
            <a:off x="5867400" y="2738914"/>
            <a:ext cx="209550" cy="209550"/>
          </a:xfrm>
          <a:prstGeom prst="rect">
            <a:avLst/>
          </a:prstGeom>
        </p:spPr>
      </p:pic>
      <p:sp>
        <p:nvSpPr>
          <p:cNvPr id="539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267450" y="2516791"/>
            <a:ext cx="5310188" cy="2628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5148"/>
              </a:lnSpc>
            </a:pPr>
            <a:r>
              <a:rPr lang="en-US" sz="3300" spc="-30" dirty="0">
                <a:solidFill>
                  <a:srgbClr val="161723">
                    <a:alpha val="100000"/>
                  </a:srgbClr>
                </a:solidFill>
                <a:latin typeface="Inter SemiBold" panose="00000700000000000000" pitchFamily="2" charset="0"/>
              </a:rPr>
              <a:t>Producteurs: Capteurs IoT, collecteurs de logs, SQL Server (CDC?) applications ERP/CRM</a:t>
            </a:r>
          </a:p>
        </p:txBody>
      </p:sp>
      <p:sp>
        <p:nvSpPr>
          <p:cNvPr id="541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267450" y="5207984"/>
            <a:ext cx="5310188" cy="10001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888"/>
              </a:lnSpc>
            </a:pPr>
            <a:r>
              <a:rPr lang="en-US" sz="2700" spc="-24" dirty="0">
                <a:solidFill>
                  <a:srgbClr val="161723">
                    <a:alpha val="100000"/>
                  </a:srgbClr>
                </a:solidFill>
                <a:latin typeface="Inter" panose="00000700000000000000" pitchFamily="2" charset="0"/>
              </a:rPr>
              <a:t>Systèmes qui publient des événements dans Redpanda</a:t>
            </a:r>
          </a:p>
        </p:txBody>
      </p:sp>
      <p:pic>
        <p:nvPicPr>
          <p:cNvPr id="54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43">
            <a:alphaModFix amt="100000"/>
          </a:blip>
          <a:stretch/>
        </p:blipFill>
        <p:spPr>
          <a:xfrm>
            <a:off x="5867400" y="6569869"/>
            <a:ext cx="209550" cy="209550"/>
          </a:xfrm>
          <a:prstGeom prst="rect">
            <a:avLst/>
          </a:prstGeom>
        </p:spPr>
      </p:pic>
      <p:sp>
        <p:nvSpPr>
          <p:cNvPr id="545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267450" y="6347746"/>
            <a:ext cx="5310188" cy="19716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5148"/>
              </a:lnSpc>
            </a:pPr>
            <a:r>
              <a:rPr lang="en-US" sz="3300" spc="-30" dirty="0">
                <a:solidFill>
                  <a:srgbClr val="161723">
                    <a:alpha val="100000"/>
                  </a:srgbClr>
                </a:solidFill>
                <a:latin typeface="Inter SemiBold" panose="00000700000000000000" pitchFamily="2" charset="0"/>
              </a:rPr>
              <a:t>Événements: mesures capteurs, mise à jour ERP/CRM, log serveur</a:t>
            </a:r>
          </a:p>
        </p:txBody>
      </p:sp>
      <p:sp>
        <p:nvSpPr>
          <p:cNvPr id="547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267450" y="8385143"/>
            <a:ext cx="5310188" cy="10001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888"/>
              </a:lnSpc>
            </a:pPr>
            <a:r>
              <a:rPr lang="en-US" sz="2700" spc="-24" dirty="0">
                <a:solidFill>
                  <a:srgbClr val="161723">
                    <a:alpha val="100000"/>
                  </a:srgbClr>
                </a:solidFill>
                <a:latin typeface="Inter" panose="00000700000000000000" pitchFamily="2" charset="0"/>
              </a:rPr>
              <a:t>Chaque événement envoyé en temps réel dans Redpanda</a:t>
            </a:r>
          </a:p>
        </p:txBody>
      </p:sp>
      <p:pic>
        <p:nvPicPr>
          <p:cNvPr id="54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45">
            <a:alphaModFix amt="100000"/>
          </a:blip>
          <a:stretch/>
        </p:blipFill>
        <p:spPr>
          <a:xfrm>
            <a:off x="11696700" y="2738914"/>
            <a:ext cx="209550" cy="209550"/>
          </a:xfrm>
          <a:prstGeom prst="rect">
            <a:avLst/>
          </a:prstGeom>
        </p:spPr>
      </p:pic>
      <p:sp>
        <p:nvSpPr>
          <p:cNvPr id="551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096750" y="2516791"/>
            <a:ext cx="5310188" cy="19716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5148"/>
              </a:lnSpc>
            </a:pPr>
            <a:r>
              <a:rPr lang="en-US" sz="3300" i="1" spc="-30" dirty="0">
                <a:solidFill>
                  <a:srgbClr val="161723">
                    <a:alpha val="100000"/>
                  </a:srgbClr>
                </a:solidFill>
                <a:latin typeface="Inter SemiBold" panose="00000700000000000000" pitchFamily="2" charset="0"/>
              </a:rPr>
              <a:t>Topics - ex :  iot-sensors, erp-updates, crm-events, system-logs</a:t>
            </a:r>
          </a:p>
        </p:txBody>
      </p:sp>
      <p:sp>
        <p:nvSpPr>
          <p:cNvPr id="553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096750" y="4554188"/>
            <a:ext cx="5310188" cy="10001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888"/>
              </a:lnSpc>
            </a:pPr>
            <a:r>
              <a:rPr lang="en-US" sz="2700" spc="-24" dirty="0">
                <a:solidFill>
                  <a:srgbClr val="161723">
                    <a:alpha val="100000"/>
                  </a:srgbClr>
                </a:solidFill>
                <a:latin typeface="Inter" panose="00000700000000000000" pitchFamily="2" charset="0"/>
              </a:rPr>
              <a:t>Canaux logiques séparés par type de données</a:t>
            </a:r>
          </a:p>
        </p:txBody>
      </p:sp>
      <p:pic>
        <p:nvPicPr>
          <p:cNvPr id="55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47">
            <a:alphaModFix amt="100000"/>
          </a:blip>
          <a:stretch/>
        </p:blipFill>
        <p:spPr>
          <a:xfrm>
            <a:off x="11696700" y="5916168"/>
            <a:ext cx="209550" cy="209550"/>
          </a:xfrm>
          <a:prstGeom prst="rect">
            <a:avLst/>
          </a:prstGeom>
        </p:spPr>
      </p:pic>
      <p:sp>
        <p:nvSpPr>
          <p:cNvPr id="557" name="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096750" y="5694045"/>
            <a:ext cx="5310188" cy="19716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5148"/>
              </a:lnSpc>
            </a:pPr>
            <a:r>
              <a:rPr lang="en-US" sz="3300" b="1" spc="-30" dirty="0">
                <a:solidFill>
                  <a:srgbClr val="161723">
                    <a:alpha val="100000"/>
                  </a:srgbClr>
                </a:solidFill>
                <a:latin typeface="Inter" panose="00000700000000000000" pitchFamily="2" charset="0"/>
              </a:rPr>
              <a:t>Consommateurs: "S3", entrepôt/lakehouse, </a:t>
            </a:r>
            <a:r>
              <a:rPr lang="en-US" sz="3300" spc="-30" dirty="0">
                <a:solidFill>
                  <a:srgbClr val="161723"/>
                </a:solidFill>
                <a:latin typeface="Inter" panose="00000700000000000000" pitchFamily="2" charset="0"/>
              </a:rPr>
              <a:t> </a:t>
            </a:r>
            <a:r>
              <a:rPr lang="en-US" sz="3300" b="1" spc="-30" dirty="0">
                <a:solidFill>
                  <a:srgbClr val="161723"/>
                </a:solidFill>
                <a:latin typeface="Inter" panose="00000700000000000000" pitchFamily="2" charset="0"/>
              </a:rPr>
              <a:t>outils BI</a:t>
            </a:r>
          </a:p>
        </p:txBody>
      </p:sp>
      <p:sp>
        <p:nvSpPr>
          <p:cNvPr id="559" name="Description of a 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096750" y="7731442"/>
            <a:ext cx="5310188" cy="14954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888"/>
              </a:lnSpc>
            </a:pPr>
            <a:r>
              <a:rPr lang="en-US" sz="2700" spc="-24" dirty="0">
                <a:solidFill>
                  <a:srgbClr val="161723">
                    <a:alpha val="100000"/>
                  </a:srgbClr>
                </a:solidFill>
                <a:latin typeface="Inter" panose="00000700000000000000" pitchFamily="2" charset="0"/>
              </a:rPr>
              <a:t>Lecteurs pour archivage, analytics et traitements temps réel</a:t>
            </a:r>
          </a:p>
        </p:txBody>
      </p:sp>
      <p:sp>
        <p:nvSpPr>
          <p:cNvPr id="561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52500" y="876300"/>
            <a:ext cx="3043238" cy="23431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4608"/>
              </a:lnSpc>
            </a:pPr>
            <a:r>
              <a:rPr lang="en-US" sz="3600" b="1" spc="-105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Streaming d’événements pour InduTechData</a:t>
            </a:r>
          </a:p>
        </p:txBody>
      </p:sp>
      <p:sp>
        <p:nvSpPr>
          <p:cNvPr id="563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52500" y="3390900"/>
            <a:ext cx="3043238" cy="24193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834"/>
              </a:lnSpc>
            </a:pPr>
            <a:r>
              <a:rPr lang="en-US" sz="2700" spc="-36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Flux temps réel de capteurs IoT, ERP/CRM (et autres logs) vers Redpanda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7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51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56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53">
            <a:alphaModFix amt="100000"/>
          </a:blip>
          <a:stretch/>
        </p:blipFill>
        <p:spPr>
          <a:xfrm>
            <a:off x="0" y="0"/>
            <a:ext cx="6362700" cy="10287000"/>
          </a:xfrm>
          <a:prstGeom prst="rect">
            <a:avLst/>
          </a:prstGeom>
        </p:spPr>
      </p:pic>
      <p:pic>
        <p:nvPicPr>
          <p:cNvPr id="57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55">
            <a:alphaModFix amt="100000"/>
          </a:blip>
          <a:stretch/>
        </p:blipFill>
        <p:spPr>
          <a:xfrm>
            <a:off x="7315200" y="2181225"/>
            <a:ext cx="2114550" cy="9525"/>
          </a:xfrm>
          <a:prstGeom prst="rect">
            <a:avLst/>
          </a:prstGeom>
        </p:spPr>
      </p:pic>
      <p:sp>
        <p:nvSpPr>
          <p:cNvPr id="572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315200" y="914400"/>
            <a:ext cx="795338" cy="9048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1404"/>
              </a:lnSpc>
            </a:pPr>
            <a:r>
              <a:rPr lang="en-US" sz="900" spc="-30" dirty="0">
                <a:solidFill>
                  <a:srgbClr val="161723">
                    <a:alpha val="100000"/>
                  </a:srgbClr>
                </a:solidFill>
                <a:latin typeface="Inter SemiBold" panose="00000700000000000000" pitchFamily="2" charset="0"/>
              </a:rPr>
              <a:t>Hypothèse 1 - Streaming on-prem plus S3 comme data lake</a:t>
            </a:r>
          </a:p>
        </p:txBody>
      </p:sp>
      <p:pic>
        <p:nvPicPr>
          <p:cNvPr id="57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57">
            <a:alphaModFix amt="100000"/>
          </a:blip>
          <a:stretch/>
        </p:blipFill>
        <p:spPr>
          <a:xfrm>
            <a:off x="8378190" y="914400"/>
            <a:ext cx="1047750" cy="1047750"/>
          </a:xfrm>
          <a:prstGeom prst="rect">
            <a:avLst/>
          </a:prstGeom>
        </p:spPr>
      </p:pic>
      <p:pic>
        <p:nvPicPr>
          <p:cNvPr id="576" name="iconNode0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59">
            <a:alphaModFix amt="100000"/>
          </a:blip>
          <a:stretch/>
        </p:blipFill>
        <p:spPr>
          <a:xfrm>
            <a:off x="8641080" y="1177290"/>
            <a:ext cx="525780" cy="525780"/>
          </a:xfrm>
          <a:prstGeom prst="rect">
            <a:avLst/>
          </a:prstGeom>
        </p:spPr>
      </p:pic>
      <p:pic>
        <p:nvPicPr>
          <p:cNvPr id="57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61">
            <a:alphaModFix amt="100000"/>
          </a:blip>
          <a:stretch/>
        </p:blipFill>
        <p:spPr>
          <a:xfrm>
            <a:off x="7315200" y="2419350"/>
            <a:ext cx="2114550" cy="6953250"/>
          </a:xfrm>
          <a:prstGeom prst="rect">
            <a:avLst/>
          </a:prstGeom>
        </p:spPr>
      </p:pic>
      <p:sp>
        <p:nvSpPr>
          <p:cNvPr id="580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79055" y="2647950"/>
            <a:ext cx="1555432" cy="8191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130"/>
              </a:lnSpc>
            </a:pPr>
            <a:r>
              <a:rPr lang="en-US" sz="1500" spc="-36" dirty="0">
                <a:solidFill>
                  <a:srgbClr val="E5DDDD">
                    <a:alpha val="100000"/>
                  </a:srgbClr>
                </a:solidFill>
                <a:latin typeface="Inter" panose="00000700000000000000" pitchFamily="2" charset="0"/>
              </a:rPr>
              <a:t>Ingestion locale via Redpanda on-prem</a:t>
            </a:r>
          </a:p>
        </p:txBody>
      </p:sp>
      <p:pic>
        <p:nvPicPr>
          <p:cNvPr id="582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63">
            <a:alphaModFix amt="100000"/>
          </a:blip>
          <a:stretch/>
        </p:blipFill>
        <p:spPr>
          <a:xfrm>
            <a:off x="7543800" y="2756154"/>
            <a:ext cx="54025" cy="54025"/>
          </a:xfrm>
          <a:prstGeom prst="rect">
            <a:avLst/>
          </a:prstGeom>
        </p:spPr>
      </p:pic>
      <p:sp>
        <p:nvSpPr>
          <p:cNvPr id="584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79055" y="3459480"/>
            <a:ext cx="1555432" cy="13620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130"/>
              </a:lnSpc>
            </a:pPr>
            <a:r>
              <a:rPr lang="en-US" sz="1500" spc="-36" dirty="0">
                <a:solidFill>
                  <a:srgbClr val="E5DDDD">
                    <a:alpha val="100000"/>
                  </a:srgbClr>
                </a:solidFill>
                <a:latin typeface="Inter" panose="00000700000000000000" pitchFamily="2" charset="0"/>
              </a:rPr>
              <a:t>Double sortie: base locale pour </a:t>
            </a:r>
            <a:r>
              <a:rPr lang="en-US" sz="1500" b="1" spc="-36" dirty="0">
                <a:solidFill>
                  <a:srgbClr val="E5DDDD"/>
                </a:solidFill>
                <a:latin typeface="Inter" panose="00000700000000000000" pitchFamily="2" charset="0"/>
              </a:rPr>
              <a:t>hot path</a:t>
            </a:r>
            <a:r>
              <a:rPr lang="en-US" sz="1500" spc="-36" dirty="0">
                <a:solidFill>
                  <a:srgbClr val="E5DDDD"/>
                </a:solidFill>
                <a:latin typeface="Inter" panose="00000700000000000000" pitchFamily="2" charset="0"/>
              </a:rPr>
              <a:t>, S3 parquet pour </a:t>
            </a:r>
            <a:r>
              <a:rPr lang="en-US" sz="1500" b="1" spc="-36" dirty="0">
                <a:solidFill>
                  <a:srgbClr val="E5DDDD"/>
                </a:solidFill>
                <a:latin typeface="Inter" panose="00000700000000000000" pitchFamily="2" charset="0"/>
              </a:rPr>
              <a:t>cold path</a:t>
            </a:r>
          </a:p>
        </p:txBody>
      </p:sp>
      <p:pic>
        <p:nvPicPr>
          <p:cNvPr id="586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65">
            <a:alphaModFix amt="100000"/>
          </a:blip>
          <a:stretch/>
        </p:blipFill>
        <p:spPr>
          <a:xfrm>
            <a:off x="7543800" y="3567684"/>
            <a:ext cx="54025" cy="54025"/>
          </a:xfrm>
          <a:prstGeom prst="rect">
            <a:avLst/>
          </a:prstGeom>
        </p:spPr>
      </p:pic>
      <p:sp>
        <p:nvSpPr>
          <p:cNvPr id="588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79055" y="4812030"/>
            <a:ext cx="1555432" cy="19050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130"/>
              </a:lnSpc>
            </a:pPr>
            <a:r>
              <a:rPr lang="en-US" sz="1500" spc="-36" dirty="0">
                <a:solidFill>
                  <a:srgbClr val="E5DDDD">
                    <a:alpha val="100000"/>
                  </a:srgbClr>
                </a:solidFill>
                <a:latin typeface="Inter" panose="00000700000000000000" pitchFamily="2" charset="0"/>
              </a:rPr>
              <a:t>Avantages: latence minimale, replay depuis S3, architecture simple (SQL Server ERP/CRM reste isolé)</a:t>
            </a:r>
          </a:p>
        </p:txBody>
      </p:sp>
      <p:pic>
        <p:nvPicPr>
          <p:cNvPr id="590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67">
            <a:alphaModFix amt="100000"/>
          </a:blip>
          <a:stretch/>
        </p:blipFill>
        <p:spPr>
          <a:xfrm>
            <a:off x="7543800" y="4920234"/>
            <a:ext cx="54025" cy="54025"/>
          </a:xfrm>
          <a:prstGeom prst="rect">
            <a:avLst/>
          </a:prstGeom>
        </p:spPr>
      </p:pic>
      <p:sp>
        <p:nvSpPr>
          <p:cNvPr id="592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79055" y="6705600"/>
            <a:ext cx="1555432" cy="24479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130"/>
              </a:lnSpc>
            </a:pPr>
            <a:r>
              <a:rPr lang="en-US" sz="1500" spc="-36" dirty="0">
                <a:solidFill>
                  <a:srgbClr val="E5DDDD">
                    <a:alpha val="100000"/>
                  </a:srgbClr>
                </a:solidFill>
                <a:latin typeface="Inter" panose="00000700000000000000" pitchFamily="2" charset="0"/>
              </a:rPr>
              <a:t>Inconvénients: deux environnements, VPN sécurisé requis (Tunnel chiffré entre le SI et AWS), monitoring hybride</a:t>
            </a:r>
          </a:p>
        </p:txBody>
      </p:sp>
      <p:pic>
        <p:nvPicPr>
          <p:cNvPr id="594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69">
            <a:alphaModFix amt="100000"/>
          </a:blip>
          <a:stretch/>
        </p:blipFill>
        <p:spPr>
          <a:xfrm>
            <a:off x="7543800" y="6813804"/>
            <a:ext cx="54025" cy="54025"/>
          </a:xfrm>
          <a:prstGeom prst="rect">
            <a:avLst/>
          </a:prstGeom>
        </p:spPr>
      </p:pic>
      <p:pic>
        <p:nvPicPr>
          <p:cNvPr id="59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71">
            <a:alphaModFix amt="100000"/>
          </a:blip>
          <a:stretch/>
        </p:blipFill>
        <p:spPr>
          <a:xfrm>
            <a:off x="8820150" y="8915400"/>
            <a:ext cx="533400" cy="533400"/>
          </a:xfrm>
          <a:prstGeom prst="rect">
            <a:avLst/>
          </a:prstGeom>
        </p:spPr>
      </p:pic>
      <p:sp>
        <p:nvSpPr>
          <p:cNvPr id="598" name="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820150" y="8892540"/>
            <a:ext cx="566738" cy="5334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/>
            <a:r>
              <a:rPr lang="en-US" sz="4200" dirty="0">
                <a:solidFill>
                  <a:srgbClr val="FFFFFF">
                    <a:alpha val="30000"/>
                  </a:srgbClr>
                </a:solidFill>
                <a:latin typeface="Archivo" panose="00000700000000000000" pitchFamily="2" charset="0"/>
              </a:rPr>
              <a:t>1</a:t>
            </a:r>
          </a:p>
        </p:txBody>
      </p:sp>
      <p:pic>
        <p:nvPicPr>
          <p:cNvPr id="60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73">
            <a:alphaModFix amt="100000"/>
          </a:blip>
          <a:stretch/>
        </p:blipFill>
        <p:spPr>
          <a:xfrm>
            <a:off x="9963150" y="2181225"/>
            <a:ext cx="2114550" cy="9525"/>
          </a:xfrm>
          <a:prstGeom prst="rect">
            <a:avLst/>
          </a:prstGeom>
        </p:spPr>
      </p:pic>
      <p:sp>
        <p:nvSpPr>
          <p:cNvPr id="602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963150" y="914400"/>
            <a:ext cx="795338" cy="10572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1404"/>
              </a:lnSpc>
            </a:pPr>
            <a:r>
              <a:rPr lang="en-US" sz="900" spc="-30" dirty="0">
                <a:solidFill>
                  <a:srgbClr val="161723">
                    <a:alpha val="100000"/>
                  </a:srgbClr>
                </a:solidFill>
                <a:latin typeface="Inter SemiBold" panose="00000700000000000000" pitchFamily="2" charset="0"/>
              </a:rPr>
              <a:t>Hypothèse 2 - Streaming on-prem et traitement cloud centré S3</a:t>
            </a:r>
          </a:p>
        </p:txBody>
      </p:sp>
      <p:pic>
        <p:nvPicPr>
          <p:cNvPr id="60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75">
            <a:alphaModFix amt="100000"/>
          </a:blip>
          <a:stretch/>
        </p:blipFill>
        <p:spPr>
          <a:xfrm>
            <a:off x="11026140" y="914400"/>
            <a:ext cx="1047750" cy="1047750"/>
          </a:xfrm>
          <a:prstGeom prst="rect">
            <a:avLst/>
          </a:prstGeom>
        </p:spPr>
      </p:pic>
      <p:pic>
        <p:nvPicPr>
          <p:cNvPr id="606" name="iconNode1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77">
            <a:alphaModFix amt="100000"/>
          </a:blip>
          <a:stretch/>
        </p:blipFill>
        <p:spPr>
          <a:xfrm>
            <a:off x="11289030" y="1177290"/>
            <a:ext cx="525780" cy="525780"/>
          </a:xfrm>
          <a:prstGeom prst="rect">
            <a:avLst/>
          </a:prstGeom>
        </p:spPr>
      </p:pic>
      <p:pic>
        <p:nvPicPr>
          <p:cNvPr id="60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79">
            <a:alphaModFix amt="100000"/>
          </a:blip>
          <a:stretch/>
        </p:blipFill>
        <p:spPr>
          <a:xfrm>
            <a:off x="9963150" y="2419350"/>
            <a:ext cx="2114550" cy="6953250"/>
          </a:xfrm>
          <a:prstGeom prst="rect">
            <a:avLst/>
          </a:prstGeom>
        </p:spPr>
      </p:pic>
      <p:sp>
        <p:nvSpPr>
          <p:cNvPr id="610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327005" y="2647950"/>
            <a:ext cx="1555432" cy="13620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130"/>
              </a:lnSpc>
            </a:pPr>
            <a:r>
              <a:rPr lang="en-US" sz="1500" spc="-36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Avantages: scalabilité élevée, moins d'infrastcuture locale</a:t>
            </a:r>
          </a:p>
        </p:txBody>
      </p:sp>
      <p:pic>
        <p:nvPicPr>
          <p:cNvPr id="612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81">
            <a:alphaModFix amt="100000"/>
          </a:blip>
          <a:stretch/>
        </p:blipFill>
        <p:spPr>
          <a:xfrm>
            <a:off x="10191750" y="2756154"/>
            <a:ext cx="54025" cy="54025"/>
          </a:xfrm>
          <a:prstGeom prst="rect">
            <a:avLst/>
          </a:prstGeom>
        </p:spPr>
      </p:pic>
      <p:sp>
        <p:nvSpPr>
          <p:cNvPr id="614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327005" y="4000500"/>
            <a:ext cx="1555432" cy="1095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130"/>
              </a:lnSpc>
            </a:pPr>
            <a:r>
              <a:rPr lang="en-US" sz="1500" spc="-36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Traitement serverless cloud: Lambda, Glue, EMR</a:t>
            </a:r>
          </a:p>
        </p:txBody>
      </p:sp>
      <p:pic>
        <p:nvPicPr>
          <p:cNvPr id="616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83">
            <a:alphaModFix amt="100000"/>
          </a:blip>
          <a:stretch/>
        </p:blipFill>
        <p:spPr>
          <a:xfrm>
            <a:off x="10191750" y="4108704"/>
            <a:ext cx="54025" cy="54025"/>
          </a:xfrm>
          <a:prstGeom prst="rect">
            <a:avLst/>
          </a:prstGeom>
        </p:spPr>
      </p:pic>
      <p:sp>
        <p:nvSpPr>
          <p:cNvPr id="618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327005" y="5082540"/>
            <a:ext cx="1555432" cy="13620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130"/>
              </a:lnSpc>
            </a:pPr>
            <a:r>
              <a:rPr lang="en-US" sz="1500" spc="-36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Avantages: scalabilité élevée, moins d'infrasstucture locale</a:t>
            </a:r>
          </a:p>
        </p:txBody>
      </p:sp>
      <p:pic>
        <p:nvPicPr>
          <p:cNvPr id="620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85">
            <a:alphaModFix amt="100000"/>
          </a:blip>
          <a:stretch/>
        </p:blipFill>
        <p:spPr>
          <a:xfrm>
            <a:off x="10191750" y="5190744"/>
            <a:ext cx="54025" cy="54025"/>
          </a:xfrm>
          <a:prstGeom prst="rect">
            <a:avLst/>
          </a:prstGeom>
        </p:spPr>
      </p:pic>
      <p:sp>
        <p:nvSpPr>
          <p:cNvPr id="622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327005" y="6435090"/>
            <a:ext cx="1555432" cy="21717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130"/>
              </a:lnSpc>
            </a:pPr>
            <a:r>
              <a:rPr lang="en-US" sz="1500" spc="-36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Inconvénients: dépendance réseau, latence légèrement supérieure, coûts variable</a:t>
            </a:r>
            <a:r>
              <a:rPr lang="en-US" sz="1500" spc="-36" dirty="0">
                <a:solidFill>
                  <a:srgbClr val="FFFFFF"/>
                </a:solidFill>
                <a:latin typeface="Inter" panose="00000700000000000000" pitchFamily="2" charset="0"/>
              </a:rPr>
              <a:t>s</a:t>
            </a:r>
            <a:r>
              <a:rPr lang="en-US" sz="1500" spc="-36" dirty="0">
                <a:solidFill>
                  <a:srgbClr val="FFFFFF"/>
                </a:solidFill>
                <a:latin typeface="Inter" panose="00000700000000000000" pitchFamily="2" charset="0"/>
              </a:rPr>
              <a:t>|rgb{var(--dark-color-rgb)}|</a:t>
            </a:r>
          </a:p>
        </p:txBody>
      </p:sp>
      <p:pic>
        <p:nvPicPr>
          <p:cNvPr id="624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87">
            <a:alphaModFix amt="100000"/>
          </a:blip>
          <a:stretch/>
        </p:blipFill>
        <p:spPr>
          <a:xfrm>
            <a:off x="10191750" y="6543294"/>
            <a:ext cx="54025" cy="54025"/>
          </a:xfrm>
          <a:prstGeom prst="rect">
            <a:avLst/>
          </a:prstGeom>
        </p:spPr>
      </p:pic>
      <p:pic>
        <p:nvPicPr>
          <p:cNvPr id="62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89">
            <a:alphaModFix amt="100000"/>
          </a:blip>
          <a:stretch/>
        </p:blipFill>
        <p:spPr>
          <a:xfrm>
            <a:off x="11468100" y="8915400"/>
            <a:ext cx="533400" cy="533400"/>
          </a:xfrm>
          <a:prstGeom prst="rect">
            <a:avLst/>
          </a:prstGeom>
        </p:spPr>
      </p:pic>
      <p:sp>
        <p:nvSpPr>
          <p:cNvPr id="628" name="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468100" y="8892540"/>
            <a:ext cx="566738" cy="5334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/>
            <a:r>
              <a:rPr lang="en-US" sz="4200" dirty="0">
                <a:solidFill>
                  <a:srgbClr val="FFFFFF">
                    <a:alpha val="30000"/>
                  </a:srgbClr>
                </a:solidFill>
                <a:latin typeface="Archivo" panose="00000700000000000000" pitchFamily="2" charset="0"/>
              </a:rPr>
              <a:t>2</a:t>
            </a:r>
          </a:p>
        </p:txBody>
      </p:sp>
      <p:pic>
        <p:nvPicPr>
          <p:cNvPr id="63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91">
            <a:alphaModFix amt="100000"/>
          </a:blip>
          <a:stretch/>
        </p:blipFill>
        <p:spPr>
          <a:xfrm>
            <a:off x="12611100" y="2181225"/>
            <a:ext cx="2114550" cy="9525"/>
          </a:xfrm>
          <a:prstGeom prst="rect">
            <a:avLst/>
          </a:prstGeom>
        </p:spPr>
      </p:pic>
      <p:sp>
        <p:nvSpPr>
          <p:cNvPr id="632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611100" y="914400"/>
            <a:ext cx="795338" cy="9048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1404"/>
              </a:lnSpc>
            </a:pPr>
            <a:r>
              <a:rPr lang="en-US" sz="900" spc="-30" dirty="0">
                <a:solidFill>
                  <a:srgbClr val="161723">
                    <a:alpha val="100000"/>
                  </a:srgbClr>
                </a:solidFill>
                <a:latin typeface="Inter SemiBold" panose="00000700000000000000" pitchFamily="2" charset="0"/>
              </a:rPr>
              <a:t>Hypothèse 3 - S3 First avec Redpanda comme </a:t>
            </a:r>
            <a:r>
              <a:rPr lang="en-US" sz="900" i="1" spc="-30" dirty="0">
                <a:solidFill>
                  <a:srgbClr val="161723"/>
                </a:solidFill>
                <a:latin typeface="Inter SemiBold" panose="00000700000000000000" pitchFamily="2" charset="0"/>
              </a:rPr>
              <a:t>backbone</a:t>
            </a:r>
          </a:p>
        </p:txBody>
      </p:sp>
      <p:pic>
        <p:nvPicPr>
          <p:cNvPr id="63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93">
            <a:alphaModFix amt="100000"/>
          </a:blip>
          <a:stretch/>
        </p:blipFill>
        <p:spPr>
          <a:xfrm>
            <a:off x="13674090" y="914400"/>
            <a:ext cx="1047750" cy="1047750"/>
          </a:xfrm>
          <a:prstGeom prst="rect">
            <a:avLst/>
          </a:prstGeom>
        </p:spPr>
      </p:pic>
      <p:pic>
        <p:nvPicPr>
          <p:cNvPr id="636" name="iconNode2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95">
            <a:alphaModFix amt="100000"/>
          </a:blip>
          <a:stretch/>
        </p:blipFill>
        <p:spPr>
          <a:xfrm>
            <a:off x="13936980" y="1177290"/>
            <a:ext cx="525780" cy="525780"/>
          </a:xfrm>
          <a:prstGeom prst="rect">
            <a:avLst/>
          </a:prstGeom>
        </p:spPr>
      </p:pic>
      <p:pic>
        <p:nvPicPr>
          <p:cNvPr id="63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97">
            <a:alphaModFix amt="100000"/>
          </a:blip>
          <a:stretch/>
        </p:blipFill>
        <p:spPr>
          <a:xfrm>
            <a:off x="12611100" y="2419350"/>
            <a:ext cx="2114550" cy="6953250"/>
          </a:xfrm>
          <a:prstGeom prst="rect">
            <a:avLst/>
          </a:prstGeom>
        </p:spPr>
      </p:pic>
      <p:sp>
        <p:nvSpPr>
          <p:cNvPr id="640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974955" y="2647950"/>
            <a:ext cx="1555432" cy="16287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130"/>
              </a:lnSpc>
            </a:pPr>
            <a:r>
              <a:rPr lang="en-US" sz="1500" spc="-36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Redpanda hybride avec tiered storage (stockage à plusieurs niveaux.) vers S3</a:t>
            </a:r>
          </a:p>
        </p:txBody>
      </p:sp>
      <p:pic>
        <p:nvPicPr>
          <p:cNvPr id="642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99">
            <a:alphaModFix amt="100000"/>
          </a:blip>
          <a:stretch/>
        </p:blipFill>
        <p:spPr>
          <a:xfrm>
            <a:off x="12839700" y="2756154"/>
            <a:ext cx="54025" cy="54025"/>
          </a:xfrm>
          <a:prstGeom prst="rect">
            <a:avLst/>
          </a:prstGeom>
        </p:spPr>
      </p:pic>
      <p:sp>
        <p:nvSpPr>
          <p:cNvPr id="644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974955" y="4271010"/>
            <a:ext cx="1555432" cy="8191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130"/>
              </a:lnSpc>
            </a:pPr>
            <a:r>
              <a:rPr lang="en-US" sz="1500" spc="-36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S3 comme source durable et lakehouse futur</a:t>
            </a:r>
          </a:p>
        </p:txBody>
      </p:sp>
      <p:pic>
        <p:nvPicPr>
          <p:cNvPr id="646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01">
            <a:alphaModFix amt="100000"/>
          </a:blip>
          <a:stretch/>
        </p:blipFill>
        <p:spPr>
          <a:xfrm>
            <a:off x="12839700" y="4379214"/>
            <a:ext cx="54025" cy="54025"/>
          </a:xfrm>
          <a:prstGeom prst="rect">
            <a:avLst/>
          </a:prstGeom>
        </p:spPr>
      </p:pic>
      <p:sp>
        <p:nvSpPr>
          <p:cNvPr id="648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974955" y="5082540"/>
            <a:ext cx="1555432" cy="13620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130"/>
              </a:lnSpc>
            </a:pPr>
            <a:r>
              <a:rPr lang="en-US" sz="1500" spc="-36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Avantages: migration progressive, coûts optimisés, relecture infinie</a:t>
            </a:r>
          </a:p>
        </p:txBody>
      </p:sp>
      <p:pic>
        <p:nvPicPr>
          <p:cNvPr id="650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03">
            <a:alphaModFix amt="100000"/>
          </a:blip>
          <a:stretch/>
        </p:blipFill>
        <p:spPr>
          <a:xfrm>
            <a:off x="12839700" y="5190744"/>
            <a:ext cx="54025" cy="54025"/>
          </a:xfrm>
          <a:prstGeom prst="rect">
            <a:avLst/>
          </a:prstGeom>
        </p:spPr>
      </p:pic>
      <p:sp>
        <p:nvSpPr>
          <p:cNvPr id="652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974955" y="6435090"/>
            <a:ext cx="1555432" cy="21717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130"/>
              </a:lnSpc>
            </a:pPr>
            <a:r>
              <a:rPr lang="en-US" sz="1500" spc="-36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Inconvénients: configuration plus complexe, gouvernance topics requise</a:t>
            </a:r>
            <a:r>
              <a:rPr lang="en-US" sz="1500" spc="-36" dirty="0">
                <a:solidFill>
                  <a:srgbClr val="FFFFFF"/>
                </a:solidFill>
                <a:latin typeface="Inter" panose="00000700000000000000" pitchFamily="2" charset="0"/>
              </a:rPr>
              <a:t>|rgb{35,22,24}|</a:t>
            </a:r>
            <a:r>
              <a:rPr lang="en-US" sz="1500" spc="-36" dirty="0">
                <a:solidFill>
                  <a:srgbClr val="FFFFFF"/>
                </a:solidFill>
                <a:latin typeface="Inter" panose="00000700000000000000" pitchFamily="2" charset="0"/>
              </a:rPr>
              <a:t>|rgb{35,23,22}|</a:t>
            </a:r>
          </a:p>
        </p:txBody>
      </p:sp>
      <p:pic>
        <p:nvPicPr>
          <p:cNvPr id="654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05">
            <a:alphaModFix amt="100000"/>
          </a:blip>
          <a:stretch/>
        </p:blipFill>
        <p:spPr>
          <a:xfrm>
            <a:off x="12839700" y="6543294"/>
            <a:ext cx="54025" cy="54025"/>
          </a:xfrm>
          <a:prstGeom prst="rect">
            <a:avLst/>
          </a:prstGeom>
        </p:spPr>
      </p:pic>
      <p:pic>
        <p:nvPicPr>
          <p:cNvPr id="65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07">
            <a:alphaModFix amt="100000"/>
          </a:blip>
          <a:stretch/>
        </p:blipFill>
        <p:spPr>
          <a:xfrm>
            <a:off x="14116050" y="8915400"/>
            <a:ext cx="533400" cy="533400"/>
          </a:xfrm>
          <a:prstGeom prst="rect">
            <a:avLst/>
          </a:prstGeom>
        </p:spPr>
      </p:pic>
      <p:sp>
        <p:nvSpPr>
          <p:cNvPr id="658" name="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4116050" y="8892540"/>
            <a:ext cx="566738" cy="5334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/>
            <a:r>
              <a:rPr lang="en-US" sz="4200" dirty="0">
                <a:solidFill>
                  <a:srgbClr val="FFFFFF">
                    <a:alpha val="30000"/>
                  </a:srgbClr>
                </a:solidFill>
                <a:latin typeface="Archivo" panose="00000700000000000000" pitchFamily="2" charset="0"/>
              </a:rPr>
              <a:t>3</a:t>
            </a:r>
          </a:p>
        </p:txBody>
      </p:sp>
      <p:pic>
        <p:nvPicPr>
          <p:cNvPr id="66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09">
            <a:alphaModFix amt="100000"/>
          </a:blip>
          <a:stretch/>
        </p:blipFill>
        <p:spPr>
          <a:xfrm>
            <a:off x="15259050" y="2181225"/>
            <a:ext cx="2114550" cy="9525"/>
          </a:xfrm>
          <a:prstGeom prst="rect">
            <a:avLst/>
          </a:prstGeom>
        </p:spPr>
      </p:pic>
      <p:sp>
        <p:nvSpPr>
          <p:cNvPr id="662" name="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5259050" y="914400"/>
            <a:ext cx="728662" cy="1905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1404"/>
              </a:lnSpc>
            </a:pPr>
            <a:r>
              <a:rPr lang="en-US" sz="900" spc="-30" dirty="0">
                <a:solidFill>
                  <a:srgbClr val="161723">
                    <a:alpha val="100000"/>
                  </a:srgbClr>
                </a:solidFill>
                <a:latin typeface="Inter SemiBold" panose="00000700000000000000" pitchFamily="2" charset="0"/>
              </a:rPr>
              <a:t>Notre choix...</a:t>
            </a:r>
          </a:p>
        </p:txBody>
      </p:sp>
      <p:pic>
        <p:nvPicPr>
          <p:cNvPr id="66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11">
            <a:alphaModFix amt="100000"/>
          </a:blip>
          <a:stretch/>
        </p:blipFill>
        <p:spPr>
          <a:xfrm>
            <a:off x="16322040" y="914400"/>
            <a:ext cx="1047750" cy="1047750"/>
          </a:xfrm>
          <a:prstGeom prst="rect">
            <a:avLst/>
          </a:prstGeom>
        </p:spPr>
      </p:pic>
      <p:pic>
        <p:nvPicPr>
          <p:cNvPr id="666" name="iconNode3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13">
            <a:alphaModFix amt="100000"/>
          </a:blip>
          <a:stretch/>
        </p:blipFill>
        <p:spPr>
          <a:xfrm>
            <a:off x="16584930" y="1177290"/>
            <a:ext cx="525780" cy="525780"/>
          </a:xfrm>
          <a:prstGeom prst="rect">
            <a:avLst/>
          </a:prstGeom>
        </p:spPr>
      </p:pic>
      <p:pic>
        <p:nvPicPr>
          <p:cNvPr id="66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15">
            <a:alphaModFix amt="100000"/>
          </a:blip>
          <a:stretch/>
        </p:blipFill>
        <p:spPr>
          <a:xfrm>
            <a:off x="15259050" y="2419350"/>
            <a:ext cx="2114550" cy="6953250"/>
          </a:xfrm>
          <a:prstGeom prst="rect">
            <a:avLst/>
          </a:prstGeom>
        </p:spPr>
      </p:pic>
      <p:sp>
        <p:nvSpPr>
          <p:cNvPr id="670" name="Description of a 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5487650" y="2647950"/>
            <a:ext cx="1690688" cy="46101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130"/>
              </a:lnSpc>
            </a:pPr>
            <a:r>
              <a:rPr lang="en-US" sz="1500" spc="-36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Hypothèse 3 pour vision long terme et lakehouse</a:t>
            </a:r>
            <a:r>
              <a:rPr lang="en-US" sz="1500" spc="-36" dirty="0">
                <a:solidFill>
                  <a:srgbClr val="FFFFFF"/>
                </a:solidFill>
                <a:latin typeface="Inter" panose="00000700000000000000" pitchFamily="2" charset="0"/>
              </a:rPr>
              <a:t> Redpanda garde l’index. S3 garde les données. Le stockage ne dépend plus de tes disques locaux. Redpanda peut relire les données même si elles sont sur S3.locale</a:t>
            </a:r>
          </a:p>
        </p:txBody>
      </p:sp>
      <p:pic>
        <p:nvPicPr>
          <p:cNvPr id="67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17">
            <a:alphaModFix amt="100000"/>
          </a:blip>
          <a:stretch/>
        </p:blipFill>
        <p:spPr>
          <a:xfrm>
            <a:off x="16764000" y="8915400"/>
            <a:ext cx="533400" cy="533400"/>
          </a:xfrm>
          <a:prstGeom prst="rect">
            <a:avLst/>
          </a:prstGeom>
        </p:spPr>
      </p:pic>
      <p:sp>
        <p:nvSpPr>
          <p:cNvPr id="674" name="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6764000" y="8892540"/>
            <a:ext cx="566738" cy="5334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/>
            <a:r>
              <a:rPr lang="en-US" sz="4200" dirty="0">
                <a:solidFill>
                  <a:srgbClr val="FFFFFF">
                    <a:alpha val="30000"/>
                  </a:srgbClr>
                </a:solidFill>
                <a:latin typeface="Archivo" panose="00000700000000000000" pitchFamily="2" charset="0"/>
              </a:rPr>
              <a:t>4</a:t>
            </a:r>
          </a:p>
        </p:txBody>
      </p:sp>
      <p:sp>
        <p:nvSpPr>
          <p:cNvPr id="676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52500" y="876300"/>
            <a:ext cx="4491038" cy="6953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5376"/>
              </a:lnSpc>
            </a:pPr>
            <a:r>
              <a:rPr lang="en-US" sz="4200" spc="-105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3  Hypothèses</a:t>
            </a:r>
          </a:p>
        </p:txBody>
      </p:sp>
      <p:sp>
        <p:nvSpPr>
          <p:cNvPr id="678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95400" y="1752600"/>
            <a:ext cx="4148138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1800" spc="-36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local minimal, </a:t>
            </a:r>
          </a:p>
        </p:txBody>
      </p:sp>
      <p:sp>
        <p:nvSpPr>
          <p:cNvPr id="680" name="::marker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52881" y="1738312"/>
            <a:ext cx="299656" cy="353187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1800" spc="-36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1.</a:t>
            </a:r>
          </a:p>
        </p:txBody>
      </p:sp>
      <p:sp>
        <p:nvSpPr>
          <p:cNvPr id="682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95400" y="2305717"/>
            <a:ext cx="4148138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1800" spc="-36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cloud analytique,</a:t>
            </a:r>
          </a:p>
        </p:txBody>
      </p:sp>
      <p:sp>
        <p:nvSpPr>
          <p:cNvPr id="684" name="::marker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52881" y="2291429"/>
            <a:ext cx="299656" cy="353187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1800" spc="-36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2.</a:t>
            </a:r>
          </a:p>
        </p:txBody>
      </p:sp>
      <p:sp>
        <p:nvSpPr>
          <p:cNvPr id="686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95400" y="2858929"/>
            <a:ext cx="4148138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1800" spc="-36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S3 first</a:t>
            </a:r>
          </a:p>
        </p:txBody>
      </p:sp>
      <p:sp>
        <p:nvSpPr>
          <p:cNvPr id="688" name="::marker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52881" y="2844641"/>
            <a:ext cx="299656" cy="353187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1800" spc="-36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3.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8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9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21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69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23">
            <a:alphaModFix amt="100000"/>
          </a:blip>
          <a:stretch/>
        </p:blipFill>
        <p:spPr>
          <a:xfrm>
            <a:off x="0" y="2552700"/>
            <a:ext cx="6096000" cy="3867150"/>
          </a:xfrm>
          <a:prstGeom prst="rect">
            <a:avLst/>
          </a:prstGeom>
        </p:spPr>
      </p:pic>
      <p:sp>
        <p:nvSpPr>
          <p:cNvPr id="695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381000" y="3636740"/>
            <a:ext cx="5367338" cy="8763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408"/>
              </a:lnSpc>
            </a:pPr>
            <a:r>
              <a:rPr lang="en-US" sz="2400" spc="-52" dirty="0">
                <a:solidFill>
                  <a:srgbClr val="FFFFFF">
                    <a:alpha val="100000"/>
                  </a:srgbClr>
                </a:solidFill>
                <a:latin typeface="Inter SemiBold" panose="00000700000000000000" pitchFamily="2" charset="0"/>
              </a:rPr>
              <a:t>Colonne vertébrale des données pour flux IoT et logs applicatifs</a:t>
            </a:r>
          </a:p>
        </p:txBody>
      </p:sp>
      <p:sp>
        <p:nvSpPr>
          <p:cNvPr id="697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381000" y="4578382"/>
            <a:ext cx="5367338" cy="7715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982"/>
              </a:lnSpc>
            </a:pPr>
            <a:r>
              <a:rPr lang="en-US" sz="2100" spc="-36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Reçoit, conserve et distribue les messages en continu</a:t>
            </a:r>
          </a:p>
        </p:txBody>
      </p:sp>
      <p:pic>
        <p:nvPicPr>
          <p:cNvPr id="69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25">
            <a:alphaModFix amt="100000"/>
          </a:blip>
          <a:stretch/>
        </p:blipFill>
        <p:spPr>
          <a:xfrm>
            <a:off x="6096000" y="2552700"/>
            <a:ext cx="6096000" cy="3867150"/>
          </a:xfrm>
          <a:prstGeom prst="rect">
            <a:avLst/>
          </a:prstGeom>
        </p:spPr>
      </p:pic>
      <p:sp>
        <p:nvSpPr>
          <p:cNvPr id="701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477000" y="3636740"/>
            <a:ext cx="5367338" cy="8763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408"/>
              </a:lnSpc>
            </a:pPr>
            <a:r>
              <a:rPr lang="en-US" sz="2400" spc="-52" dirty="0">
                <a:solidFill>
                  <a:srgbClr val="FFFFFF">
                    <a:alpha val="100000"/>
                  </a:srgbClr>
                </a:solidFill>
                <a:latin typeface="Inter SemiBold" panose="00000700000000000000" pitchFamily="2" charset="0"/>
              </a:rPr>
              <a:t>Stockage fiable et possibilité de rejouer les données</a:t>
            </a:r>
          </a:p>
        </p:txBody>
      </p:sp>
      <p:sp>
        <p:nvSpPr>
          <p:cNvPr id="703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477000" y="4578382"/>
            <a:ext cx="5367338" cy="7715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982"/>
              </a:lnSpc>
            </a:pPr>
            <a:r>
              <a:rPr lang="en-US" sz="2100" spc="-36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Préserve les messages en cas de panne réseau ou ralentissement</a:t>
            </a:r>
          </a:p>
        </p:txBody>
      </p:sp>
      <p:pic>
        <p:nvPicPr>
          <p:cNvPr id="70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27">
            <a:alphaModFix amt="100000"/>
          </a:blip>
          <a:stretch/>
        </p:blipFill>
        <p:spPr>
          <a:xfrm>
            <a:off x="12192000" y="2552700"/>
            <a:ext cx="6096000" cy="3867150"/>
          </a:xfrm>
          <a:prstGeom prst="rect">
            <a:avLst/>
          </a:prstGeom>
        </p:spPr>
      </p:pic>
      <p:sp>
        <p:nvSpPr>
          <p:cNvPr id="707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573000" y="3636740"/>
            <a:ext cx="5367338" cy="8763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408"/>
              </a:lnSpc>
            </a:pPr>
            <a:r>
              <a:rPr lang="en-US" sz="2400" spc="-52" dirty="0">
                <a:solidFill>
                  <a:srgbClr val="FFFFFF">
                    <a:alpha val="100000"/>
                  </a:srgbClr>
                </a:solidFill>
                <a:latin typeface="Inter SemiBold" panose="00000700000000000000" pitchFamily="2" charset="0"/>
              </a:rPr>
              <a:t>Installation et exploitation plus simples que Kafka</a:t>
            </a:r>
          </a:p>
        </p:txBody>
      </p:sp>
      <p:sp>
        <p:nvSpPr>
          <p:cNvPr id="709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573000" y="4578382"/>
            <a:ext cx="5367338" cy="7715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982"/>
              </a:lnSpc>
            </a:pPr>
            <a:r>
              <a:rPr lang="en-US" sz="2100" spc="-36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Architecture légère sans composants additionnels complexes</a:t>
            </a:r>
          </a:p>
        </p:txBody>
      </p:sp>
      <p:pic>
        <p:nvPicPr>
          <p:cNvPr id="71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29">
            <a:alphaModFix amt="100000"/>
          </a:blip>
          <a:stretch/>
        </p:blipFill>
        <p:spPr>
          <a:xfrm>
            <a:off x="0" y="6419850"/>
            <a:ext cx="6096000" cy="3867150"/>
          </a:xfrm>
          <a:prstGeom prst="rect">
            <a:avLst/>
          </a:prstGeom>
        </p:spPr>
      </p:pic>
      <p:sp>
        <p:nvSpPr>
          <p:cNvPr id="713" name="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381000" y="7693152"/>
            <a:ext cx="5367338" cy="8763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408"/>
              </a:lnSpc>
            </a:pPr>
            <a:r>
              <a:rPr lang="en-US" sz="2400" spc="-52" dirty="0">
                <a:solidFill>
                  <a:srgbClr val="000000">
                    <a:alpha val="100000"/>
                  </a:srgbClr>
                </a:solidFill>
                <a:latin typeface="Inter SemiBold" panose="00000700000000000000" pitchFamily="2" charset="0"/>
              </a:rPr>
              <a:t>Faible consommation de ressources et haute performance</a:t>
            </a:r>
          </a:p>
        </p:txBody>
      </p:sp>
      <p:sp>
        <p:nvSpPr>
          <p:cNvPr id="715" name="Description of a 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381000" y="8634889"/>
            <a:ext cx="5367338" cy="3905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982"/>
              </a:lnSpc>
            </a:pPr>
            <a:r>
              <a:rPr lang="en-US" sz="2100" spc="-36" dirty="0">
                <a:solidFill>
                  <a:srgbClr val="000000">
                    <a:alpha val="100000"/>
                  </a:srgbClr>
                </a:solidFill>
                <a:latin typeface="Inter" panose="00000700000000000000" pitchFamily="2" charset="0"/>
              </a:rPr>
              <a:t>Adapté aux flux industriels continus</a:t>
            </a:r>
          </a:p>
        </p:txBody>
      </p:sp>
      <p:pic>
        <p:nvPicPr>
          <p:cNvPr id="71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31">
            <a:alphaModFix amt="100000"/>
          </a:blip>
          <a:stretch/>
        </p:blipFill>
        <p:spPr>
          <a:xfrm>
            <a:off x="6096000" y="6419850"/>
            <a:ext cx="6096000" cy="3867150"/>
          </a:xfrm>
          <a:prstGeom prst="rect">
            <a:avLst/>
          </a:prstGeom>
        </p:spPr>
      </p:pic>
      <p:sp>
        <p:nvSpPr>
          <p:cNvPr id="719" name="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477000" y="7503890"/>
            <a:ext cx="5367338" cy="8763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408"/>
              </a:lnSpc>
            </a:pPr>
            <a:r>
              <a:rPr lang="en-US" sz="2400" spc="-52" dirty="0">
                <a:solidFill>
                  <a:srgbClr val="FFFFFF">
                    <a:alpha val="100000"/>
                  </a:srgbClr>
                </a:solidFill>
                <a:latin typeface="Inter SemiBold" panose="00000700000000000000" pitchFamily="2" charset="0"/>
              </a:rPr>
              <a:t>Gestion par </a:t>
            </a:r>
            <a:r>
              <a:rPr lang="en-US" sz="2400" b="1" spc="-52" dirty="0">
                <a:solidFill>
                  <a:srgbClr val="FFFFFF"/>
                </a:solidFill>
                <a:latin typeface="Inter SemiBold" panose="00000700000000000000" pitchFamily="2" charset="0"/>
              </a:rPr>
              <a:t>topics</a:t>
            </a:r>
            <a:r>
              <a:rPr lang="en-US" sz="2400" spc="-52" dirty="0">
                <a:solidFill>
                  <a:srgbClr val="FFFFFF"/>
                </a:solidFill>
                <a:latin typeface="Inter SemiBold" panose="00000700000000000000" pitchFamily="2" charset="0"/>
              </a:rPr>
              <a:t>, politiques de rétention et export vers S3</a:t>
            </a:r>
          </a:p>
        </p:txBody>
      </p:sp>
      <p:sp>
        <p:nvSpPr>
          <p:cNvPr id="721" name="Description of a 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477000" y="8445627"/>
            <a:ext cx="5367338" cy="7715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982"/>
              </a:lnSpc>
            </a:pPr>
            <a:r>
              <a:rPr lang="en-US" sz="2100" spc="-36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Orchestre alertes, analyses et archivage durable</a:t>
            </a:r>
          </a:p>
        </p:txBody>
      </p:sp>
      <p:pic>
        <p:nvPicPr>
          <p:cNvPr id="72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33">
            <a:alphaModFix amt="100000"/>
          </a:blip>
          <a:stretch/>
        </p:blipFill>
        <p:spPr>
          <a:xfrm>
            <a:off x="12192000" y="6419850"/>
            <a:ext cx="6096000" cy="3867150"/>
          </a:xfrm>
          <a:prstGeom prst="rect">
            <a:avLst/>
          </a:prstGeom>
        </p:spPr>
      </p:pic>
      <p:sp>
        <p:nvSpPr>
          <p:cNvPr id="725" name="Primary Heading-5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573000" y="7503890"/>
            <a:ext cx="5367338" cy="8763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408"/>
              </a:lnSpc>
            </a:pPr>
            <a:r>
              <a:rPr lang="en-US" sz="2400" spc="-52" dirty="0">
                <a:solidFill>
                  <a:srgbClr val="FFFFFF">
                    <a:alpha val="100000"/>
                  </a:srgbClr>
                </a:solidFill>
                <a:latin typeface="Inter SemiBold" panose="00000700000000000000" pitchFamily="2" charset="0"/>
              </a:rPr>
              <a:t>Résultat : flux fiables, structurés et exploitables</a:t>
            </a:r>
          </a:p>
        </p:txBody>
      </p:sp>
      <p:sp>
        <p:nvSpPr>
          <p:cNvPr id="727" name="Description of a primary heading-5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573000" y="8445627"/>
            <a:ext cx="5367338" cy="7715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982"/>
              </a:lnSpc>
            </a:pPr>
            <a:r>
              <a:rPr lang="en-US" sz="2100" spc="-36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Simplifie l'infrastructure et prépare une architecture orientée événements</a:t>
            </a:r>
          </a:p>
        </p:txBody>
      </p:sp>
      <p:sp>
        <p:nvSpPr>
          <p:cNvPr id="729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876300"/>
            <a:ext cx="12682538" cy="6953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5376"/>
              </a:lnSpc>
            </a:pPr>
            <a:r>
              <a:rPr lang="en-US" sz="4200" spc="-105" dirty="0">
                <a:solidFill>
                  <a:srgbClr val="452E5A">
                    <a:alpha val="100000"/>
                  </a:srgbClr>
                </a:solidFill>
                <a:latin typeface="Inter" panose="00000700000000000000" pitchFamily="2" charset="0"/>
              </a:rPr>
              <a:t>Pipeline temps réel avec </a:t>
            </a:r>
            <a:r>
              <a:rPr lang="en-US" sz="4200" b="1" spc="-105" dirty="0">
                <a:solidFill>
                  <a:srgbClr val="452E5A"/>
                </a:solidFill>
                <a:latin typeface="Inter" panose="00000700000000000000" pitchFamily="2" charset="0"/>
              </a:rPr>
              <a:t>Redpanda</a:t>
            </a:r>
          </a:p>
        </p:txBody>
      </p:sp>
      <p:sp>
        <p:nvSpPr>
          <p:cNvPr id="731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1676400"/>
            <a:ext cx="1268253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1800" spc="-36" dirty="0">
                <a:solidFill>
                  <a:srgbClr val="6E6E74">
                    <a:alpha val="100000"/>
                  </a:srgbClr>
                </a:solidFill>
                <a:latin typeface="Inter" panose="00000700000000000000" pitchFamily="2" charset="0"/>
              </a:rPr>
              <a:t>Rappel de l'intérêt d'un Streaming fiable pour capteurs IoT, analyses et archivage S3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9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37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73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39">
            <a:alphaModFix amt="100000"/>
          </a:blip>
          <a:stretch/>
        </p:blipFill>
        <p:spPr>
          <a:xfrm>
            <a:off x="14630400" y="0"/>
            <a:ext cx="3657600" cy="914400"/>
          </a:xfrm>
          <a:prstGeom prst="rect">
            <a:avLst/>
          </a:prstGeom>
        </p:spPr>
      </p:pic>
      <p:pic>
        <p:nvPicPr>
          <p:cNvPr id="737" name="imageNode0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241">
            <a:alphaModFix amt="100000"/>
          </a:blip>
          <a:stretch/>
        </p:blipFill>
        <p:spPr>
          <a:xfrm>
            <a:off x="914400" y="2552700"/>
            <a:ext cx="2867025" cy="2647950"/>
          </a:xfrm>
          <a:prstGeom prst="rect">
            <a:avLst/>
          </a:prstGeom>
        </p:spPr>
      </p:pic>
      <p:sp>
        <p:nvSpPr>
          <p:cNvPr id="739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5581650"/>
            <a:ext cx="2900362" cy="7715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982"/>
              </a:lnSpc>
            </a:pPr>
            <a:r>
              <a:rPr lang="en-US" sz="2100" spc="-52" dirty="0">
                <a:solidFill>
                  <a:srgbClr val="FFFFFF">
                    <a:alpha val="100000"/>
                  </a:srgbClr>
                </a:solidFill>
                <a:latin typeface="Inter SemiBold" panose="00000700000000000000" pitchFamily="2" charset="0"/>
              </a:rPr>
              <a:t>          Cluster SQL Server on-prem</a:t>
            </a:r>
          </a:p>
        </p:txBody>
      </p:sp>
      <p:pic>
        <p:nvPicPr>
          <p:cNvPr id="74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43">
            <a:alphaModFix amt="100000"/>
          </a:blip>
          <a:stretch/>
        </p:blipFill>
        <p:spPr>
          <a:xfrm>
            <a:off x="914400" y="5581650"/>
            <a:ext cx="381000" cy="381000"/>
          </a:xfrm>
          <a:prstGeom prst="rect">
            <a:avLst/>
          </a:prstGeom>
        </p:spPr>
      </p:pic>
      <p:sp>
        <p:nvSpPr>
          <p:cNvPr id="743" name="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50703" y="5581650"/>
            <a:ext cx="138112" cy="3905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982"/>
              </a:lnSpc>
            </a:pPr>
            <a:r>
              <a:rPr lang="en-US" sz="2100" spc="-52" dirty="0">
                <a:solidFill>
                  <a:srgbClr val="FFFFFF">
                    <a:alpha val="85000"/>
                  </a:srgbClr>
                </a:solidFill>
                <a:latin typeface="Inter SemiBold" panose="00000700000000000000" pitchFamily="2" charset="0"/>
              </a:rPr>
              <a:t>1</a:t>
            </a:r>
          </a:p>
        </p:txBody>
      </p:sp>
      <p:sp>
        <p:nvSpPr>
          <p:cNvPr id="745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76706" y="6453378"/>
            <a:ext cx="2738056" cy="6572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1800" spc="-36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Contient </a:t>
            </a:r>
            <a:r>
              <a:rPr lang="en-US" sz="1800" b="1" spc="-36" dirty="0">
                <a:solidFill>
                  <a:srgbClr val="FFFFFF"/>
                </a:solidFill>
                <a:latin typeface="Inter" panose="00000700000000000000" pitchFamily="2" charset="0"/>
              </a:rPr>
              <a:t>40 To</a:t>
            </a:r>
            <a:r>
              <a:rPr lang="en-US" sz="1800" spc="-36" dirty="0">
                <a:solidFill>
                  <a:srgbClr val="FFFFFF"/>
                </a:solidFill>
                <a:latin typeface="Inter" panose="00000700000000000000" pitchFamily="2" charset="0"/>
              </a:rPr>
              <a:t> de données critiques</a:t>
            </a:r>
          </a:p>
        </p:txBody>
      </p:sp>
      <p:pic>
        <p:nvPicPr>
          <p:cNvPr id="747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45">
            <a:alphaModFix amt="100000"/>
          </a:blip>
          <a:stretch/>
        </p:blipFill>
        <p:spPr>
          <a:xfrm>
            <a:off x="914400" y="6583204"/>
            <a:ext cx="64740" cy="64740"/>
          </a:xfrm>
          <a:prstGeom prst="rect">
            <a:avLst/>
          </a:prstGeom>
        </p:spPr>
      </p:pic>
      <p:sp>
        <p:nvSpPr>
          <p:cNvPr id="749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76706" y="7102507"/>
            <a:ext cx="2738056" cy="6572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1800" spc="-36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Supporte ERP et CRM en temps réel</a:t>
            </a:r>
          </a:p>
        </p:txBody>
      </p:sp>
      <p:pic>
        <p:nvPicPr>
          <p:cNvPr id="751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47">
            <a:alphaModFix amt="100000"/>
          </a:blip>
          <a:stretch/>
        </p:blipFill>
        <p:spPr>
          <a:xfrm>
            <a:off x="914400" y="7232332"/>
            <a:ext cx="64740" cy="64740"/>
          </a:xfrm>
          <a:prstGeom prst="rect">
            <a:avLst/>
          </a:prstGeom>
        </p:spPr>
      </p:pic>
      <p:sp>
        <p:nvSpPr>
          <p:cNvPr id="753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76706" y="7751636"/>
            <a:ext cx="2738056" cy="6572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1800" spc="-36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Réplication, sauvegardes et résilience locale</a:t>
            </a:r>
          </a:p>
        </p:txBody>
      </p:sp>
      <p:pic>
        <p:nvPicPr>
          <p:cNvPr id="755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49">
            <a:alphaModFix amt="100000"/>
          </a:blip>
          <a:stretch/>
        </p:blipFill>
        <p:spPr>
          <a:xfrm>
            <a:off x="914400" y="7881461"/>
            <a:ext cx="64740" cy="64740"/>
          </a:xfrm>
          <a:prstGeom prst="rect">
            <a:avLst/>
          </a:prstGeom>
        </p:spPr>
      </p:pic>
      <p:sp>
        <p:nvSpPr>
          <p:cNvPr id="757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76706" y="8400764"/>
            <a:ext cx="2738056" cy="6572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1800" spc="-36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Optimisé pour OLTP: petites écritures rapides</a:t>
            </a:r>
          </a:p>
        </p:txBody>
      </p:sp>
      <p:pic>
        <p:nvPicPr>
          <p:cNvPr id="759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51">
            <a:alphaModFix amt="100000"/>
          </a:blip>
          <a:stretch/>
        </p:blipFill>
        <p:spPr>
          <a:xfrm>
            <a:off x="914400" y="8530590"/>
            <a:ext cx="64740" cy="64740"/>
          </a:xfrm>
          <a:prstGeom prst="rect">
            <a:avLst/>
          </a:prstGeom>
        </p:spPr>
      </p:pic>
      <p:pic>
        <p:nvPicPr>
          <p:cNvPr id="761" name="imageNode1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253">
            <a:alphaModFix amt="100000"/>
          </a:blip>
          <a:stretch/>
        </p:blipFill>
        <p:spPr>
          <a:xfrm>
            <a:off x="4312920" y="2552700"/>
            <a:ext cx="2867025" cy="2647950"/>
          </a:xfrm>
          <a:prstGeom prst="rect">
            <a:avLst/>
          </a:prstGeom>
        </p:spPr>
      </p:pic>
      <p:sp>
        <p:nvSpPr>
          <p:cNvPr id="763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4312920" y="5581650"/>
            <a:ext cx="2900362" cy="7715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982"/>
              </a:lnSpc>
            </a:pPr>
            <a:r>
              <a:rPr lang="en-US" sz="2100" spc="-52" dirty="0">
                <a:solidFill>
                  <a:srgbClr val="FFFFFF">
                    <a:alpha val="100000"/>
                  </a:srgbClr>
                </a:solidFill>
                <a:latin typeface="Inter SemiBold" panose="00000700000000000000" pitchFamily="2" charset="0"/>
              </a:rPr>
              <a:t>          Pourquoi rester on-prem</a:t>
            </a:r>
          </a:p>
        </p:txBody>
      </p:sp>
      <p:pic>
        <p:nvPicPr>
          <p:cNvPr id="76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55">
            <a:alphaModFix amt="100000"/>
          </a:blip>
          <a:stretch/>
        </p:blipFill>
        <p:spPr>
          <a:xfrm>
            <a:off x="4312920" y="5581650"/>
            <a:ext cx="381000" cy="381000"/>
          </a:xfrm>
          <a:prstGeom prst="rect">
            <a:avLst/>
          </a:prstGeom>
        </p:spPr>
      </p:pic>
      <p:sp>
        <p:nvSpPr>
          <p:cNvPr id="767" name="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4422458" y="5581650"/>
            <a:ext cx="195262" cy="3905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982"/>
              </a:lnSpc>
            </a:pPr>
            <a:r>
              <a:rPr lang="en-US" sz="2100" spc="-52" dirty="0">
                <a:solidFill>
                  <a:srgbClr val="FFFFFF">
                    <a:alpha val="85000"/>
                  </a:srgbClr>
                </a:solidFill>
                <a:latin typeface="Inter SemiBold" panose="00000700000000000000" pitchFamily="2" charset="0"/>
              </a:rPr>
              <a:t>2</a:t>
            </a:r>
          </a:p>
        </p:txBody>
      </p:sp>
      <p:sp>
        <p:nvSpPr>
          <p:cNvPr id="769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4475226" y="6453378"/>
            <a:ext cx="2738056" cy="6572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1800" spc="-36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Latence interne minimale avec ERP/CRM</a:t>
            </a:r>
          </a:p>
        </p:txBody>
      </p:sp>
      <p:pic>
        <p:nvPicPr>
          <p:cNvPr id="771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57">
            <a:alphaModFix amt="100000"/>
          </a:blip>
          <a:stretch/>
        </p:blipFill>
        <p:spPr>
          <a:xfrm>
            <a:off x="4312920" y="6583204"/>
            <a:ext cx="64740" cy="64740"/>
          </a:xfrm>
          <a:prstGeom prst="rect">
            <a:avLst/>
          </a:prstGeom>
        </p:spPr>
      </p:pic>
      <p:sp>
        <p:nvSpPr>
          <p:cNvPr id="773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4475226" y="7102507"/>
            <a:ext cx="2738056" cy="6572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1800" spc="-36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Contrôle total sur sécurité et sauvegardes</a:t>
            </a:r>
          </a:p>
        </p:txBody>
      </p:sp>
      <p:pic>
        <p:nvPicPr>
          <p:cNvPr id="775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59">
            <a:alphaModFix amt="100000"/>
          </a:blip>
          <a:stretch/>
        </p:blipFill>
        <p:spPr>
          <a:xfrm>
            <a:off x="4312920" y="7232332"/>
            <a:ext cx="64740" cy="64740"/>
          </a:xfrm>
          <a:prstGeom prst="rect">
            <a:avLst/>
          </a:prstGeom>
        </p:spPr>
      </p:pic>
      <p:sp>
        <p:nvSpPr>
          <p:cNvPr id="777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4475226" y="7751636"/>
            <a:ext cx="2738056" cy="6572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1800" spc="-36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Stabilité requise pour systèmes transactionnels</a:t>
            </a:r>
          </a:p>
        </p:txBody>
      </p:sp>
      <p:pic>
        <p:nvPicPr>
          <p:cNvPr id="779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61">
            <a:alphaModFix amt="100000"/>
          </a:blip>
          <a:stretch/>
        </p:blipFill>
        <p:spPr>
          <a:xfrm>
            <a:off x="4312920" y="7881461"/>
            <a:ext cx="64740" cy="64740"/>
          </a:xfrm>
          <a:prstGeom prst="rect">
            <a:avLst/>
          </a:prstGeom>
        </p:spPr>
      </p:pic>
      <p:sp>
        <p:nvSpPr>
          <p:cNvPr id="781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4475226" y="8400764"/>
            <a:ext cx="2738056" cy="6572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1800" spc="-36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Données critiques du cœur business</a:t>
            </a:r>
          </a:p>
        </p:txBody>
      </p:sp>
      <p:pic>
        <p:nvPicPr>
          <p:cNvPr id="783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63">
            <a:alphaModFix amt="100000"/>
          </a:blip>
          <a:stretch/>
        </p:blipFill>
        <p:spPr>
          <a:xfrm>
            <a:off x="4312920" y="8530590"/>
            <a:ext cx="64740" cy="64740"/>
          </a:xfrm>
          <a:prstGeom prst="rect">
            <a:avLst/>
          </a:prstGeom>
        </p:spPr>
      </p:pic>
      <p:pic>
        <p:nvPicPr>
          <p:cNvPr id="785" name="imageNode2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265">
            <a:alphaModFix amt="100000"/>
          </a:blip>
          <a:stretch/>
        </p:blipFill>
        <p:spPr>
          <a:xfrm>
            <a:off x="7711440" y="2552700"/>
            <a:ext cx="2867025" cy="2647950"/>
          </a:xfrm>
          <a:prstGeom prst="rect">
            <a:avLst/>
          </a:prstGeom>
        </p:spPr>
      </p:pic>
      <p:sp>
        <p:nvSpPr>
          <p:cNvPr id="787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711440" y="5581650"/>
            <a:ext cx="2900362" cy="3905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982"/>
              </a:lnSpc>
            </a:pPr>
            <a:r>
              <a:rPr lang="en-US" sz="2100" spc="-52" dirty="0">
                <a:solidFill>
                  <a:srgbClr val="FFFFFF">
                    <a:alpha val="100000"/>
                  </a:srgbClr>
                </a:solidFill>
                <a:latin typeface="Inter SemiBold" panose="00000700000000000000" pitchFamily="2" charset="0"/>
              </a:rPr>
              <a:t>          Intérêt du cloud</a:t>
            </a:r>
          </a:p>
        </p:txBody>
      </p:sp>
      <p:pic>
        <p:nvPicPr>
          <p:cNvPr id="78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67">
            <a:alphaModFix amt="100000"/>
          </a:blip>
          <a:stretch/>
        </p:blipFill>
        <p:spPr>
          <a:xfrm>
            <a:off x="7711440" y="5581650"/>
            <a:ext cx="381000" cy="381000"/>
          </a:xfrm>
          <a:prstGeom prst="rect">
            <a:avLst/>
          </a:prstGeom>
        </p:spPr>
      </p:pic>
      <p:sp>
        <p:nvSpPr>
          <p:cNvPr id="791" name="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819263" y="5581650"/>
            <a:ext cx="195262" cy="3905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982"/>
              </a:lnSpc>
            </a:pPr>
            <a:r>
              <a:rPr lang="en-US" sz="2100" spc="-52" dirty="0">
                <a:solidFill>
                  <a:srgbClr val="FFFFFF">
                    <a:alpha val="85000"/>
                  </a:srgbClr>
                </a:solidFill>
                <a:latin typeface="Inter SemiBold" panose="00000700000000000000" pitchFamily="2" charset="0"/>
              </a:rPr>
              <a:t>3</a:t>
            </a:r>
          </a:p>
        </p:txBody>
      </p:sp>
      <p:sp>
        <p:nvSpPr>
          <p:cNvPr id="793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873746" y="6074664"/>
            <a:ext cx="2738056" cy="6572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1800" spc="-36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Scalabilité sans achat matériel</a:t>
            </a:r>
          </a:p>
        </p:txBody>
      </p:sp>
      <p:pic>
        <p:nvPicPr>
          <p:cNvPr id="795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69">
            <a:alphaModFix amt="100000"/>
          </a:blip>
          <a:stretch/>
        </p:blipFill>
        <p:spPr>
          <a:xfrm>
            <a:off x="7711440" y="6204490"/>
            <a:ext cx="64740" cy="64740"/>
          </a:xfrm>
          <a:prstGeom prst="rect">
            <a:avLst/>
          </a:prstGeom>
        </p:spPr>
      </p:pic>
      <p:sp>
        <p:nvSpPr>
          <p:cNvPr id="797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873746" y="6723793"/>
            <a:ext cx="2738056" cy="6572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1800" spc="-36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Haute disponibilité native multi-zones</a:t>
            </a:r>
          </a:p>
        </p:txBody>
      </p:sp>
      <p:pic>
        <p:nvPicPr>
          <p:cNvPr id="799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71">
            <a:alphaModFix amt="100000"/>
          </a:blip>
          <a:stretch/>
        </p:blipFill>
        <p:spPr>
          <a:xfrm>
            <a:off x="7711440" y="6853618"/>
            <a:ext cx="64740" cy="64740"/>
          </a:xfrm>
          <a:prstGeom prst="rect">
            <a:avLst/>
          </a:prstGeom>
        </p:spPr>
      </p:pic>
      <p:sp>
        <p:nvSpPr>
          <p:cNvPr id="801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873746" y="7372922"/>
            <a:ext cx="2738056" cy="6572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1800" spc="-36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Moins d'infrastructure physique à gérer</a:t>
            </a:r>
          </a:p>
        </p:txBody>
      </p:sp>
      <p:pic>
        <p:nvPicPr>
          <p:cNvPr id="803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73">
            <a:alphaModFix amt="100000"/>
          </a:blip>
          <a:stretch/>
        </p:blipFill>
        <p:spPr>
          <a:xfrm>
            <a:off x="7711440" y="7502747"/>
            <a:ext cx="64740" cy="64740"/>
          </a:xfrm>
          <a:prstGeom prst="rect">
            <a:avLst/>
          </a:prstGeom>
        </p:spPr>
      </p:pic>
      <p:sp>
        <p:nvSpPr>
          <p:cNvPr id="805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873746" y="8022050"/>
            <a:ext cx="2738056" cy="6572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1800" spc="-36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Intégration plus simple pour analytics</a:t>
            </a:r>
          </a:p>
        </p:txBody>
      </p:sp>
      <p:pic>
        <p:nvPicPr>
          <p:cNvPr id="807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75">
            <a:alphaModFix amt="100000"/>
          </a:blip>
          <a:stretch/>
        </p:blipFill>
        <p:spPr>
          <a:xfrm>
            <a:off x="7711440" y="8151876"/>
            <a:ext cx="64740" cy="64740"/>
          </a:xfrm>
          <a:prstGeom prst="rect">
            <a:avLst/>
          </a:prstGeom>
        </p:spPr>
      </p:pic>
      <p:pic>
        <p:nvPicPr>
          <p:cNvPr id="809" name="imageNode3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277">
            <a:alphaModFix amt="100000"/>
          </a:blip>
          <a:stretch/>
        </p:blipFill>
        <p:spPr>
          <a:xfrm>
            <a:off x="11109960" y="2552700"/>
            <a:ext cx="2867025" cy="2647950"/>
          </a:xfrm>
          <a:prstGeom prst="rect">
            <a:avLst/>
          </a:prstGeom>
        </p:spPr>
      </p:pic>
      <p:sp>
        <p:nvSpPr>
          <p:cNvPr id="811" name="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109960" y="5580983"/>
            <a:ext cx="2900362" cy="752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982"/>
              </a:lnSpc>
            </a:pPr>
            <a:r>
              <a:rPr lang="en-US" sz="2100" spc="-52" dirty="0">
                <a:solidFill>
                  <a:srgbClr val="FFFFFF">
                    <a:alpha val="100000"/>
                  </a:srgbClr>
                </a:solidFill>
                <a:latin typeface="Inter SemiBold" panose="00000700000000000000" pitchFamily="2" charset="0"/>
              </a:rPr>
              <a:t>          Risques et contraintes</a:t>
            </a:r>
          </a:p>
        </p:txBody>
      </p:sp>
      <p:pic>
        <p:nvPicPr>
          <p:cNvPr id="81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79">
            <a:alphaModFix amt="100000"/>
          </a:blip>
          <a:stretch/>
        </p:blipFill>
        <p:spPr>
          <a:xfrm>
            <a:off x="11109960" y="5580983"/>
            <a:ext cx="381000" cy="381000"/>
          </a:xfrm>
          <a:prstGeom prst="rect">
            <a:avLst/>
          </a:prstGeom>
        </p:spPr>
      </p:pic>
      <p:sp>
        <p:nvSpPr>
          <p:cNvPr id="815" name="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213782" y="5580983"/>
            <a:ext cx="204788" cy="3905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982"/>
              </a:lnSpc>
            </a:pPr>
            <a:r>
              <a:rPr lang="en-US" sz="2100" spc="-52" dirty="0">
                <a:solidFill>
                  <a:srgbClr val="FFFFFF">
                    <a:alpha val="85000"/>
                  </a:srgbClr>
                </a:solidFill>
                <a:latin typeface="Inter SemiBold" panose="00000700000000000000" pitchFamily="2" charset="0"/>
              </a:rPr>
              <a:t>4</a:t>
            </a:r>
          </a:p>
        </p:txBody>
      </p:sp>
      <p:sp>
        <p:nvSpPr>
          <p:cNvPr id="817" name="Description of a 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272266" y="6452426"/>
            <a:ext cx="2738056" cy="6572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1800" spc="-36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Migration lourde et risquée pour </a:t>
            </a:r>
            <a:r>
              <a:rPr lang="en-US" sz="1800" b="1" spc="-36" dirty="0">
                <a:solidFill>
                  <a:srgbClr val="FFFFFF"/>
                </a:solidFill>
                <a:latin typeface="Inter" panose="00000700000000000000" pitchFamily="2" charset="0"/>
              </a:rPr>
              <a:t>40 To</a:t>
            </a:r>
          </a:p>
        </p:txBody>
      </p:sp>
      <p:pic>
        <p:nvPicPr>
          <p:cNvPr id="819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81">
            <a:alphaModFix amt="100000"/>
          </a:blip>
          <a:stretch/>
        </p:blipFill>
        <p:spPr>
          <a:xfrm>
            <a:off x="11109960" y="6582251"/>
            <a:ext cx="64740" cy="64740"/>
          </a:xfrm>
          <a:prstGeom prst="rect">
            <a:avLst/>
          </a:prstGeom>
        </p:spPr>
      </p:pic>
      <p:sp>
        <p:nvSpPr>
          <p:cNvPr id="821" name="Description of a 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272266" y="7101554"/>
            <a:ext cx="2738056" cy="6572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1800" spc="-36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Risque métier: ERP/CRM doivent rester disponibles</a:t>
            </a:r>
          </a:p>
        </p:txBody>
      </p:sp>
      <p:pic>
        <p:nvPicPr>
          <p:cNvPr id="823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83">
            <a:alphaModFix amt="100000"/>
          </a:blip>
          <a:stretch/>
        </p:blipFill>
        <p:spPr>
          <a:xfrm>
            <a:off x="11109960" y="7231380"/>
            <a:ext cx="64740" cy="64740"/>
          </a:xfrm>
          <a:prstGeom prst="rect">
            <a:avLst/>
          </a:prstGeom>
        </p:spPr>
      </p:pic>
      <p:sp>
        <p:nvSpPr>
          <p:cNvPr id="825" name="Description of a 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272266" y="7750683"/>
            <a:ext cx="2738056" cy="9810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1800" spc="-36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Latence potentiellement plus élevée selon localisation</a:t>
            </a:r>
          </a:p>
        </p:txBody>
      </p:sp>
      <p:pic>
        <p:nvPicPr>
          <p:cNvPr id="827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85">
            <a:alphaModFix amt="100000"/>
          </a:blip>
          <a:stretch/>
        </p:blipFill>
        <p:spPr>
          <a:xfrm>
            <a:off x="11109960" y="7880509"/>
            <a:ext cx="64740" cy="64740"/>
          </a:xfrm>
          <a:prstGeom prst="rect">
            <a:avLst/>
          </a:prstGeom>
        </p:spPr>
      </p:pic>
      <p:sp>
        <p:nvSpPr>
          <p:cNvPr id="829" name="Description of a 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272266" y="8724328"/>
            <a:ext cx="2738056" cy="6572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1800" spc="-36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Coût cloud élevé pour bases transactionnelles</a:t>
            </a:r>
          </a:p>
        </p:txBody>
      </p:sp>
      <p:pic>
        <p:nvPicPr>
          <p:cNvPr id="831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87">
            <a:alphaModFix amt="100000"/>
          </a:blip>
          <a:stretch/>
        </p:blipFill>
        <p:spPr>
          <a:xfrm>
            <a:off x="11109960" y="8854154"/>
            <a:ext cx="64740" cy="64740"/>
          </a:xfrm>
          <a:prstGeom prst="rect">
            <a:avLst/>
          </a:prstGeom>
        </p:spPr>
      </p:pic>
      <p:pic>
        <p:nvPicPr>
          <p:cNvPr id="833" name="imageNode4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289">
            <a:alphaModFix amt="100000"/>
          </a:blip>
          <a:stretch/>
        </p:blipFill>
        <p:spPr>
          <a:xfrm>
            <a:off x="14508480" y="2552700"/>
            <a:ext cx="2867025" cy="2647950"/>
          </a:xfrm>
          <a:prstGeom prst="rect">
            <a:avLst/>
          </a:prstGeom>
        </p:spPr>
      </p:pic>
      <p:sp>
        <p:nvSpPr>
          <p:cNvPr id="835" name="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4508480" y="5581650"/>
            <a:ext cx="2900362" cy="3905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982"/>
              </a:lnSpc>
            </a:pPr>
            <a:r>
              <a:rPr lang="en-US" sz="2100" spc="-52" dirty="0">
                <a:solidFill>
                  <a:srgbClr val="FFFFFF">
                    <a:alpha val="100000"/>
                  </a:srgbClr>
                </a:solidFill>
                <a:latin typeface="Inter SemiBold" panose="00000700000000000000" pitchFamily="2" charset="0"/>
              </a:rPr>
              <a:t>          Recommandation</a:t>
            </a:r>
          </a:p>
        </p:txBody>
      </p:sp>
      <p:pic>
        <p:nvPicPr>
          <p:cNvPr id="83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91">
            <a:alphaModFix amt="100000"/>
          </a:blip>
          <a:stretch/>
        </p:blipFill>
        <p:spPr>
          <a:xfrm>
            <a:off x="14508480" y="5581650"/>
            <a:ext cx="381000" cy="381000"/>
          </a:xfrm>
          <a:prstGeom prst="rect">
            <a:avLst/>
          </a:prstGeom>
        </p:spPr>
      </p:pic>
      <p:sp>
        <p:nvSpPr>
          <p:cNvPr id="839" name="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4619446" y="5581650"/>
            <a:ext cx="185738" cy="3905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982"/>
              </a:lnSpc>
            </a:pPr>
            <a:r>
              <a:rPr lang="en-US" sz="2100" spc="-52" dirty="0">
                <a:solidFill>
                  <a:srgbClr val="FFFFFF">
                    <a:alpha val="85000"/>
                  </a:srgbClr>
                </a:solidFill>
                <a:latin typeface="Inter SemiBold" panose="00000700000000000000" pitchFamily="2" charset="0"/>
              </a:rPr>
              <a:t>5</a:t>
            </a:r>
          </a:p>
        </p:txBody>
      </p:sp>
      <p:sp>
        <p:nvSpPr>
          <p:cNvPr id="841" name="Description of a 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4670786" y="6074664"/>
            <a:ext cx="2738056" cy="9810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1800" spc="-36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Garder SQL Server on-prem pour le transactionnel</a:t>
            </a:r>
          </a:p>
        </p:txBody>
      </p:sp>
      <p:pic>
        <p:nvPicPr>
          <p:cNvPr id="843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93">
            <a:alphaModFix amt="100000"/>
          </a:blip>
          <a:stretch/>
        </p:blipFill>
        <p:spPr>
          <a:xfrm>
            <a:off x="14508480" y="6204490"/>
            <a:ext cx="64740" cy="64740"/>
          </a:xfrm>
          <a:prstGeom prst="rect">
            <a:avLst/>
          </a:prstGeom>
        </p:spPr>
      </p:pic>
      <p:sp>
        <p:nvSpPr>
          <p:cNvPr id="845" name="Description of a 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4670786" y="7048310"/>
            <a:ext cx="2738056" cy="9810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1800" spc="-36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Copier les données vers le cloud uniquement pour l’analyse</a:t>
            </a:r>
          </a:p>
        </p:txBody>
      </p:sp>
      <p:pic>
        <p:nvPicPr>
          <p:cNvPr id="847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95">
            <a:alphaModFix amt="100000"/>
          </a:blip>
          <a:stretch/>
        </p:blipFill>
        <p:spPr>
          <a:xfrm>
            <a:off x="14508480" y="7178230"/>
            <a:ext cx="64740" cy="64740"/>
          </a:xfrm>
          <a:prstGeom prst="rect">
            <a:avLst/>
          </a:prstGeom>
        </p:spPr>
      </p:pic>
      <p:sp>
        <p:nvSpPr>
          <p:cNvPr id="849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876300"/>
            <a:ext cx="12682538" cy="6953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5376"/>
              </a:lnSpc>
            </a:pPr>
            <a:r>
              <a:rPr lang="en-US" sz="4200" spc="-105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SQL Server on-prem: cœur transactionnel et stabilité</a:t>
            </a:r>
          </a:p>
        </p:txBody>
      </p:sp>
      <p:sp>
        <p:nvSpPr>
          <p:cNvPr id="851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1676400"/>
            <a:ext cx="1268253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1800" spc="-36" dirty="0">
                <a:solidFill>
                  <a:srgbClr val="F1F2F5">
                    <a:alpha val="100000"/>
                  </a:srgbClr>
                </a:solidFill>
                <a:latin typeface="Inter" panose="00000700000000000000" pitchFamily="2" charset="0"/>
              </a:rPr>
              <a:t>Conserver le cluster pour l’OLTP, copier X To vers le cloud pour l’analytique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10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99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85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01">
            <a:alphaModFix amt="100000"/>
          </a:blip>
          <a:stretch/>
        </p:blipFill>
        <p:spPr>
          <a:xfrm>
            <a:off x="14630400" y="0"/>
            <a:ext cx="3657600" cy="914400"/>
          </a:xfrm>
          <a:prstGeom prst="rect">
            <a:avLst/>
          </a:prstGeom>
        </p:spPr>
      </p:pic>
      <p:pic>
        <p:nvPicPr>
          <p:cNvPr id="85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03">
            <a:alphaModFix amt="100000"/>
          </a:blip>
          <a:stretch/>
        </p:blipFill>
        <p:spPr>
          <a:xfrm>
            <a:off x="914400" y="3676650"/>
            <a:ext cx="1371600" cy="1371600"/>
          </a:xfrm>
          <a:prstGeom prst="rect">
            <a:avLst/>
          </a:prstGeom>
        </p:spPr>
      </p:pic>
      <p:pic>
        <p:nvPicPr>
          <p:cNvPr id="859" name="iconNode0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05">
            <a:alphaModFix amt="100000"/>
          </a:blip>
          <a:stretch/>
        </p:blipFill>
        <p:spPr>
          <a:xfrm>
            <a:off x="1257300" y="4019550"/>
            <a:ext cx="685800" cy="685800"/>
          </a:xfrm>
          <a:prstGeom prst="rect">
            <a:avLst/>
          </a:prstGeom>
        </p:spPr>
      </p:pic>
      <p:sp>
        <p:nvSpPr>
          <p:cNvPr id="861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5429250"/>
            <a:ext cx="3748088" cy="7715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982"/>
              </a:lnSpc>
            </a:pPr>
            <a:r>
              <a:rPr lang="en-US" sz="2100" spc="-52" dirty="0">
                <a:solidFill>
                  <a:srgbClr val="FFFFFF">
                    <a:alpha val="100000"/>
                  </a:srgbClr>
                </a:solidFill>
                <a:latin typeface="Inter SemiBold" panose="00000700000000000000" pitchFamily="2" charset="0"/>
              </a:rPr>
              <a:t>          Source d’identité unique: Active Directory</a:t>
            </a:r>
          </a:p>
        </p:txBody>
      </p:sp>
      <p:pic>
        <p:nvPicPr>
          <p:cNvPr id="86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07">
            <a:alphaModFix amt="100000"/>
          </a:blip>
          <a:stretch/>
        </p:blipFill>
        <p:spPr>
          <a:xfrm>
            <a:off x="914400" y="5429250"/>
            <a:ext cx="381000" cy="381000"/>
          </a:xfrm>
          <a:prstGeom prst="rect">
            <a:avLst/>
          </a:prstGeom>
        </p:spPr>
      </p:pic>
      <p:sp>
        <p:nvSpPr>
          <p:cNvPr id="865" name="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50703" y="5429250"/>
            <a:ext cx="138112" cy="3905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982"/>
              </a:lnSpc>
            </a:pPr>
            <a:r>
              <a:rPr lang="en-US" sz="2100" spc="-52" dirty="0">
                <a:solidFill>
                  <a:srgbClr val="FFFFFF">
                    <a:alpha val="85000"/>
                  </a:srgbClr>
                </a:solidFill>
                <a:latin typeface="Inter SemiBold" panose="00000700000000000000" pitchFamily="2" charset="0"/>
              </a:rPr>
              <a:t>1</a:t>
            </a:r>
          </a:p>
        </p:txBody>
      </p:sp>
      <p:sp>
        <p:nvSpPr>
          <p:cNvPr id="867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76706" y="6300978"/>
            <a:ext cx="3585782" cy="6572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1800" spc="-36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AD on‑prem reste l’autorité centrale</a:t>
            </a:r>
          </a:p>
        </p:txBody>
      </p:sp>
      <p:pic>
        <p:nvPicPr>
          <p:cNvPr id="869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09">
            <a:alphaModFix amt="100000"/>
          </a:blip>
          <a:stretch/>
        </p:blipFill>
        <p:spPr>
          <a:xfrm>
            <a:off x="914400" y="6430804"/>
            <a:ext cx="64740" cy="64740"/>
          </a:xfrm>
          <a:prstGeom prst="rect">
            <a:avLst/>
          </a:prstGeom>
        </p:spPr>
      </p:pic>
      <p:sp>
        <p:nvSpPr>
          <p:cNvPr id="871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76706" y="6950107"/>
            <a:ext cx="3585782" cy="6572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1800" spc="-36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Les comptes et mots de passe sont inchangés</a:t>
            </a:r>
          </a:p>
        </p:txBody>
      </p:sp>
      <p:pic>
        <p:nvPicPr>
          <p:cNvPr id="873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11">
            <a:alphaModFix amt="100000"/>
          </a:blip>
          <a:stretch/>
        </p:blipFill>
        <p:spPr>
          <a:xfrm>
            <a:off x="914400" y="7079932"/>
            <a:ext cx="64740" cy="64740"/>
          </a:xfrm>
          <a:prstGeom prst="rect">
            <a:avLst/>
          </a:prstGeom>
        </p:spPr>
      </p:pic>
      <p:sp>
        <p:nvSpPr>
          <p:cNvPr id="875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76706" y="7599236"/>
            <a:ext cx="3585782" cy="6572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1800" spc="-36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Désactivation dans AD coupe l’accès cloud</a:t>
            </a:r>
          </a:p>
        </p:txBody>
      </p:sp>
      <p:pic>
        <p:nvPicPr>
          <p:cNvPr id="877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13">
            <a:alphaModFix amt="100000"/>
          </a:blip>
          <a:stretch/>
        </p:blipFill>
        <p:spPr>
          <a:xfrm>
            <a:off x="914400" y="7729061"/>
            <a:ext cx="64740" cy="64740"/>
          </a:xfrm>
          <a:prstGeom prst="rect">
            <a:avLst/>
          </a:prstGeom>
        </p:spPr>
      </p:pic>
      <p:sp>
        <p:nvSpPr>
          <p:cNvPr id="879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76706" y="8248364"/>
            <a:ext cx="3585782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1800" spc="-36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Évite la duplication d’identités</a:t>
            </a:r>
          </a:p>
        </p:txBody>
      </p:sp>
      <p:pic>
        <p:nvPicPr>
          <p:cNvPr id="881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15">
            <a:alphaModFix amt="100000"/>
          </a:blip>
          <a:stretch/>
        </p:blipFill>
        <p:spPr>
          <a:xfrm>
            <a:off x="914400" y="8378190"/>
            <a:ext cx="64740" cy="64740"/>
          </a:xfrm>
          <a:prstGeom prst="rect">
            <a:avLst/>
          </a:prstGeom>
        </p:spPr>
      </p:pic>
      <p:pic>
        <p:nvPicPr>
          <p:cNvPr id="88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17">
            <a:alphaModFix amt="100000"/>
          </a:blip>
          <a:stretch/>
        </p:blipFill>
        <p:spPr>
          <a:xfrm>
            <a:off x="5162550" y="3676650"/>
            <a:ext cx="1371600" cy="1371600"/>
          </a:xfrm>
          <a:prstGeom prst="rect">
            <a:avLst/>
          </a:prstGeom>
        </p:spPr>
      </p:pic>
      <p:pic>
        <p:nvPicPr>
          <p:cNvPr id="885" name="iconNode1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19">
            <a:alphaModFix amt="100000"/>
          </a:blip>
          <a:stretch/>
        </p:blipFill>
        <p:spPr>
          <a:xfrm>
            <a:off x="5505450" y="4019550"/>
            <a:ext cx="685800" cy="685800"/>
          </a:xfrm>
          <a:prstGeom prst="rect">
            <a:avLst/>
          </a:prstGeom>
        </p:spPr>
      </p:pic>
      <p:sp>
        <p:nvSpPr>
          <p:cNvPr id="887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5162550" y="5429250"/>
            <a:ext cx="3748088" cy="7715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982"/>
              </a:lnSpc>
            </a:pPr>
            <a:r>
              <a:rPr lang="en-US" sz="2100" spc="-52" dirty="0">
                <a:solidFill>
                  <a:srgbClr val="FFFFFF">
                    <a:alpha val="100000"/>
                  </a:srgbClr>
                </a:solidFill>
                <a:latin typeface="Inter SemiBold" panose="00000700000000000000" pitchFamily="2" charset="0"/>
              </a:rPr>
              <a:t>          Extension cloud: AWS Directory Service</a:t>
            </a:r>
          </a:p>
        </p:txBody>
      </p:sp>
      <p:pic>
        <p:nvPicPr>
          <p:cNvPr id="88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21">
            <a:alphaModFix amt="100000"/>
          </a:blip>
          <a:stretch/>
        </p:blipFill>
        <p:spPr>
          <a:xfrm>
            <a:off x="5162550" y="5429250"/>
            <a:ext cx="381000" cy="381000"/>
          </a:xfrm>
          <a:prstGeom prst="rect">
            <a:avLst/>
          </a:prstGeom>
        </p:spPr>
      </p:pic>
      <p:sp>
        <p:nvSpPr>
          <p:cNvPr id="891" name="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5272088" y="5429250"/>
            <a:ext cx="195262" cy="3905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982"/>
              </a:lnSpc>
            </a:pPr>
            <a:r>
              <a:rPr lang="en-US" sz="2100" spc="-52" dirty="0">
                <a:solidFill>
                  <a:srgbClr val="FFFFFF">
                    <a:alpha val="85000"/>
                  </a:srgbClr>
                </a:solidFill>
                <a:latin typeface="Inter SemiBold" panose="00000700000000000000" pitchFamily="2" charset="0"/>
              </a:rPr>
              <a:t>2</a:t>
            </a:r>
          </a:p>
        </p:txBody>
      </p:sp>
      <p:sp>
        <p:nvSpPr>
          <p:cNvPr id="893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5324856" y="6300978"/>
            <a:ext cx="3585782" cy="6572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1800" spc="-36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AWS Managed Microsoft AD managé dans AWS</a:t>
            </a:r>
          </a:p>
        </p:txBody>
      </p:sp>
      <p:pic>
        <p:nvPicPr>
          <p:cNvPr id="895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23">
            <a:alphaModFix amt="100000"/>
          </a:blip>
          <a:stretch/>
        </p:blipFill>
        <p:spPr>
          <a:xfrm>
            <a:off x="5162550" y="6430804"/>
            <a:ext cx="64740" cy="64740"/>
          </a:xfrm>
          <a:prstGeom prst="rect">
            <a:avLst/>
          </a:prstGeom>
        </p:spPr>
      </p:pic>
      <p:sp>
        <p:nvSpPr>
          <p:cNvPr id="897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5324856" y="6950107"/>
            <a:ext cx="3585782" cy="6572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1800" spc="-36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Réplique via VPN ou AWS Direct Connect</a:t>
            </a:r>
          </a:p>
        </p:txBody>
      </p:sp>
      <p:pic>
        <p:nvPicPr>
          <p:cNvPr id="899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25">
            <a:alphaModFix amt="100000"/>
          </a:blip>
          <a:stretch/>
        </p:blipFill>
        <p:spPr>
          <a:xfrm>
            <a:off x="5162550" y="7079932"/>
            <a:ext cx="64740" cy="64740"/>
          </a:xfrm>
          <a:prstGeom prst="rect">
            <a:avLst/>
          </a:prstGeom>
        </p:spPr>
      </p:pic>
      <p:sp>
        <p:nvSpPr>
          <p:cNvPr id="901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5324856" y="7599236"/>
            <a:ext cx="3585782" cy="6572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1800" spc="-36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Synchronisation sécurisée des utilisateurs et groupes</a:t>
            </a:r>
          </a:p>
        </p:txBody>
      </p:sp>
      <p:pic>
        <p:nvPicPr>
          <p:cNvPr id="903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27">
            <a:alphaModFix amt="100000"/>
          </a:blip>
          <a:stretch/>
        </p:blipFill>
        <p:spPr>
          <a:xfrm>
            <a:off x="5162550" y="7729061"/>
            <a:ext cx="64740" cy="64740"/>
          </a:xfrm>
          <a:prstGeom prst="rect">
            <a:avLst/>
          </a:prstGeom>
        </p:spPr>
      </p:pic>
      <p:sp>
        <p:nvSpPr>
          <p:cNvPr id="905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5324856" y="8248364"/>
            <a:ext cx="3585782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1800" spc="-36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Utilisateurs AD visibles dans AWS</a:t>
            </a:r>
          </a:p>
        </p:txBody>
      </p:sp>
      <p:pic>
        <p:nvPicPr>
          <p:cNvPr id="907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29">
            <a:alphaModFix amt="100000"/>
          </a:blip>
          <a:stretch/>
        </p:blipFill>
        <p:spPr>
          <a:xfrm>
            <a:off x="5162550" y="8378190"/>
            <a:ext cx="64740" cy="64740"/>
          </a:xfrm>
          <a:prstGeom prst="rect">
            <a:avLst/>
          </a:prstGeom>
        </p:spPr>
      </p:pic>
      <p:pic>
        <p:nvPicPr>
          <p:cNvPr id="90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31">
            <a:alphaModFix amt="100000"/>
          </a:blip>
          <a:stretch/>
        </p:blipFill>
        <p:spPr>
          <a:xfrm>
            <a:off x="9410700" y="3676650"/>
            <a:ext cx="1371600" cy="1371600"/>
          </a:xfrm>
          <a:prstGeom prst="rect">
            <a:avLst/>
          </a:prstGeom>
        </p:spPr>
      </p:pic>
      <p:pic>
        <p:nvPicPr>
          <p:cNvPr id="911" name="iconNode2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33">
            <a:alphaModFix amt="100000"/>
          </a:blip>
          <a:stretch/>
        </p:blipFill>
        <p:spPr>
          <a:xfrm>
            <a:off x="9753600" y="4019550"/>
            <a:ext cx="685800" cy="685800"/>
          </a:xfrm>
          <a:prstGeom prst="rect">
            <a:avLst/>
          </a:prstGeom>
        </p:spPr>
      </p:pic>
      <p:sp>
        <p:nvSpPr>
          <p:cNvPr id="913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410700" y="5429250"/>
            <a:ext cx="3748088" cy="7715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982"/>
              </a:lnSpc>
            </a:pPr>
            <a:r>
              <a:rPr lang="en-US" sz="2100" spc="-52" dirty="0">
                <a:solidFill>
                  <a:srgbClr val="FFFFFF">
                    <a:alpha val="100000"/>
                  </a:srgbClr>
                </a:solidFill>
                <a:latin typeface="Inter SemiBold" panose="00000700000000000000" pitchFamily="2" charset="0"/>
              </a:rPr>
              <a:t>          Gestion des accès: IAM Identity Center</a:t>
            </a:r>
          </a:p>
        </p:txBody>
      </p:sp>
      <p:pic>
        <p:nvPicPr>
          <p:cNvPr id="91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35">
            <a:alphaModFix amt="100000"/>
          </a:blip>
          <a:stretch/>
        </p:blipFill>
        <p:spPr>
          <a:xfrm>
            <a:off x="9410700" y="5429250"/>
            <a:ext cx="381000" cy="381000"/>
          </a:xfrm>
          <a:prstGeom prst="rect">
            <a:avLst/>
          </a:prstGeom>
        </p:spPr>
      </p:pic>
      <p:sp>
        <p:nvSpPr>
          <p:cNvPr id="917" name="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518523" y="5429250"/>
            <a:ext cx="195262" cy="3905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982"/>
              </a:lnSpc>
            </a:pPr>
            <a:r>
              <a:rPr lang="en-US" sz="2100" spc="-52" dirty="0">
                <a:solidFill>
                  <a:srgbClr val="FFFFFF">
                    <a:alpha val="85000"/>
                  </a:srgbClr>
                </a:solidFill>
                <a:latin typeface="Inter SemiBold" panose="00000700000000000000" pitchFamily="2" charset="0"/>
              </a:rPr>
              <a:t>3</a:t>
            </a:r>
          </a:p>
        </p:txBody>
      </p:sp>
      <p:sp>
        <p:nvSpPr>
          <p:cNvPr id="919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573006" y="6300978"/>
            <a:ext cx="3585782" cy="6572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1800" spc="-36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Utilise comptes AD existants pour connexion</a:t>
            </a:r>
          </a:p>
        </p:txBody>
      </p:sp>
      <p:pic>
        <p:nvPicPr>
          <p:cNvPr id="921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37">
            <a:alphaModFix amt="100000"/>
          </a:blip>
          <a:stretch/>
        </p:blipFill>
        <p:spPr>
          <a:xfrm>
            <a:off x="9410700" y="6430804"/>
            <a:ext cx="64740" cy="64740"/>
          </a:xfrm>
          <a:prstGeom prst="rect">
            <a:avLst/>
          </a:prstGeom>
        </p:spPr>
      </p:pic>
      <p:sp>
        <p:nvSpPr>
          <p:cNvPr id="923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573006" y="6950107"/>
            <a:ext cx="3585782" cy="6572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1800" spc="-36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Attribution de permissions par groupe AD</a:t>
            </a:r>
          </a:p>
        </p:txBody>
      </p:sp>
      <p:pic>
        <p:nvPicPr>
          <p:cNvPr id="925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39">
            <a:alphaModFix amt="100000"/>
          </a:blip>
          <a:stretch/>
        </p:blipFill>
        <p:spPr>
          <a:xfrm>
            <a:off x="9410700" y="7079932"/>
            <a:ext cx="64740" cy="64740"/>
          </a:xfrm>
          <a:prstGeom prst="rect">
            <a:avLst/>
          </a:prstGeom>
        </p:spPr>
      </p:pic>
      <p:sp>
        <p:nvSpPr>
          <p:cNvPr id="927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573006" y="7599236"/>
            <a:ext cx="3585782" cy="6572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1800" spc="-36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Exemples: Finance Redshift read, IT S3 full, BI Redshift analyst</a:t>
            </a:r>
          </a:p>
        </p:txBody>
      </p:sp>
      <p:pic>
        <p:nvPicPr>
          <p:cNvPr id="929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41">
            <a:alphaModFix amt="100000"/>
          </a:blip>
          <a:stretch/>
        </p:blipFill>
        <p:spPr>
          <a:xfrm>
            <a:off x="9410700" y="7729061"/>
            <a:ext cx="64740" cy="64740"/>
          </a:xfrm>
          <a:prstGeom prst="rect">
            <a:avLst/>
          </a:prstGeom>
        </p:spPr>
      </p:pic>
      <p:sp>
        <p:nvSpPr>
          <p:cNvPr id="931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573006" y="8248364"/>
            <a:ext cx="3585782" cy="6572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1800" spc="-36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Logs centralisés et audit via CloudTrail</a:t>
            </a:r>
          </a:p>
        </p:txBody>
      </p:sp>
      <p:pic>
        <p:nvPicPr>
          <p:cNvPr id="933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43">
            <a:alphaModFix amt="100000"/>
          </a:blip>
          <a:stretch/>
        </p:blipFill>
        <p:spPr>
          <a:xfrm>
            <a:off x="9410700" y="8378190"/>
            <a:ext cx="64740" cy="64740"/>
          </a:xfrm>
          <a:prstGeom prst="rect">
            <a:avLst/>
          </a:prstGeom>
        </p:spPr>
      </p:pic>
      <p:pic>
        <p:nvPicPr>
          <p:cNvPr id="93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45">
            <a:alphaModFix amt="100000"/>
          </a:blip>
          <a:stretch/>
        </p:blipFill>
        <p:spPr>
          <a:xfrm>
            <a:off x="13658850" y="3676650"/>
            <a:ext cx="1371600" cy="1371600"/>
          </a:xfrm>
          <a:prstGeom prst="rect">
            <a:avLst/>
          </a:prstGeom>
        </p:spPr>
      </p:pic>
      <p:pic>
        <p:nvPicPr>
          <p:cNvPr id="937" name="iconNode3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47">
            <a:alphaModFix amt="100000"/>
          </a:blip>
          <a:stretch/>
        </p:blipFill>
        <p:spPr>
          <a:xfrm>
            <a:off x="14001750" y="4019550"/>
            <a:ext cx="685800" cy="685800"/>
          </a:xfrm>
          <a:prstGeom prst="rect">
            <a:avLst/>
          </a:prstGeom>
        </p:spPr>
      </p:pic>
      <p:sp>
        <p:nvSpPr>
          <p:cNvPr id="939" name="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3658850" y="5429250"/>
            <a:ext cx="3748088" cy="7715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982"/>
              </a:lnSpc>
            </a:pPr>
            <a:r>
              <a:rPr lang="en-US" sz="2100" spc="-52" dirty="0">
                <a:solidFill>
                  <a:srgbClr val="FFFFFF">
                    <a:alpha val="100000"/>
                  </a:srgbClr>
                </a:solidFill>
                <a:latin typeface="Inter SemiBold" panose="00000700000000000000" pitchFamily="2" charset="0"/>
              </a:rPr>
              <a:t>          Sécurité et bonnes pratiques</a:t>
            </a:r>
          </a:p>
        </p:txBody>
      </p:sp>
      <p:pic>
        <p:nvPicPr>
          <p:cNvPr id="94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49">
            <a:alphaModFix amt="100000"/>
          </a:blip>
          <a:stretch/>
        </p:blipFill>
        <p:spPr>
          <a:xfrm>
            <a:off x="13658850" y="5429250"/>
            <a:ext cx="381000" cy="381000"/>
          </a:xfrm>
          <a:prstGeom prst="rect">
            <a:avLst/>
          </a:prstGeom>
        </p:spPr>
      </p:pic>
      <p:sp>
        <p:nvSpPr>
          <p:cNvPr id="943" name="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3762672" y="5429250"/>
            <a:ext cx="204788" cy="3905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982"/>
              </a:lnSpc>
            </a:pPr>
            <a:r>
              <a:rPr lang="en-US" sz="2100" spc="-52" dirty="0">
                <a:solidFill>
                  <a:srgbClr val="FFFFFF">
                    <a:alpha val="85000"/>
                  </a:srgbClr>
                </a:solidFill>
                <a:latin typeface="Inter SemiBold" panose="00000700000000000000" pitchFamily="2" charset="0"/>
              </a:rPr>
              <a:t>4</a:t>
            </a:r>
          </a:p>
        </p:txBody>
      </p:sp>
      <p:sp>
        <p:nvSpPr>
          <p:cNvPr id="945" name="Description of a 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3821156" y="6300978"/>
            <a:ext cx="3585782" cy="6572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1800" spc="-36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MFA et rotation automatique des clés disponibles</a:t>
            </a:r>
          </a:p>
        </p:txBody>
      </p:sp>
      <p:pic>
        <p:nvPicPr>
          <p:cNvPr id="947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51">
            <a:alphaModFix amt="100000"/>
          </a:blip>
          <a:stretch/>
        </p:blipFill>
        <p:spPr>
          <a:xfrm>
            <a:off x="13658850" y="6430804"/>
            <a:ext cx="64740" cy="64740"/>
          </a:xfrm>
          <a:prstGeom prst="rect">
            <a:avLst/>
          </a:prstGeom>
        </p:spPr>
      </p:pic>
      <p:sp>
        <p:nvSpPr>
          <p:cNvPr id="949" name="Description of a 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3821156" y="6950107"/>
            <a:ext cx="3585782" cy="6572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1800" spc="-36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Permissions basées sur groupes, pas utilisateur par utilisateur</a:t>
            </a:r>
          </a:p>
        </p:txBody>
      </p:sp>
      <p:pic>
        <p:nvPicPr>
          <p:cNvPr id="951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53">
            <a:alphaModFix amt="100000"/>
          </a:blip>
          <a:stretch/>
        </p:blipFill>
        <p:spPr>
          <a:xfrm>
            <a:off x="13658850" y="7079932"/>
            <a:ext cx="64740" cy="64740"/>
          </a:xfrm>
          <a:prstGeom prst="rect">
            <a:avLst/>
          </a:prstGeom>
        </p:spPr>
      </p:pic>
      <p:sp>
        <p:nvSpPr>
          <p:cNvPr id="953" name="Description of a 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3821156" y="7599236"/>
            <a:ext cx="3585782" cy="6572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1800" spc="-36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Administration centralisée depuis AD</a:t>
            </a:r>
          </a:p>
        </p:txBody>
      </p:sp>
      <p:pic>
        <p:nvPicPr>
          <p:cNvPr id="955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55">
            <a:alphaModFix amt="100000"/>
          </a:blip>
          <a:stretch/>
        </p:blipFill>
        <p:spPr>
          <a:xfrm>
            <a:off x="13658850" y="7729061"/>
            <a:ext cx="64740" cy="64740"/>
          </a:xfrm>
          <a:prstGeom prst="rect">
            <a:avLst/>
          </a:prstGeom>
        </p:spPr>
      </p:pic>
      <p:sp>
        <p:nvSpPr>
          <p:cNvPr id="957" name="Description of a 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3821156" y="8248364"/>
            <a:ext cx="3585782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1800" spc="-36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Conformité et audits facilités</a:t>
            </a:r>
          </a:p>
        </p:txBody>
      </p:sp>
      <p:pic>
        <p:nvPicPr>
          <p:cNvPr id="959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57">
            <a:alphaModFix amt="100000"/>
          </a:blip>
          <a:stretch/>
        </p:blipFill>
        <p:spPr>
          <a:xfrm>
            <a:off x="13658850" y="8378190"/>
            <a:ext cx="64740" cy="64740"/>
          </a:xfrm>
          <a:prstGeom prst="rect">
            <a:avLst/>
          </a:prstGeom>
        </p:spPr>
      </p:pic>
      <p:sp>
        <p:nvSpPr>
          <p:cNvPr id="961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886968"/>
            <a:ext cx="12682538" cy="13620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5376"/>
              </a:lnSpc>
            </a:pPr>
            <a:r>
              <a:rPr lang="en-US" sz="4200" spc="-105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Active Directory unique source and clean AWS integration</a:t>
            </a:r>
          </a:p>
        </p:txBody>
      </p:sp>
      <p:sp>
        <p:nvSpPr>
          <p:cNvPr id="963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2362200"/>
            <a:ext cx="1268253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1800" spc="-36" dirty="0">
                <a:solidFill>
                  <a:srgbClr val="F1F2F5">
                    <a:alpha val="100000"/>
                  </a:srgbClr>
                </a:solidFill>
                <a:latin typeface="Inter" panose="00000700000000000000" pitchFamily="2" charset="0"/>
              </a:rPr>
              <a:t>Étendre AD on‑prem vers AWS pour gérer identités et accès centralisés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11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61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96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63">
            <a:alphaModFix amt="100000"/>
          </a:blip>
          <a:stretch/>
        </p:blipFill>
        <p:spPr>
          <a:xfrm>
            <a:off x="14630400" y="0"/>
            <a:ext cx="3657600" cy="914400"/>
          </a:xfrm>
          <a:prstGeom prst="rect">
            <a:avLst/>
          </a:prstGeom>
        </p:spPr>
      </p:pic>
      <p:pic>
        <p:nvPicPr>
          <p:cNvPr id="96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65">
            <a:alphaModFix amt="100000"/>
          </a:blip>
          <a:stretch/>
        </p:blipFill>
        <p:spPr>
          <a:xfrm>
            <a:off x="914400" y="2552700"/>
            <a:ext cx="5486400" cy="6819900"/>
          </a:xfrm>
          <a:prstGeom prst="rect">
            <a:avLst/>
          </a:prstGeom>
        </p:spPr>
      </p:pic>
      <p:pic>
        <p:nvPicPr>
          <p:cNvPr id="971" name="iconNode0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67">
            <a:alphaModFix amt="100000"/>
          </a:blip>
          <a:stretch/>
        </p:blipFill>
        <p:spPr>
          <a:xfrm>
            <a:off x="1562100" y="4126897"/>
            <a:ext cx="1097280" cy="1097280"/>
          </a:xfrm>
          <a:prstGeom prst="rect">
            <a:avLst/>
          </a:prstGeom>
        </p:spPr>
      </p:pic>
      <p:sp>
        <p:nvSpPr>
          <p:cNvPr id="973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562100" y="5605272"/>
            <a:ext cx="4224338" cy="4667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591"/>
              </a:lnSpc>
            </a:pPr>
            <a:r>
              <a:rPr lang="en-US" sz="2700" spc="-68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Préparer L'environnement</a:t>
            </a:r>
          </a:p>
        </p:txBody>
      </p:sp>
      <p:sp>
        <p:nvSpPr>
          <p:cNvPr id="975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724406" y="6175534"/>
            <a:ext cx="4062032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1800" spc="-36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Installer Docker Depuis Le Site Officiel</a:t>
            </a:r>
          </a:p>
        </p:txBody>
      </p:sp>
      <p:pic>
        <p:nvPicPr>
          <p:cNvPr id="977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69">
            <a:alphaModFix amt="100000"/>
          </a:blip>
          <a:stretch/>
        </p:blipFill>
        <p:spPr>
          <a:xfrm>
            <a:off x="1562100" y="6305360"/>
            <a:ext cx="64740" cy="64740"/>
          </a:xfrm>
          <a:prstGeom prst="rect">
            <a:avLst/>
          </a:prstGeom>
        </p:spPr>
      </p:pic>
      <p:sp>
        <p:nvSpPr>
          <p:cNvPr id="979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724406" y="6500146"/>
            <a:ext cx="4062032" cy="6572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1800" spc="-36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Télécharger Docker-compose.yml Depuis Redpanda Quickstart</a:t>
            </a:r>
          </a:p>
        </p:txBody>
      </p:sp>
      <p:pic>
        <p:nvPicPr>
          <p:cNvPr id="981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71">
            <a:alphaModFix amt="100000"/>
          </a:blip>
          <a:stretch/>
        </p:blipFill>
        <p:spPr>
          <a:xfrm>
            <a:off x="1562100" y="6629972"/>
            <a:ext cx="64740" cy="64740"/>
          </a:xfrm>
          <a:prstGeom prst="rect">
            <a:avLst/>
          </a:prstGeom>
        </p:spPr>
      </p:pic>
      <p:sp>
        <p:nvSpPr>
          <p:cNvPr id="983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724406" y="7149274"/>
            <a:ext cx="4062032" cy="6572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1800" spc="-36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Choisir Single Broker Pour Une Mise En Route Simple</a:t>
            </a:r>
          </a:p>
        </p:txBody>
      </p:sp>
      <p:pic>
        <p:nvPicPr>
          <p:cNvPr id="985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73">
            <a:alphaModFix amt="100000"/>
          </a:blip>
          <a:stretch/>
        </p:blipFill>
        <p:spPr>
          <a:xfrm>
            <a:off x="1562100" y="7279100"/>
            <a:ext cx="64740" cy="64740"/>
          </a:xfrm>
          <a:prstGeom prst="rect">
            <a:avLst/>
          </a:prstGeom>
        </p:spPr>
      </p:pic>
      <p:pic>
        <p:nvPicPr>
          <p:cNvPr id="98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75">
            <a:alphaModFix amt="100000"/>
          </a:blip>
          <a:stretch/>
        </p:blipFill>
        <p:spPr>
          <a:xfrm>
            <a:off x="6400800" y="2552700"/>
            <a:ext cx="5486400" cy="6819900"/>
          </a:xfrm>
          <a:prstGeom prst="rect">
            <a:avLst/>
          </a:prstGeom>
        </p:spPr>
      </p:pic>
      <p:pic>
        <p:nvPicPr>
          <p:cNvPr id="989" name="iconNode1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77">
            <a:alphaModFix amt="100000"/>
          </a:blip>
          <a:stretch/>
        </p:blipFill>
        <p:spPr>
          <a:xfrm>
            <a:off x="7048500" y="3964591"/>
            <a:ext cx="1097280" cy="1097280"/>
          </a:xfrm>
          <a:prstGeom prst="rect">
            <a:avLst/>
          </a:prstGeom>
        </p:spPr>
      </p:pic>
      <p:sp>
        <p:nvSpPr>
          <p:cNvPr id="991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048500" y="5442871"/>
            <a:ext cx="4224338" cy="4667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591"/>
              </a:lnSpc>
            </a:pPr>
            <a:r>
              <a:rPr lang="en-US" sz="2700" spc="-68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Démarrer Le Cluster</a:t>
            </a:r>
          </a:p>
        </p:txBody>
      </p:sp>
      <p:sp>
        <p:nvSpPr>
          <p:cNvPr id="993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210806" y="6013228"/>
            <a:ext cx="4062032" cy="6572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1800" spc="-36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Placer Docker-compose.yml Dans Un Répertoire</a:t>
            </a:r>
          </a:p>
        </p:txBody>
      </p:sp>
      <p:pic>
        <p:nvPicPr>
          <p:cNvPr id="995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79">
            <a:alphaModFix amt="100000"/>
          </a:blip>
          <a:stretch/>
        </p:blipFill>
        <p:spPr>
          <a:xfrm>
            <a:off x="7048500" y="6143054"/>
            <a:ext cx="64740" cy="64740"/>
          </a:xfrm>
          <a:prstGeom prst="rect">
            <a:avLst/>
          </a:prstGeom>
        </p:spPr>
      </p:pic>
      <p:sp>
        <p:nvSpPr>
          <p:cNvPr id="997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210806" y="6662356"/>
            <a:ext cx="4062032" cy="6572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1800" spc="-36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Exécuter La Commande: Docker-compose Up</a:t>
            </a:r>
          </a:p>
        </p:txBody>
      </p:sp>
      <p:pic>
        <p:nvPicPr>
          <p:cNvPr id="999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81">
            <a:alphaModFix amt="100000"/>
          </a:blip>
          <a:stretch/>
        </p:blipFill>
        <p:spPr>
          <a:xfrm>
            <a:off x="7048500" y="6792182"/>
            <a:ext cx="64740" cy="64740"/>
          </a:xfrm>
          <a:prstGeom prst="rect">
            <a:avLst/>
          </a:prstGeom>
        </p:spPr>
      </p:pic>
      <p:sp>
        <p:nvSpPr>
          <p:cNvPr id="1001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210806" y="7311485"/>
            <a:ext cx="4062032" cy="6572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1800" spc="-36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Téléchargement Automatique De L'image Redpanda</a:t>
            </a:r>
          </a:p>
        </p:txBody>
      </p:sp>
      <p:pic>
        <p:nvPicPr>
          <p:cNvPr id="1003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83">
            <a:alphaModFix amt="100000"/>
          </a:blip>
          <a:stretch/>
        </p:blipFill>
        <p:spPr>
          <a:xfrm>
            <a:off x="7048500" y="7441311"/>
            <a:ext cx="64740" cy="64740"/>
          </a:xfrm>
          <a:prstGeom prst="rect">
            <a:avLst/>
          </a:prstGeom>
        </p:spPr>
      </p:pic>
      <p:pic>
        <p:nvPicPr>
          <p:cNvPr id="100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85">
            <a:alphaModFix amt="100000"/>
          </a:blip>
          <a:stretch/>
        </p:blipFill>
        <p:spPr>
          <a:xfrm>
            <a:off x="11887200" y="2552700"/>
            <a:ext cx="5486400" cy="6819900"/>
          </a:xfrm>
          <a:prstGeom prst="rect">
            <a:avLst/>
          </a:prstGeom>
        </p:spPr>
      </p:pic>
      <p:pic>
        <p:nvPicPr>
          <p:cNvPr id="1007" name="iconNode2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87">
            <a:alphaModFix amt="100000"/>
          </a:blip>
          <a:stretch/>
        </p:blipFill>
        <p:spPr>
          <a:xfrm>
            <a:off x="12534900" y="3964591"/>
            <a:ext cx="1097280" cy="1097280"/>
          </a:xfrm>
          <a:prstGeom prst="rect">
            <a:avLst/>
          </a:prstGeom>
        </p:spPr>
      </p:pic>
      <p:sp>
        <p:nvSpPr>
          <p:cNvPr id="1009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534900" y="5442871"/>
            <a:ext cx="4224338" cy="4667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591"/>
              </a:lnSpc>
            </a:pPr>
            <a:r>
              <a:rPr lang="en-US" sz="2700" spc="-68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Vérifier Et Administrer</a:t>
            </a:r>
          </a:p>
        </p:txBody>
      </p:sp>
      <p:sp>
        <p:nvSpPr>
          <p:cNvPr id="1011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697206" y="6013228"/>
            <a:ext cx="4062032" cy="6572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1800" spc="-36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Ouvrir Redpanda Console À Localhost:8080</a:t>
            </a:r>
          </a:p>
        </p:txBody>
      </p:sp>
      <p:pic>
        <p:nvPicPr>
          <p:cNvPr id="1013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89">
            <a:alphaModFix amt="100000"/>
          </a:blip>
          <a:stretch/>
        </p:blipFill>
        <p:spPr>
          <a:xfrm>
            <a:off x="12534900" y="6143054"/>
            <a:ext cx="64740" cy="64740"/>
          </a:xfrm>
          <a:prstGeom prst="rect">
            <a:avLst/>
          </a:prstGeom>
        </p:spPr>
      </p:pic>
      <p:sp>
        <p:nvSpPr>
          <p:cNvPr id="1015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697206" y="6662356"/>
            <a:ext cx="4062032" cy="6572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1800" spc="-36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Consulter Topics, Consommateurs Et Partitions</a:t>
            </a:r>
          </a:p>
        </p:txBody>
      </p:sp>
      <p:pic>
        <p:nvPicPr>
          <p:cNvPr id="1017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91">
            <a:alphaModFix amt="100000"/>
          </a:blip>
          <a:stretch/>
        </p:blipFill>
        <p:spPr>
          <a:xfrm>
            <a:off x="12534900" y="6792182"/>
            <a:ext cx="64740" cy="64740"/>
          </a:xfrm>
          <a:prstGeom prst="rect">
            <a:avLst/>
          </a:prstGeom>
        </p:spPr>
      </p:pic>
      <p:sp>
        <p:nvSpPr>
          <p:cNvPr id="1019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697206" y="7311485"/>
            <a:ext cx="4062032" cy="6572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1800" spc="-36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Utiliser Console Pour Dépannage Et Optimisation</a:t>
            </a:r>
          </a:p>
        </p:txBody>
      </p:sp>
      <p:pic>
        <p:nvPicPr>
          <p:cNvPr id="1021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93">
            <a:alphaModFix amt="100000"/>
          </a:blip>
          <a:stretch/>
        </p:blipFill>
        <p:spPr>
          <a:xfrm>
            <a:off x="12534900" y="7441311"/>
            <a:ext cx="64740" cy="64740"/>
          </a:xfrm>
          <a:prstGeom prst="rect">
            <a:avLst/>
          </a:prstGeom>
        </p:spPr>
      </p:pic>
      <p:sp>
        <p:nvSpPr>
          <p:cNvPr id="1023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876300"/>
            <a:ext cx="12682538" cy="6953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5376"/>
              </a:lnSpc>
            </a:pPr>
            <a:r>
              <a:rPr lang="en-US" sz="4200" spc="-105" dirty="0">
                <a:solidFill>
                  <a:srgbClr val="452E5A">
                    <a:alpha val="100000"/>
                  </a:srgbClr>
                </a:solidFill>
                <a:latin typeface="Inter" panose="00000700000000000000" pitchFamily="2" charset="0"/>
              </a:rPr>
              <a:t>Installer Redpanda en local et valider le cluster</a:t>
            </a:r>
          </a:p>
        </p:txBody>
      </p:sp>
      <p:sp>
        <p:nvSpPr>
          <p:cNvPr id="1025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1676400"/>
            <a:ext cx="1268253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1800" spc="-36" dirty="0">
                <a:solidFill>
                  <a:srgbClr val="6E6E74">
                    <a:alpha val="100000"/>
                  </a:srgbClr>
                </a:solidFill>
                <a:latin typeface="Inter" panose="00000700000000000000" pitchFamily="2" charset="0"/>
              </a:rPr>
              <a:t>Docker Compose Single Broker, Console web et étapes de configuration obligatoires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12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97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030" name="0e683b4b-6537-4a0f-9d18-db1659f4285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99">
            <a:alphaModFix amt="100000"/>
          </a:blip>
          <a:stretch/>
        </p:blipFill>
        <p:spPr>
          <a:xfrm>
            <a:off x="0" y="0"/>
            <a:ext cx="18288000" cy="4114800"/>
          </a:xfrm>
          <a:prstGeom prst="rect">
            <a:avLst/>
          </a:prstGeom>
        </p:spPr>
      </p:pic>
      <p:pic>
        <p:nvPicPr>
          <p:cNvPr id="103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01">
            <a:alphaModFix amt="60000"/>
          </a:blip>
          <a:stretch/>
        </p:blipFill>
        <p:spPr>
          <a:xfrm>
            <a:off x="0" y="0"/>
            <a:ext cx="18288000" cy="4114800"/>
          </a:xfrm>
          <a:prstGeom prst="rect">
            <a:avLst/>
          </a:prstGeom>
        </p:spPr>
      </p:pic>
      <p:pic>
        <p:nvPicPr>
          <p:cNvPr id="103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03">
            <a:alphaModFix amt="100000"/>
          </a:blip>
          <a:stretch/>
        </p:blipFill>
        <p:spPr>
          <a:xfrm>
            <a:off x="914400" y="3371850"/>
            <a:ext cx="1371600" cy="1371600"/>
          </a:xfrm>
          <a:prstGeom prst="rect">
            <a:avLst/>
          </a:prstGeom>
        </p:spPr>
      </p:pic>
      <p:pic>
        <p:nvPicPr>
          <p:cNvPr id="1036" name="iconNode0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05">
            <a:alphaModFix amt="100000"/>
          </a:blip>
          <a:stretch/>
        </p:blipFill>
        <p:spPr>
          <a:xfrm>
            <a:off x="1257300" y="3714750"/>
            <a:ext cx="685800" cy="685800"/>
          </a:xfrm>
          <a:prstGeom prst="rect">
            <a:avLst/>
          </a:prstGeom>
        </p:spPr>
      </p:pic>
      <p:sp>
        <p:nvSpPr>
          <p:cNvPr id="1038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5124450"/>
            <a:ext cx="2328862" cy="8763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408"/>
              </a:lnSpc>
            </a:pPr>
            <a:r>
              <a:rPr lang="en-US" sz="2400" spc="-52" dirty="0">
                <a:solidFill>
                  <a:srgbClr val="161723">
                    <a:alpha val="100000"/>
                  </a:srgbClr>
                </a:solidFill>
                <a:latin typeface="Inter SemiBold" panose="00000700000000000000" pitchFamily="2" charset="0"/>
              </a:rPr>
              <a:t>          Gestion des topics via </a:t>
            </a:r>
            <a:r>
              <a:rPr lang="en-US" sz="2400" b="1" spc="-52" dirty="0">
                <a:solidFill>
                  <a:srgbClr val="161723"/>
                </a:solidFill>
                <a:latin typeface="Inter SemiBold" panose="00000700000000000000" pitchFamily="2" charset="0"/>
              </a:rPr>
              <a:t>rpk</a:t>
            </a:r>
          </a:p>
        </p:txBody>
      </p:sp>
      <p:pic>
        <p:nvPicPr>
          <p:cNvPr id="104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07">
            <a:alphaModFix amt="100000"/>
          </a:blip>
          <a:stretch/>
        </p:blipFill>
        <p:spPr>
          <a:xfrm>
            <a:off x="914400" y="5124450"/>
            <a:ext cx="428625" cy="428625"/>
          </a:xfrm>
          <a:prstGeom prst="rect">
            <a:avLst/>
          </a:prstGeom>
        </p:spPr>
      </p:pic>
      <p:sp>
        <p:nvSpPr>
          <p:cNvPr id="1042" name="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63085" y="5146072"/>
            <a:ext cx="166688" cy="4000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067"/>
              </a:lnSpc>
            </a:pPr>
            <a:r>
              <a:rPr lang="en-US" sz="2045" dirty="0">
                <a:solidFill>
                  <a:srgbClr val="161723">
                    <a:alpha val="85000"/>
                  </a:srgbClr>
                </a:solidFill>
                <a:latin typeface="Archivo" panose="00000700000000000000" pitchFamily="2" charset="0"/>
              </a:rPr>
              <a:t>1</a:t>
            </a:r>
          </a:p>
        </p:txBody>
      </p:sp>
      <p:sp>
        <p:nvSpPr>
          <p:cNvPr id="1044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6104287"/>
            <a:ext cx="2328862" cy="9810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1800" spc="-36" dirty="0">
                <a:solidFill>
                  <a:srgbClr val="161723">
                    <a:alpha val="100000"/>
                  </a:srgbClr>
                </a:solidFill>
                <a:latin typeface="Inter" panose="00000700000000000000" pitchFamily="2" charset="0"/>
              </a:rPr>
              <a:t>Création, configuration et inspection des topics</a:t>
            </a:r>
          </a:p>
        </p:txBody>
      </p:sp>
      <p:pic>
        <p:nvPicPr>
          <p:cNvPr id="104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09">
            <a:alphaModFix amt="100000"/>
          </a:blip>
          <a:stretch/>
        </p:blipFill>
        <p:spPr>
          <a:xfrm>
            <a:off x="3746468" y="3371850"/>
            <a:ext cx="1371600" cy="1371600"/>
          </a:xfrm>
          <a:prstGeom prst="rect">
            <a:avLst/>
          </a:prstGeom>
        </p:spPr>
      </p:pic>
      <p:pic>
        <p:nvPicPr>
          <p:cNvPr id="1048" name="iconNode1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11">
            <a:alphaModFix amt="100000"/>
          </a:blip>
          <a:stretch/>
        </p:blipFill>
        <p:spPr>
          <a:xfrm>
            <a:off x="4089368" y="3714750"/>
            <a:ext cx="685800" cy="685800"/>
          </a:xfrm>
          <a:prstGeom prst="rect">
            <a:avLst/>
          </a:prstGeom>
        </p:spPr>
      </p:pic>
      <p:sp>
        <p:nvSpPr>
          <p:cNvPr id="1050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3746468" y="5124450"/>
            <a:ext cx="2328862" cy="13049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408"/>
              </a:lnSpc>
            </a:pPr>
            <a:r>
              <a:rPr lang="en-US" sz="2400" spc="-52" dirty="0">
                <a:solidFill>
                  <a:srgbClr val="161723">
                    <a:alpha val="100000"/>
                  </a:srgbClr>
                </a:solidFill>
                <a:latin typeface="Inter SemiBold" panose="00000700000000000000" pitchFamily="2" charset="0"/>
              </a:rPr>
              <a:t>          Producer et consumer Python</a:t>
            </a:r>
          </a:p>
        </p:txBody>
      </p:sp>
      <p:pic>
        <p:nvPicPr>
          <p:cNvPr id="105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13">
            <a:alphaModFix amt="100000"/>
          </a:blip>
          <a:stretch/>
        </p:blipFill>
        <p:spPr>
          <a:xfrm>
            <a:off x="3746468" y="5124450"/>
            <a:ext cx="428625" cy="428625"/>
          </a:xfrm>
          <a:prstGeom prst="rect">
            <a:avLst/>
          </a:prstGeom>
        </p:spPr>
      </p:pic>
      <p:sp>
        <p:nvSpPr>
          <p:cNvPr id="1054" name="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3889248" y="5146072"/>
            <a:ext cx="176212" cy="4000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067"/>
              </a:lnSpc>
            </a:pPr>
            <a:r>
              <a:rPr lang="en-US" sz="2045" dirty="0">
                <a:solidFill>
                  <a:srgbClr val="161723">
                    <a:alpha val="85000"/>
                  </a:srgbClr>
                </a:solidFill>
                <a:latin typeface="Archivo" panose="00000700000000000000" pitchFamily="2" charset="0"/>
              </a:rPr>
              <a:t>2</a:t>
            </a:r>
          </a:p>
        </p:txBody>
      </p:sp>
      <p:sp>
        <p:nvSpPr>
          <p:cNvPr id="1056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3746468" y="6537008"/>
            <a:ext cx="2328862" cy="13049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1800" spc="-36" dirty="0">
                <a:solidFill>
                  <a:srgbClr val="161723">
                    <a:alpha val="100000"/>
                  </a:srgbClr>
                </a:solidFill>
                <a:latin typeface="Inter" panose="00000700000000000000" pitchFamily="2" charset="0"/>
              </a:rPr>
              <a:t>Clients Python pour production et consommation en continu</a:t>
            </a:r>
          </a:p>
        </p:txBody>
      </p:sp>
      <p:pic>
        <p:nvPicPr>
          <p:cNvPr id="105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15">
            <a:alphaModFix amt="100000"/>
          </a:blip>
          <a:stretch/>
        </p:blipFill>
        <p:spPr>
          <a:xfrm>
            <a:off x="6578632" y="3371850"/>
            <a:ext cx="1371600" cy="1371600"/>
          </a:xfrm>
          <a:prstGeom prst="rect">
            <a:avLst/>
          </a:prstGeom>
        </p:spPr>
      </p:pic>
      <p:pic>
        <p:nvPicPr>
          <p:cNvPr id="1060" name="iconNode2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17">
            <a:alphaModFix amt="100000"/>
          </a:blip>
          <a:stretch/>
        </p:blipFill>
        <p:spPr>
          <a:xfrm>
            <a:off x="6921532" y="3714750"/>
            <a:ext cx="685800" cy="685800"/>
          </a:xfrm>
          <a:prstGeom prst="rect">
            <a:avLst/>
          </a:prstGeom>
        </p:spPr>
      </p:pic>
      <p:sp>
        <p:nvSpPr>
          <p:cNvPr id="1062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578632" y="5124450"/>
            <a:ext cx="2328862" cy="8763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408"/>
              </a:lnSpc>
            </a:pPr>
            <a:r>
              <a:rPr lang="en-US" sz="2400" spc="-52" dirty="0">
                <a:solidFill>
                  <a:srgbClr val="161723">
                    <a:alpha val="100000"/>
                  </a:srgbClr>
                </a:solidFill>
                <a:latin typeface="Inter SemiBold" panose="00000700000000000000" pitchFamily="2" charset="0"/>
              </a:rPr>
              <a:t>          Offsets persistants</a:t>
            </a:r>
          </a:p>
        </p:txBody>
      </p:sp>
      <p:pic>
        <p:nvPicPr>
          <p:cNvPr id="106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19">
            <a:alphaModFix amt="100000"/>
          </a:blip>
          <a:stretch/>
        </p:blipFill>
        <p:spPr>
          <a:xfrm>
            <a:off x="6578632" y="5124450"/>
            <a:ext cx="428625" cy="428625"/>
          </a:xfrm>
          <a:prstGeom prst="rect">
            <a:avLst/>
          </a:prstGeom>
        </p:spPr>
      </p:pic>
      <p:sp>
        <p:nvSpPr>
          <p:cNvPr id="1066" name="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720554" y="5146072"/>
            <a:ext cx="185738" cy="4000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067"/>
              </a:lnSpc>
            </a:pPr>
            <a:r>
              <a:rPr lang="en-US" sz="2045" dirty="0">
                <a:solidFill>
                  <a:srgbClr val="161723">
                    <a:alpha val="85000"/>
                  </a:srgbClr>
                </a:solidFill>
                <a:latin typeface="Archivo" panose="00000700000000000000" pitchFamily="2" charset="0"/>
              </a:rPr>
              <a:t>3</a:t>
            </a:r>
          </a:p>
        </p:txBody>
      </p:sp>
      <p:sp>
        <p:nvSpPr>
          <p:cNvPr id="1068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578632" y="6104287"/>
            <a:ext cx="2328862" cy="9810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1800" spc="-36" dirty="0">
                <a:solidFill>
                  <a:srgbClr val="161723">
                    <a:alpha val="100000"/>
                  </a:srgbClr>
                </a:solidFill>
                <a:latin typeface="Inter" panose="00000700000000000000" pitchFamily="2" charset="0"/>
              </a:rPr>
              <a:t>Conservation d'offsets pour reprise et exactly-once</a:t>
            </a:r>
          </a:p>
        </p:txBody>
      </p:sp>
      <p:pic>
        <p:nvPicPr>
          <p:cNvPr id="107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21">
            <a:alphaModFix amt="100000"/>
          </a:blip>
          <a:stretch/>
        </p:blipFill>
        <p:spPr>
          <a:xfrm>
            <a:off x="9410795" y="3371850"/>
            <a:ext cx="1371600" cy="1371600"/>
          </a:xfrm>
          <a:prstGeom prst="rect">
            <a:avLst/>
          </a:prstGeom>
        </p:spPr>
      </p:pic>
      <p:pic>
        <p:nvPicPr>
          <p:cNvPr id="1072" name="iconNode3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23">
            <a:alphaModFix amt="100000"/>
          </a:blip>
          <a:stretch/>
        </p:blipFill>
        <p:spPr>
          <a:xfrm>
            <a:off x="9753695" y="3714750"/>
            <a:ext cx="685800" cy="685800"/>
          </a:xfrm>
          <a:prstGeom prst="rect">
            <a:avLst/>
          </a:prstGeom>
        </p:spPr>
      </p:pic>
      <p:sp>
        <p:nvSpPr>
          <p:cNvPr id="1074" name="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410795" y="5124450"/>
            <a:ext cx="2328862" cy="13049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408"/>
              </a:lnSpc>
            </a:pPr>
            <a:r>
              <a:rPr lang="en-US" sz="2400" spc="-52" dirty="0">
                <a:solidFill>
                  <a:srgbClr val="161723">
                    <a:alpha val="100000"/>
                  </a:srgbClr>
                </a:solidFill>
                <a:latin typeface="Inter SemiBold" panose="00000700000000000000" pitchFamily="2" charset="0"/>
              </a:rPr>
              <a:t>          Monitoring des consumer groups</a:t>
            </a:r>
          </a:p>
        </p:txBody>
      </p:sp>
      <p:pic>
        <p:nvPicPr>
          <p:cNvPr id="107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25">
            <a:alphaModFix amt="100000"/>
          </a:blip>
          <a:stretch/>
        </p:blipFill>
        <p:spPr>
          <a:xfrm>
            <a:off x="9410795" y="5124450"/>
            <a:ext cx="428625" cy="428625"/>
          </a:xfrm>
          <a:prstGeom prst="rect">
            <a:avLst/>
          </a:prstGeom>
        </p:spPr>
      </p:pic>
      <p:sp>
        <p:nvSpPr>
          <p:cNvPr id="1078" name="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555099" y="5146072"/>
            <a:ext cx="176212" cy="4000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067"/>
              </a:lnSpc>
            </a:pPr>
            <a:r>
              <a:rPr lang="en-US" sz="2045" dirty="0">
                <a:solidFill>
                  <a:srgbClr val="161723">
                    <a:alpha val="85000"/>
                  </a:srgbClr>
                </a:solidFill>
                <a:latin typeface="Archivo" panose="00000700000000000000" pitchFamily="2" charset="0"/>
              </a:rPr>
              <a:t>4</a:t>
            </a:r>
          </a:p>
        </p:txBody>
      </p:sp>
      <p:sp>
        <p:nvSpPr>
          <p:cNvPr id="1080" name="Description of a 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410795" y="6537008"/>
            <a:ext cx="2328862" cy="9810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1800" spc="-36" dirty="0">
                <a:solidFill>
                  <a:srgbClr val="161723">
                    <a:alpha val="100000"/>
                  </a:srgbClr>
                </a:solidFill>
                <a:latin typeface="Inter" panose="00000700000000000000" pitchFamily="2" charset="0"/>
              </a:rPr>
              <a:t>Supervision des lags et de l'état des groupes</a:t>
            </a:r>
          </a:p>
        </p:txBody>
      </p:sp>
      <p:pic>
        <p:nvPicPr>
          <p:cNvPr id="108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27">
            <a:alphaModFix amt="100000"/>
          </a:blip>
          <a:stretch/>
        </p:blipFill>
        <p:spPr>
          <a:xfrm>
            <a:off x="12242864" y="3371850"/>
            <a:ext cx="1371600" cy="1371600"/>
          </a:xfrm>
          <a:prstGeom prst="rect">
            <a:avLst/>
          </a:prstGeom>
        </p:spPr>
      </p:pic>
      <p:pic>
        <p:nvPicPr>
          <p:cNvPr id="1084" name="iconNode4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29">
            <a:alphaModFix amt="100000"/>
          </a:blip>
          <a:stretch/>
        </p:blipFill>
        <p:spPr>
          <a:xfrm>
            <a:off x="12585764" y="3714750"/>
            <a:ext cx="685800" cy="685800"/>
          </a:xfrm>
          <a:prstGeom prst="rect">
            <a:avLst/>
          </a:prstGeom>
        </p:spPr>
      </p:pic>
      <p:sp>
        <p:nvSpPr>
          <p:cNvPr id="1086" name="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242864" y="5124450"/>
            <a:ext cx="2328862" cy="13049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408"/>
              </a:lnSpc>
            </a:pPr>
            <a:r>
              <a:rPr lang="en-US" sz="2400" spc="-52" dirty="0">
                <a:solidFill>
                  <a:srgbClr val="161723">
                    <a:alpha val="100000"/>
                  </a:srgbClr>
                </a:solidFill>
                <a:latin typeface="Inter SemiBold" panose="00000700000000000000" pitchFamily="2" charset="0"/>
              </a:rPr>
              <a:t>          Test de reprise après arrêt</a:t>
            </a:r>
          </a:p>
        </p:txBody>
      </p:sp>
      <p:pic>
        <p:nvPicPr>
          <p:cNvPr id="108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31">
            <a:alphaModFix amt="100000"/>
          </a:blip>
          <a:stretch/>
        </p:blipFill>
        <p:spPr>
          <a:xfrm>
            <a:off x="12242864" y="5124450"/>
            <a:ext cx="428625" cy="428625"/>
          </a:xfrm>
          <a:prstGeom prst="rect">
            <a:avLst/>
          </a:prstGeom>
        </p:spPr>
      </p:pic>
      <p:sp>
        <p:nvSpPr>
          <p:cNvPr id="1090" name="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385072" y="5146072"/>
            <a:ext cx="185738" cy="4000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067"/>
              </a:lnSpc>
            </a:pPr>
            <a:r>
              <a:rPr lang="en-US" sz="2045" dirty="0">
                <a:solidFill>
                  <a:srgbClr val="161723">
                    <a:alpha val="85000"/>
                  </a:srgbClr>
                </a:solidFill>
                <a:latin typeface="Archivo" panose="00000700000000000000" pitchFamily="2" charset="0"/>
              </a:rPr>
              <a:t>5</a:t>
            </a:r>
          </a:p>
        </p:txBody>
      </p:sp>
      <p:sp>
        <p:nvSpPr>
          <p:cNvPr id="1092" name="Description of a 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242864" y="6537008"/>
            <a:ext cx="2328862" cy="9810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1800" spc="-36" dirty="0">
                <a:solidFill>
                  <a:srgbClr val="161723">
                    <a:alpha val="100000"/>
                  </a:srgbClr>
                </a:solidFill>
                <a:latin typeface="Inter" panose="00000700000000000000" pitchFamily="2" charset="0"/>
              </a:rPr>
              <a:t>Simulation d'arrêt puis vérification de la reprise</a:t>
            </a:r>
          </a:p>
        </p:txBody>
      </p:sp>
      <p:pic>
        <p:nvPicPr>
          <p:cNvPr id="109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33">
            <a:alphaModFix amt="100000"/>
          </a:blip>
          <a:stretch/>
        </p:blipFill>
        <p:spPr>
          <a:xfrm>
            <a:off x="15075027" y="3371850"/>
            <a:ext cx="1371600" cy="1371600"/>
          </a:xfrm>
          <a:prstGeom prst="rect">
            <a:avLst/>
          </a:prstGeom>
        </p:spPr>
      </p:pic>
      <p:pic>
        <p:nvPicPr>
          <p:cNvPr id="1096" name="iconNode5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35">
            <a:alphaModFix amt="100000"/>
          </a:blip>
          <a:stretch/>
        </p:blipFill>
        <p:spPr>
          <a:xfrm>
            <a:off x="15417927" y="3714750"/>
            <a:ext cx="685800" cy="685800"/>
          </a:xfrm>
          <a:prstGeom prst="rect">
            <a:avLst/>
          </a:prstGeom>
        </p:spPr>
      </p:pic>
      <p:sp>
        <p:nvSpPr>
          <p:cNvPr id="1098" name="Primary Heading-5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5075027" y="5124450"/>
            <a:ext cx="2328862" cy="13049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408"/>
              </a:lnSpc>
            </a:pPr>
            <a:r>
              <a:rPr lang="en-US" sz="2400" spc="-52" dirty="0">
                <a:solidFill>
                  <a:srgbClr val="161723">
                    <a:alpha val="100000"/>
                  </a:srgbClr>
                </a:solidFill>
                <a:latin typeface="Inter SemiBold" panose="00000700000000000000" pitchFamily="2" charset="0"/>
              </a:rPr>
              <a:t>          Validation du streaming temps réel</a:t>
            </a:r>
          </a:p>
        </p:txBody>
      </p:sp>
      <p:pic>
        <p:nvPicPr>
          <p:cNvPr id="110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37">
            <a:alphaModFix amt="100000"/>
          </a:blip>
          <a:stretch/>
        </p:blipFill>
        <p:spPr>
          <a:xfrm>
            <a:off x="15075027" y="5124450"/>
            <a:ext cx="428625" cy="428625"/>
          </a:xfrm>
          <a:prstGeom prst="rect">
            <a:avLst/>
          </a:prstGeom>
        </p:spPr>
      </p:pic>
      <p:sp>
        <p:nvSpPr>
          <p:cNvPr id="1102" name="-5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5216950" y="5146072"/>
            <a:ext cx="185738" cy="4000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067"/>
              </a:lnSpc>
            </a:pPr>
            <a:r>
              <a:rPr lang="en-US" sz="2045" dirty="0">
                <a:solidFill>
                  <a:srgbClr val="161723">
                    <a:alpha val="85000"/>
                  </a:srgbClr>
                </a:solidFill>
                <a:latin typeface="Archivo" panose="00000700000000000000" pitchFamily="2" charset="0"/>
              </a:rPr>
              <a:t>6</a:t>
            </a:r>
          </a:p>
        </p:txBody>
      </p:sp>
      <p:sp>
        <p:nvSpPr>
          <p:cNvPr id="1104" name="Description of a primary heading-5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5075027" y="6537008"/>
            <a:ext cx="2328862" cy="13049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1800" spc="-36" dirty="0">
                <a:solidFill>
                  <a:srgbClr val="161723">
                    <a:alpha val="100000"/>
                  </a:srgbClr>
                </a:solidFill>
                <a:latin typeface="Inter" panose="00000700000000000000" pitchFamily="2" charset="0"/>
              </a:rPr>
              <a:t>Vérifier latence, cohérence et persistance des données</a:t>
            </a:r>
          </a:p>
        </p:txBody>
      </p:sp>
      <p:sp>
        <p:nvSpPr>
          <p:cNvPr id="1106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2483072" y="1104900"/>
            <a:ext cx="13358812" cy="6953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5376"/>
              </a:lnSpc>
            </a:pPr>
            <a:r>
              <a:rPr lang="en-US" sz="4200" spc="-105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Implémentation d’un pipeline streaming avec </a:t>
            </a:r>
            <a:r>
              <a:rPr lang="en-US" sz="4200" b="1" spc="-105" dirty="0">
                <a:solidFill>
                  <a:srgbClr val="FFFFFF"/>
                </a:solidFill>
                <a:latin typeface="Inter" panose="00000700000000000000" pitchFamily="2" charset="0"/>
              </a:rPr>
              <a:t>Redpanda</a:t>
            </a:r>
          </a:p>
        </p:txBody>
      </p:sp>
      <p:sp>
        <p:nvSpPr>
          <p:cNvPr id="1108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1905000"/>
            <a:ext cx="1649253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</a:pPr>
            <a:r>
              <a:rPr lang="en-US" sz="1800" spc="-36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Déploiement local, développement Python et validation temps réel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13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41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11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43">
            <a:alphaModFix amt="100000"/>
          </a:blip>
          <a:stretch/>
        </p:blipFill>
        <p:spPr>
          <a:xfrm>
            <a:off x="13533120" y="6172200"/>
            <a:ext cx="4752975" cy="4114800"/>
          </a:xfrm>
          <a:prstGeom prst="rect">
            <a:avLst/>
          </a:prstGeom>
        </p:spPr>
      </p:pic>
      <p:pic>
        <p:nvPicPr>
          <p:cNvPr id="1114" name="dea0c03b-1651-47b2-9efc-2b29f15f1323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445">
            <a:alphaModFix amt="100000"/>
          </a:blip>
          <a:stretch/>
        </p:blipFill>
        <p:spPr>
          <a:xfrm>
            <a:off x="8343900" y="914400"/>
            <a:ext cx="9029700" cy="8458200"/>
          </a:xfrm>
          <a:prstGeom prst="rect">
            <a:avLst/>
          </a:prstGeom>
        </p:spPr>
      </p:pic>
      <p:sp>
        <p:nvSpPr>
          <p:cNvPr id="1116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3994785"/>
            <a:ext cx="5710238" cy="4476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sz="2400" spc="-45" dirty="0">
                <a:solidFill>
                  <a:srgbClr val="161723">
                    <a:alpha val="100000"/>
                  </a:srgbClr>
                </a:solidFill>
                <a:latin typeface="Inter SemiBold" panose="00000700000000000000" pitchFamily="2" charset="0"/>
              </a:rPr>
              <a:t>          Producteur Python</a:t>
            </a:r>
          </a:p>
        </p:txBody>
      </p:sp>
      <p:pic>
        <p:nvPicPr>
          <p:cNvPr id="111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47">
            <a:alphaModFix amt="100000"/>
          </a:blip>
          <a:stretch/>
        </p:blipFill>
        <p:spPr>
          <a:xfrm>
            <a:off x="914400" y="3994785"/>
            <a:ext cx="438150" cy="438150"/>
          </a:xfrm>
          <a:prstGeom prst="rect">
            <a:avLst/>
          </a:prstGeom>
        </p:spPr>
      </p:pic>
      <p:sp>
        <p:nvSpPr>
          <p:cNvPr id="1120" name="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66228" y="4016883"/>
            <a:ext cx="176212" cy="4095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132"/>
              </a:lnSpc>
            </a:pPr>
            <a:r>
              <a:rPr lang="en-US" sz="2088" dirty="0">
                <a:solidFill>
                  <a:srgbClr val="161723">
                    <a:alpha val="85000"/>
                  </a:srgbClr>
                </a:solidFill>
                <a:latin typeface="Archivo" panose="00000700000000000000" pitchFamily="2" charset="0"/>
              </a:rPr>
              <a:t>1</a:t>
            </a:r>
          </a:p>
        </p:txBody>
      </p:sp>
      <p:sp>
        <p:nvSpPr>
          <p:cNvPr id="1122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76706" y="4474845"/>
            <a:ext cx="5547932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1800" spc="-36" dirty="0">
                <a:solidFill>
                  <a:srgbClr val="161723">
                    <a:alpha val="100000"/>
                  </a:srgbClr>
                </a:solidFill>
                <a:latin typeface="Inter" panose="00000700000000000000" pitchFamily="2" charset="0"/>
              </a:rPr>
              <a:t>Génère des tickets clients aléatoires</a:t>
            </a:r>
          </a:p>
        </p:txBody>
      </p:sp>
      <p:pic>
        <p:nvPicPr>
          <p:cNvPr id="1124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49">
            <a:alphaModFix amt="100000"/>
          </a:blip>
          <a:stretch/>
        </p:blipFill>
        <p:spPr>
          <a:xfrm>
            <a:off x="914400" y="4604671"/>
            <a:ext cx="64740" cy="64740"/>
          </a:xfrm>
          <a:prstGeom prst="rect">
            <a:avLst/>
          </a:prstGeom>
        </p:spPr>
      </p:pic>
      <p:sp>
        <p:nvSpPr>
          <p:cNvPr id="1126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76706" y="4799457"/>
            <a:ext cx="5547932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1800" spc="-36" dirty="0">
                <a:solidFill>
                  <a:srgbClr val="161723">
                    <a:alpha val="100000"/>
                  </a:srgbClr>
                </a:solidFill>
                <a:latin typeface="Inter" panose="00000700000000000000" pitchFamily="2" charset="0"/>
              </a:rPr>
              <a:t>Envoie en temps réel vers redpanda</a:t>
            </a:r>
          </a:p>
        </p:txBody>
      </p:sp>
      <p:pic>
        <p:nvPicPr>
          <p:cNvPr id="1128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51">
            <a:alphaModFix amt="100000"/>
          </a:blip>
          <a:stretch/>
        </p:blipFill>
        <p:spPr>
          <a:xfrm>
            <a:off x="914400" y="4929283"/>
            <a:ext cx="64740" cy="64740"/>
          </a:xfrm>
          <a:prstGeom prst="rect">
            <a:avLst/>
          </a:prstGeom>
        </p:spPr>
      </p:pic>
      <p:pic>
        <p:nvPicPr>
          <p:cNvPr id="1130" name="iconNode0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53">
            <a:alphaModFix amt="100000"/>
          </a:blip>
          <a:stretch/>
        </p:blipFill>
        <p:spPr>
          <a:xfrm>
            <a:off x="6819900" y="3994785"/>
            <a:ext cx="457200" cy="457200"/>
          </a:xfrm>
          <a:prstGeom prst="rect">
            <a:avLst/>
          </a:prstGeom>
        </p:spPr>
      </p:pic>
      <p:sp>
        <p:nvSpPr>
          <p:cNvPr id="1132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5276374"/>
            <a:ext cx="5710238" cy="8953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sz="2400" spc="-45" dirty="0">
                <a:solidFill>
                  <a:srgbClr val="161723">
                    <a:alpha val="100000"/>
                  </a:srgbClr>
                </a:solidFill>
                <a:latin typeface="Inter SemiBold" panose="00000700000000000000" pitchFamily="2" charset="0"/>
              </a:rPr>
              <a:t>          Redpanda (broker compatible Kafka)</a:t>
            </a:r>
          </a:p>
        </p:txBody>
      </p:sp>
      <p:pic>
        <p:nvPicPr>
          <p:cNvPr id="113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55">
            <a:alphaModFix amt="100000"/>
          </a:blip>
          <a:stretch/>
        </p:blipFill>
        <p:spPr>
          <a:xfrm>
            <a:off x="914400" y="5276374"/>
            <a:ext cx="438150" cy="438150"/>
          </a:xfrm>
          <a:prstGeom prst="rect">
            <a:avLst/>
          </a:prstGeom>
        </p:spPr>
      </p:pic>
      <p:sp>
        <p:nvSpPr>
          <p:cNvPr id="1136" name="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60132" y="5298472"/>
            <a:ext cx="185738" cy="4095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132"/>
              </a:lnSpc>
            </a:pPr>
            <a:r>
              <a:rPr lang="en-US" sz="2088" dirty="0">
                <a:solidFill>
                  <a:srgbClr val="161723">
                    <a:alpha val="85000"/>
                  </a:srgbClr>
                </a:solidFill>
                <a:latin typeface="Archivo" panose="00000700000000000000" pitchFamily="2" charset="0"/>
              </a:rPr>
              <a:t>2</a:t>
            </a:r>
          </a:p>
        </p:txBody>
      </p:sp>
      <p:sp>
        <p:nvSpPr>
          <p:cNvPr id="1138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76706" y="6198394"/>
            <a:ext cx="5547932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1800" spc="-36" dirty="0">
                <a:solidFill>
                  <a:srgbClr val="161723">
                    <a:alpha val="100000"/>
                  </a:srgbClr>
                </a:solidFill>
                <a:latin typeface="Inter" panose="00000700000000000000" pitchFamily="2" charset="0"/>
              </a:rPr>
              <a:t>Stocke les messages du topic client_tickets</a:t>
            </a:r>
          </a:p>
        </p:txBody>
      </p:sp>
      <p:pic>
        <p:nvPicPr>
          <p:cNvPr id="1140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57">
            <a:alphaModFix amt="100000"/>
          </a:blip>
          <a:stretch/>
        </p:blipFill>
        <p:spPr>
          <a:xfrm>
            <a:off x="914400" y="6328220"/>
            <a:ext cx="64740" cy="64740"/>
          </a:xfrm>
          <a:prstGeom prst="rect">
            <a:avLst/>
          </a:prstGeom>
        </p:spPr>
      </p:pic>
      <p:sp>
        <p:nvSpPr>
          <p:cNvPr id="1142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76706" y="6523006"/>
            <a:ext cx="5547932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1800" spc="-36" dirty="0">
                <a:solidFill>
                  <a:srgbClr val="161723">
                    <a:alpha val="100000"/>
                  </a:srgbClr>
                </a:solidFill>
                <a:latin typeface="Inter" panose="00000700000000000000" pitchFamily="2" charset="0"/>
              </a:rPr>
              <a:t>Gère les offsets et la durabilité</a:t>
            </a:r>
          </a:p>
        </p:txBody>
      </p:sp>
      <p:pic>
        <p:nvPicPr>
          <p:cNvPr id="1144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59">
            <a:alphaModFix amt="100000"/>
          </a:blip>
          <a:stretch/>
        </p:blipFill>
        <p:spPr>
          <a:xfrm>
            <a:off x="914400" y="6652832"/>
            <a:ext cx="64740" cy="64740"/>
          </a:xfrm>
          <a:prstGeom prst="rect">
            <a:avLst/>
          </a:prstGeom>
        </p:spPr>
      </p:pic>
      <p:pic>
        <p:nvPicPr>
          <p:cNvPr id="1146" name="iconNode1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61">
            <a:alphaModFix amt="100000"/>
          </a:blip>
          <a:stretch/>
        </p:blipFill>
        <p:spPr>
          <a:xfrm>
            <a:off x="6819900" y="5276374"/>
            <a:ext cx="457200" cy="457200"/>
          </a:xfrm>
          <a:prstGeom prst="rect">
            <a:avLst/>
          </a:prstGeom>
        </p:spPr>
      </p:pic>
      <p:sp>
        <p:nvSpPr>
          <p:cNvPr id="1148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6999922"/>
            <a:ext cx="5710238" cy="4476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sz="2400" spc="-45" dirty="0">
                <a:solidFill>
                  <a:srgbClr val="161723">
                    <a:alpha val="100000"/>
                  </a:srgbClr>
                </a:solidFill>
                <a:latin typeface="Inter SemiBold" panose="00000700000000000000" pitchFamily="2" charset="0"/>
              </a:rPr>
              <a:t>          Consommateur Python</a:t>
            </a:r>
          </a:p>
        </p:txBody>
      </p:sp>
      <p:pic>
        <p:nvPicPr>
          <p:cNvPr id="115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63">
            <a:alphaModFix amt="100000"/>
          </a:blip>
          <a:stretch/>
        </p:blipFill>
        <p:spPr>
          <a:xfrm>
            <a:off x="914400" y="6999922"/>
            <a:ext cx="438150" cy="438150"/>
          </a:xfrm>
          <a:prstGeom prst="rect">
            <a:avLst/>
          </a:prstGeom>
        </p:spPr>
      </p:pic>
      <p:sp>
        <p:nvSpPr>
          <p:cNvPr id="1152" name="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59370" y="7022020"/>
            <a:ext cx="185738" cy="4095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132"/>
              </a:lnSpc>
            </a:pPr>
            <a:r>
              <a:rPr lang="en-US" sz="2088" dirty="0">
                <a:solidFill>
                  <a:srgbClr val="161723">
                    <a:alpha val="85000"/>
                  </a:srgbClr>
                </a:solidFill>
                <a:latin typeface="Archivo" panose="00000700000000000000" pitchFamily="2" charset="0"/>
              </a:rPr>
              <a:t>3</a:t>
            </a:r>
          </a:p>
        </p:txBody>
      </p:sp>
      <p:sp>
        <p:nvSpPr>
          <p:cNvPr id="1154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76706" y="7479982"/>
            <a:ext cx="5547932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1800" spc="-36" dirty="0">
                <a:solidFill>
                  <a:srgbClr val="161723">
                    <a:alpha val="100000"/>
                  </a:srgbClr>
                </a:solidFill>
                <a:latin typeface="Inter" panose="00000700000000000000" pitchFamily="2" charset="0"/>
              </a:rPr>
              <a:t>Lit les tickets depuis le topic</a:t>
            </a:r>
          </a:p>
        </p:txBody>
      </p:sp>
      <p:pic>
        <p:nvPicPr>
          <p:cNvPr id="1156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65">
            <a:alphaModFix amt="100000"/>
          </a:blip>
          <a:stretch/>
        </p:blipFill>
        <p:spPr>
          <a:xfrm>
            <a:off x="914400" y="7609808"/>
            <a:ext cx="64740" cy="64740"/>
          </a:xfrm>
          <a:prstGeom prst="rect">
            <a:avLst/>
          </a:prstGeom>
        </p:spPr>
      </p:pic>
      <p:sp>
        <p:nvSpPr>
          <p:cNvPr id="1158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76706" y="7804594"/>
            <a:ext cx="5547932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1800" spc="-36" dirty="0">
                <a:solidFill>
                  <a:srgbClr val="161723">
                    <a:alpha val="100000"/>
                  </a:srgbClr>
                </a:solidFill>
                <a:latin typeface="Inter" panose="00000700000000000000" pitchFamily="2" charset="0"/>
              </a:rPr>
              <a:t>Traitement en streaming avant persistance</a:t>
            </a:r>
          </a:p>
        </p:txBody>
      </p:sp>
      <p:pic>
        <p:nvPicPr>
          <p:cNvPr id="1160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67">
            <a:alphaModFix amt="100000"/>
          </a:blip>
          <a:stretch/>
        </p:blipFill>
        <p:spPr>
          <a:xfrm>
            <a:off x="914400" y="7934420"/>
            <a:ext cx="64740" cy="64740"/>
          </a:xfrm>
          <a:prstGeom prst="rect">
            <a:avLst/>
          </a:prstGeom>
        </p:spPr>
      </p:pic>
      <p:pic>
        <p:nvPicPr>
          <p:cNvPr id="1162" name="iconNode2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69">
            <a:alphaModFix amt="100000"/>
          </a:blip>
          <a:stretch/>
        </p:blipFill>
        <p:spPr>
          <a:xfrm>
            <a:off x="6819900" y="6999922"/>
            <a:ext cx="457200" cy="457200"/>
          </a:xfrm>
          <a:prstGeom prst="rect">
            <a:avLst/>
          </a:prstGeom>
        </p:spPr>
      </p:pic>
      <p:sp>
        <p:nvSpPr>
          <p:cNvPr id="1164" name="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8281511"/>
            <a:ext cx="5710238" cy="4476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sz="2400" spc="-45" dirty="0">
                <a:solidFill>
                  <a:srgbClr val="161723">
                    <a:alpha val="100000"/>
                  </a:srgbClr>
                </a:solidFill>
                <a:latin typeface="Inter SemiBold" panose="00000700000000000000" pitchFamily="2" charset="0"/>
              </a:rPr>
              <a:t>          MySQL (stockage persistant)</a:t>
            </a:r>
          </a:p>
        </p:txBody>
      </p:sp>
      <p:pic>
        <p:nvPicPr>
          <p:cNvPr id="116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71">
            <a:alphaModFix amt="100000"/>
          </a:blip>
          <a:stretch/>
        </p:blipFill>
        <p:spPr>
          <a:xfrm>
            <a:off x="914400" y="8281511"/>
            <a:ext cx="438150" cy="438150"/>
          </a:xfrm>
          <a:prstGeom prst="rect">
            <a:avLst/>
          </a:prstGeom>
        </p:spPr>
      </p:pic>
      <p:sp>
        <p:nvSpPr>
          <p:cNvPr id="1168" name="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61752" y="8303609"/>
            <a:ext cx="176212" cy="4095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132"/>
              </a:lnSpc>
            </a:pPr>
            <a:r>
              <a:rPr lang="en-US" sz="2088" dirty="0">
                <a:solidFill>
                  <a:srgbClr val="161723">
                    <a:alpha val="85000"/>
                  </a:srgbClr>
                </a:solidFill>
                <a:latin typeface="Archivo" panose="00000700000000000000" pitchFamily="2" charset="0"/>
              </a:rPr>
              <a:t>4</a:t>
            </a:r>
          </a:p>
        </p:txBody>
      </p:sp>
      <p:sp>
        <p:nvSpPr>
          <p:cNvPr id="1170" name="Description of a 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76706" y="8761571"/>
            <a:ext cx="5547932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1800" spc="-36" dirty="0">
                <a:solidFill>
                  <a:srgbClr val="161723">
                    <a:alpha val="100000"/>
                  </a:srgbClr>
                </a:solidFill>
                <a:latin typeface="Inter" panose="00000700000000000000" pitchFamily="2" charset="0"/>
              </a:rPr>
              <a:t>Stocke les tickets pour reporting et analyse</a:t>
            </a:r>
          </a:p>
        </p:txBody>
      </p:sp>
      <p:pic>
        <p:nvPicPr>
          <p:cNvPr id="1172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73">
            <a:alphaModFix amt="100000"/>
          </a:blip>
          <a:stretch/>
        </p:blipFill>
        <p:spPr>
          <a:xfrm>
            <a:off x="914400" y="8891397"/>
            <a:ext cx="64740" cy="64740"/>
          </a:xfrm>
          <a:prstGeom prst="rect">
            <a:avLst/>
          </a:prstGeom>
        </p:spPr>
      </p:pic>
      <p:sp>
        <p:nvSpPr>
          <p:cNvPr id="1174" name="Description of a 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76706" y="9086183"/>
            <a:ext cx="5547932" cy="3333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1800" spc="-36" dirty="0">
                <a:solidFill>
                  <a:srgbClr val="161723">
                    <a:alpha val="100000"/>
                  </a:srgbClr>
                </a:solidFill>
                <a:latin typeface="Inter" panose="00000700000000000000" pitchFamily="2" charset="0"/>
              </a:rPr>
              <a:t>Base relationnelle exploitable</a:t>
            </a:r>
          </a:p>
        </p:txBody>
      </p:sp>
      <p:pic>
        <p:nvPicPr>
          <p:cNvPr id="1176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75">
            <a:alphaModFix amt="100000"/>
          </a:blip>
          <a:stretch/>
        </p:blipFill>
        <p:spPr>
          <a:xfrm>
            <a:off x="914400" y="9216009"/>
            <a:ext cx="64740" cy="64740"/>
          </a:xfrm>
          <a:prstGeom prst="rect">
            <a:avLst/>
          </a:prstGeom>
        </p:spPr>
      </p:pic>
      <p:pic>
        <p:nvPicPr>
          <p:cNvPr id="1178" name="iconNode3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77">
            <a:alphaModFix amt="100000"/>
          </a:blip>
          <a:stretch/>
        </p:blipFill>
        <p:spPr>
          <a:xfrm>
            <a:off x="6819900" y="8281511"/>
            <a:ext cx="457200" cy="457200"/>
          </a:xfrm>
          <a:prstGeom prst="rect">
            <a:avLst/>
          </a:prstGeom>
        </p:spPr>
      </p:pic>
      <p:sp>
        <p:nvSpPr>
          <p:cNvPr id="1180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886968"/>
            <a:ext cx="6510338" cy="13620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5376"/>
              </a:lnSpc>
            </a:pPr>
            <a:r>
              <a:rPr lang="en-US" sz="4200" spc="-105" dirty="0">
                <a:solidFill>
                  <a:srgbClr val="161723">
                    <a:alpha val="100000"/>
                  </a:srgbClr>
                </a:solidFill>
                <a:latin typeface="Inter" panose="00000700000000000000" pitchFamily="2" charset="0"/>
              </a:rPr>
              <a:t>Pipeline de tickets clients en </a:t>
            </a:r>
            <a:r>
              <a:rPr lang="en-US" sz="4200" b="1" spc="-105" dirty="0">
                <a:solidFill>
                  <a:srgbClr val="161723"/>
                </a:solidFill>
                <a:latin typeface="Inter" panose="00000700000000000000" pitchFamily="2" charset="0"/>
              </a:rPr>
              <a:t>temps réel</a:t>
            </a:r>
          </a:p>
        </p:txBody>
      </p:sp>
      <p:sp>
        <p:nvSpPr>
          <p:cNvPr id="1182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2362200"/>
            <a:ext cx="651033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1800" spc="-36" dirty="0">
                <a:solidFill>
                  <a:srgbClr val="6E6E74">
                    <a:alpha val="100000"/>
                  </a:srgbClr>
                </a:solidFill>
                <a:latin typeface="Inter" panose="00000700000000000000" pitchFamily="2" charset="0"/>
              </a:rPr>
              <a:t>Streaming avec Redpanda et Python vers MySQL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14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8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81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18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83">
            <a:alphaModFix amt="100000"/>
          </a:blip>
          <a:stretch/>
        </p:blipFill>
        <p:spPr>
          <a:xfrm>
            <a:off x="14630400" y="0"/>
            <a:ext cx="3657600" cy="914400"/>
          </a:xfrm>
          <a:prstGeom prst="rect">
            <a:avLst/>
          </a:prstGeom>
        </p:spPr>
      </p:pic>
      <p:pic>
        <p:nvPicPr>
          <p:cNvPr id="118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85">
            <a:alphaModFix amt="100000"/>
          </a:blip>
          <a:stretch/>
        </p:blipFill>
        <p:spPr>
          <a:xfrm>
            <a:off x="914400" y="2552700"/>
            <a:ext cx="8153400" cy="1943100"/>
          </a:xfrm>
          <a:prstGeom prst="rect">
            <a:avLst/>
          </a:prstGeom>
        </p:spPr>
      </p:pic>
      <p:pic>
        <p:nvPicPr>
          <p:cNvPr id="119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87">
            <a:alphaModFix amt="100000"/>
          </a:blip>
          <a:stretch/>
        </p:blipFill>
        <p:spPr>
          <a:xfrm>
            <a:off x="1143000" y="2781300"/>
            <a:ext cx="342900" cy="342900"/>
          </a:xfrm>
          <a:prstGeom prst="rect">
            <a:avLst/>
          </a:prstGeom>
        </p:spPr>
      </p:pic>
      <p:sp>
        <p:nvSpPr>
          <p:cNvPr id="1192" name="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60824" y="2798445"/>
            <a:ext cx="138112" cy="3143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1620" dirty="0">
                <a:solidFill>
                  <a:srgbClr val="FFFFFF">
                    <a:alpha val="100000"/>
                  </a:srgbClr>
                </a:solidFill>
                <a:latin typeface="Archivo" panose="00000700000000000000" pitchFamily="2" charset="0"/>
              </a:rPr>
              <a:t>1</a:t>
            </a:r>
          </a:p>
        </p:txBody>
      </p:sp>
      <p:sp>
        <p:nvSpPr>
          <p:cNvPr id="1194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676400" y="2781300"/>
            <a:ext cx="7196138" cy="5524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4260"/>
              </a:lnSpc>
            </a:pPr>
            <a:r>
              <a:rPr lang="en-US" sz="3000" spc="-52" dirty="0">
                <a:solidFill>
                  <a:srgbClr val="161723">
                    <a:alpha val="100000"/>
                  </a:srgbClr>
                </a:solidFill>
                <a:latin typeface="Inter SemiBold" panose="00000700000000000000" pitchFamily="2" charset="0"/>
              </a:rPr>
              <a:t>Identifiant unique du ticket</a:t>
            </a:r>
          </a:p>
        </p:txBody>
      </p:sp>
      <p:sp>
        <p:nvSpPr>
          <p:cNvPr id="1196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676400" y="3398520"/>
            <a:ext cx="7196138" cy="4381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408"/>
              </a:lnSpc>
            </a:pPr>
            <a:r>
              <a:rPr lang="en-US" sz="2400" spc="-36" dirty="0">
                <a:solidFill>
                  <a:srgbClr val="161723">
                    <a:alpha val="100000"/>
                  </a:srgbClr>
                </a:solidFill>
                <a:latin typeface="Inter" panose="00000700000000000000" pitchFamily="2" charset="0"/>
              </a:rPr>
              <a:t>Permet tracer et référencer le ticket</a:t>
            </a:r>
          </a:p>
        </p:txBody>
      </p:sp>
      <p:sp>
        <p:nvSpPr>
          <p:cNvPr id="1198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676400" y="3831241"/>
            <a:ext cx="7196138" cy="4381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408"/>
              </a:lnSpc>
            </a:pPr>
            <a:r>
              <a:rPr lang="en-US" sz="2400" b="1" spc="-36" dirty="0">
                <a:solidFill>
                  <a:srgbClr val="161723">
                    <a:alpha val="100000"/>
                  </a:srgbClr>
                </a:solidFill>
                <a:latin typeface="Inter" panose="00000700000000000000" pitchFamily="2" charset="0"/>
              </a:rPr>
              <a:t>ticket_id INT</a:t>
            </a:r>
          </a:p>
        </p:txBody>
      </p:sp>
      <p:pic>
        <p:nvPicPr>
          <p:cNvPr id="120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89">
            <a:alphaModFix amt="100000"/>
          </a:blip>
          <a:stretch/>
        </p:blipFill>
        <p:spPr>
          <a:xfrm>
            <a:off x="914400" y="4645057"/>
            <a:ext cx="8153400" cy="1943100"/>
          </a:xfrm>
          <a:prstGeom prst="rect">
            <a:avLst/>
          </a:prstGeom>
        </p:spPr>
      </p:pic>
      <p:pic>
        <p:nvPicPr>
          <p:cNvPr id="120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91">
            <a:alphaModFix amt="100000"/>
          </a:blip>
          <a:stretch/>
        </p:blipFill>
        <p:spPr>
          <a:xfrm>
            <a:off x="1143000" y="4873657"/>
            <a:ext cx="342900" cy="342900"/>
          </a:xfrm>
          <a:prstGeom prst="rect">
            <a:avLst/>
          </a:prstGeom>
        </p:spPr>
      </p:pic>
      <p:sp>
        <p:nvSpPr>
          <p:cNvPr id="1204" name="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56157" y="4890802"/>
            <a:ext cx="147638" cy="3143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1620" dirty="0">
                <a:solidFill>
                  <a:srgbClr val="FFFFFF">
                    <a:alpha val="100000"/>
                  </a:srgbClr>
                </a:solidFill>
                <a:latin typeface="Archivo" panose="00000700000000000000" pitchFamily="2" charset="0"/>
              </a:rPr>
              <a:t>2</a:t>
            </a:r>
          </a:p>
        </p:txBody>
      </p:sp>
      <p:sp>
        <p:nvSpPr>
          <p:cNvPr id="1206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676400" y="4873657"/>
            <a:ext cx="7196138" cy="5524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4260"/>
              </a:lnSpc>
            </a:pPr>
            <a:r>
              <a:rPr lang="en-US" sz="3000" spc="-52" dirty="0">
                <a:solidFill>
                  <a:srgbClr val="161723">
                    <a:alpha val="100000"/>
                  </a:srgbClr>
                </a:solidFill>
                <a:latin typeface="Inter SemiBold" panose="00000700000000000000" pitchFamily="2" charset="0"/>
              </a:rPr>
              <a:t>Identifiant du client</a:t>
            </a:r>
          </a:p>
        </p:txBody>
      </p:sp>
      <p:sp>
        <p:nvSpPr>
          <p:cNvPr id="1208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676400" y="5490877"/>
            <a:ext cx="7196138" cy="4381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408"/>
              </a:lnSpc>
            </a:pPr>
            <a:r>
              <a:rPr lang="en-US" sz="2400" spc="-36" dirty="0">
                <a:solidFill>
                  <a:srgbClr val="161723">
                    <a:alpha val="100000"/>
                  </a:srgbClr>
                </a:solidFill>
                <a:latin typeface="Inter" panose="00000700000000000000" pitchFamily="2" charset="0"/>
              </a:rPr>
              <a:t>Associe le ticket au client concerné</a:t>
            </a:r>
          </a:p>
        </p:txBody>
      </p:sp>
      <p:sp>
        <p:nvSpPr>
          <p:cNvPr id="1210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676400" y="5923598"/>
            <a:ext cx="7196138" cy="4381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408"/>
              </a:lnSpc>
            </a:pPr>
            <a:r>
              <a:rPr lang="en-US" sz="2400" b="1" spc="-36" dirty="0">
                <a:solidFill>
                  <a:srgbClr val="161723">
                    <a:alpha val="100000"/>
                  </a:srgbClr>
                </a:solidFill>
                <a:latin typeface="Inter" panose="00000700000000000000" pitchFamily="2" charset="0"/>
              </a:rPr>
              <a:t>client_id INT</a:t>
            </a:r>
          </a:p>
        </p:txBody>
      </p:sp>
      <p:pic>
        <p:nvPicPr>
          <p:cNvPr id="121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93">
            <a:alphaModFix amt="100000"/>
          </a:blip>
          <a:stretch/>
        </p:blipFill>
        <p:spPr>
          <a:xfrm>
            <a:off x="914400" y="6737318"/>
            <a:ext cx="8153400" cy="1943100"/>
          </a:xfrm>
          <a:prstGeom prst="rect">
            <a:avLst/>
          </a:prstGeom>
        </p:spPr>
      </p:pic>
      <p:pic>
        <p:nvPicPr>
          <p:cNvPr id="121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95">
            <a:alphaModFix amt="100000"/>
          </a:blip>
          <a:stretch/>
        </p:blipFill>
        <p:spPr>
          <a:xfrm>
            <a:off x="1143000" y="6965918"/>
            <a:ext cx="342900" cy="342900"/>
          </a:xfrm>
          <a:prstGeom prst="rect">
            <a:avLst/>
          </a:prstGeom>
        </p:spPr>
      </p:pic>
      <p:sp>
        <p:nvSpPr>
          <p:cNvPr id="1216" name="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55490" y="6983063"/>
            <a:ext cx="147638" cy="3143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1620" dirty="0">
                <a:solidFill>
                  <a:srgbClr val="FFFFFF">
                    <a:alpha val="100000"/>
                  </a:srgbClr>
                </a:solidFill>
                <a:latin typeface="Archivo" panose="00000700000000000000" pitchFamily="2" charset="0"/>
              </a:rPr>
              <a:t>3</a:t>
            </a:r>
          </a:p>
        </p:txBody>
      </p:sp>
      <p:sp>
        <p:nvSpPr>
          <p:cNvPr id="1218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676400" y="6965918"/>
            <a:ext cx="7196138" cy="5524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4260"/>
              </a:lnSpc>
            </a:pPr>
            <a:r>
              <a:rPr lang="en-US" sz="3000" spc="-52" dirty="0">
                <a:solidFill>
                  <a:srgbClr val="161723">
                    <a:alpha val="100000"/>
                  </a:srgbClr>
                </a:solidFill>
                <a:latin typeface="Inter SemiBold" panose="00000700000000000000" pitchFamily="2" charset="0"/>
              </a:rPr>
              <a:t>Horodatage de l'ouverture</a:t>
            </a:r>
          </a:p>
        </p:txBody>
      </p:sp>
      <p:sp>
        <p:nvSpPr>
          <p:cNvPr id="1220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676400" y="7583138"/>
            <a:ext cx="7196138" cy="4381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408"/>
              </a:lnSpc>
            </a:pPr>
            <a:r>
              <a:rPr lang="en-US" sz="2400" spc="-36" dirty="0">
                <a:solidFill>
                  <a:srgbClr val="161723">
                    <a:alpha val="100000"/>
                  </a:srgbClr>
                </a:solidFill>
                <a:latin typeface="Inter" panose="00000700000000000000" pitchFamily="2" charset="0"/>
              </a:rPr>
              <a:t>Indique quand le ticket a été créé</a:t>
            </a:r>
          </a:p>
        </p:txBody>
      </p:sp>
      <p:sp>
        <p:nvSpPr>
          <p:cNvPr id="1222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676400" y="8015954"/>
            <a:ext cx="7196138" cy="4381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408"/>
              </a:lnSpc>
            </a:pPr>
            <a:r>
              <a:rPr lang="en-US" sz="2400" b="1" spc="-36" dirty="0">
                <a:solidFill>
                  <a:srgbClr val="161723">
                    <a:alpha val="100000"/>
                  </a:srgbClr>
                </a:solidFill>
                <a:latin typeface="Inter" panose="00000700000000000000" pitchFamily="2" charset="0"/>
              </a:rPr>
              <a:t>created_at DATETIME</a:t>
            </a:r>
          </a:p>
        </p:txBody>
      </p:sp>
      <p:pic>
        <p:nvPicPr>
          <p:cNvPr id="122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97">
            <a:alphaModFix amt="100000"/>
          </a:blip>
          <a:stretch/>
        </p:blipFill>
        <p:spPr>
          <a:xfrm>
            <a:off x="9220200" y="2552700"/>
            <a:ext cx="8153400" cy="1943100"/>
          </a:xfrm>
          <a:prstGeom prst="rect">
            <a:avLst/>
          </a:prstGeom>
        </p:spPr>
      </p:pic>
      <p:pic>
        <p:nvPicPr>
          <p:cNvPr id="122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99">
            <a:alphaModFix amt="100000"/>
          </a:blip>
          <a:stretch/>
        </p:blipFill>
        <p:spPr>
          <a:xfrm>
            <a:off x="9448800" y="2781300"/>
            <a:ext cx="342900" cy="342900"/>
          </a:xfrm>
          <a:prstGeom prst="rect">
            <a:avLst/>
          </a:prstGeom>
        </p:spPr>
      </p:pic>
      <p:sp>
        <p:nvSpPr>
          <p:cNvPr id="1228" name="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563100" y="2798445"/>
            <a:ext cx="147638" cy="3143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1620" dirty="0">
                <a:solidFill>
                  <a:srgbClr val="FFFFFF">
                    <a:alpha val="100000"/>
                  </a:srgbClr>
                </a:solidFill>
                <a:latin typeface="Archivo" panose="00000700000000000000" pitchFamily="2" charset="0"/>
              </a:rPr>
              <a:t>4</a:t>
            </a:r>
          </a:p>
        </p:txBody>
      </p:sp>
      <p:sp>
        <p:nvSpPr>
          <p:cNvPr id="1230" name="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982200" y="2781300"/>
            <a:ext cx="7196138" cy="5524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4260"/>
              </a:lnSpc>
            </a:pPr>
            <a:r>
              <a:rPr lang="en-US" sz="3000" spc="-52" dirty="0">
                <a:solidFill>
                  <a:srgbClr val="161723">
                    <a:alpha val="100000"/>
                  </a:srgbClr>
                </a:solidFill>
                <a:latin typeface="Inter SemiBold" panose="00000700000000000000" pitchFamily="2" charset="0"/>
              </a:rPr>
              <a:t>Description de la demande</a:t>
            </a:r>
          </a:p>
        </p:txBody>
      </p:sp>
      <p:sp>
        <p:nvSpPr>
          <p:cNvPr id="1232" name="Description of a 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982200" y="3398520"/>
            <a:ext cx="7196138" cy="4381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408"/>
              </a:lnSpc>
            </a:pPr>
            <a:r>
              <a:rPr lang="en-US" sz="2400" spc="-36" dirty="0">
                <a:solidFill>
                  <a:srgbClr val="161723">
                    <a:alpha val="100000"/>
                  </a:srgbClr>
                </a:solidFill>
                <a:latin typeface="Inter" panose="00000700000000000000" pitchFamily="2" charset="0"/>
              </a:rPr>
              <a:t>Contexte et détails fournis par le client</a:t>
            </a:r>
          </a:p>
        </p:txBody>
      </p:sp>
      <p:sp>
        <p:nvSpPr>
          <p:cNvPr id="1234" name="Description of a 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982200" y="3831241"/>
            <a:ext cx="7196138" cy="4381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408"/>
              </a:lnSpc>
            </a:pPr>
            <a:r>
              <a:rPr lang="en-US" sz="2400" b="1" spc="-36" dirty="0">
                <a:solidFill>
                  <a:srgbClr val="161723">
                    <a:alpha val="100000"/>
                  </a:srgbClr>
                </a:solidFill>
                <a:latin typeface="Inter" panose="00000700000000000000" pitchFamily="2" charset="0"/>
              </a:rPr>
              <a:t>demande TEXT</a:t>
            </a:r>
          </a:p>
        </p:txBody>
      </p:sp>
      <p:pic>
        <p:nvPicPr>
          <p:cNvPr id="123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01">
            <a:alphaModFix amt="100000"/>
          </a:blip>
          <a:stretch/>
        </p:blipFill>
        <p:spPr>
          <a:xfrm>
            <a:off x="9220200" y="4645057"/>
            <a:ext cx="8153400" cy="1943100"/>
          </a:xfrm>
          <a:prstGeom prst="rect">
            <a:avLst/>
          </a:prstGeom>
        </p:spPr>
      </p:pic>
      <p:pic>
        <p:nvPicPr>
          <p:cNvPr id="123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03">
            <a:alphaModFix amt="100000"/>
          </a:blip>
          <a:stretch/>
        </p:blipFill>
        <p:spPr>
          <a:xfrm>
            <a:off x="9448800" y="4873657"/>
            <a:ext cx="342900" cy="342900"/>
          </a:xfrm>
          <a:prstGeom prst="rect">
            <a:avLst/>
          </a:prstGeom>
        </p:spPr>
      </p:pic>
      <p:sp>
        <p:nvSpPr>
          <p:cNvPr id="1240" name="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561481" y="4890802"/>
            <a:ext cx="147638" cy="3143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1620" dirty="0">
                <a:solidFill>
                  <a:srgbClr val="FFFFFF">
                    <a:alpha val="100000"/>
                  </a:srgbClr>
                </a:solidFill>
                <a:latin typeface="Archivo" panose="00000700000000000000" pitchFamily="2" charset="0"/>
              </a:rPr>
              <a:t>5</a:t>
            </a:r>
          </a:p>
        </p:txBody>
      </p:sp>
      <p:sp>
        <p:nvSpPr>
          <p:cNvPr id="1242" name="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982200" y="4873657"/>
            <a:ext cx="7196138" cy="5524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4260"/>
              </a:lnSpc>
            </a:pPr>
            <a:r>
              <a:rPr lang="en-US" sz="3000" spc="-52" dirty="0">
                <a:solidFill>
                  <a:srgbClr val="161723">
                    <a:alpha val="100000"/>
                  </a:srgbClr>
                </a:solidFill>
                <a:latin typeface="Inter SemiBold" panose="00000700000000000000" pitchFamily="2" charset="0"/>
              </a:rPr>
              <a:t> Catégorie ou nature du ticket</a:t>
            </a:r>
          </a:p>
        </p:txBody>
      </p:sp>
      <p:sp>
        <p:nvSpPr>
          <p:cNvPr id="1244" name="Description of a 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982200" y="5490877"/>
            <a:ext cx="7196138" cy="4381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408"/>
              </a:lnSpc>
            </a:pPr>
            <a:r>
              <a:rPr lang="en-US" sz="2400" spc="-36" dirty="0">
                <a:solidFill>
                  <a:srgbClr val="161723">
                    <a:alpha val="100000"/>
                  </a:srgbClr>
                </a:solidFill>
                <a:latin typeface="Inter" panose="00000700000000000000" pitchFamily="2" charset="0"/>
              </a:rPr>
              <a:t>Classifie pour routage et priorisation</a:t>
            </a:r>
          </a:p>
        </p:txBody>
      </p:sp>
      <p:sp>
        <p:nvSpPr>
          <p:cNvPr id="1246" name="Description of a 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982200" y="5923598"/>
            <a:ext cx="7196138" cy="4381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408"/>
              </a:lnSpc>
            </a:pPr>
            <a:r>
              <a:rPr lang="en-US" sz="2400" b="1" spc="-36" dirty="0">
                <a:solidFill>
                  <a:srgbClr val="161723">
                    <a:alpha val="100000"/>
                  </a:srgbClr>
                </a:solidFill>
                <a:latin typeface="Inter" panose="00000700000000000000" pitchFamily="2" charset="0"/>
              </a:rPr>
              <a:t>type_demande VARCHAR(50)</a:t>
            </a:r>
          </a:p>
        </p:txBody>
      </p:sp>
      <p:pic>
        <p:nvPicPr>
          <p:cNvPr id="124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05">
            <a:alphaModFix amt="100000"/>
          </a:blip>
          <a:stretch/>
        </p:blipFill>
        <p:spPr>
          <a:xfrm>
            <a:off x="9220200" y="6737318"/>
            <a:ext cx="8153400" cy="2371725"/>
          </a:xfrm>
          <a:prstGeom prst="rect">
            <a:avLst/>
          </a:prstGeom>
        </p:spPr>
      </p:pic>
      <p:pic>
        <p:nvPicPr>
          <p:cNvPr id="125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07">
            <a:alphaModFix amt="100000"/>
          </a:blip>
          <a:stretch/>
        </p:blipFill>
        <p:spPr>
          <a:xfrm>
            <a:off x="9448800" y="6965918"/>
            <a:ext cx="342900" cy="342900"/>
          </a:xfrm>
          <a:prstGeom prst="rect">
            <a:avLst/>
          </a:prstGeom>
        </p:spPr>
      </p:pic>
      <p:sp>
        <p:nvSpPr>
          <p:cNvPr id="1252" name="-5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561290" y="6983063"/>
            <a:ext cx="147638" cy="3143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1620" dirty="0">
                <a:solidFill>
                  <a:srgbClr val="FFFFFF">
                    <a:alpha val="100000"/>
                  </a:srgbClr>
                </a:solidFill>
                <a:latin typeface="Archivo" panose="00000700000000000000" pitchFamily="2" charset="0"/>
              </a:rPr>
              <a:t>6</a:t>
            </a:r>
          </a:p>
        </p:txBody>
      </p:sp>
      <p:sp>
        <p:nvSpPr>
          <p:cNvPr id="1254" name="Primary Heading-5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982200" y="6965918"/>
            <a:ext cx="7196138" cy="5524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4260"/>
              </a:lnSpc>
            </a:pPr>
            <a:r>
              <a:rPr lang="en-US" sz="3000" spc="-52" dirty="0">
                <a:solidFill>
                  <a:srgbClr val="161723">
                    <a:alpha val="100000"/>
                  </a:srgbClr>
                </a:solidFill>
                <a:latin typeface="Inter SemiBold" panose="00000700000000000000" pitchFamily="2" charset="0"/>
              </a:rPr>
              <a:t>priorité — Niveau d'urgence</a:t>
            </a:r>
          </a:p>
        </p:txBody>
      </p:sp>
      <p:sp>
        <p:nvSpPr>
          <p:cNvPr id="1256" name="Description of a primary heading-5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982200" y="7583138"/>
            <a:ext cx="7196138" cy="4381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408"/>
              </a:lnSpc>
            </a:pPr>
            <a:r>
              <a:rPr lang="en-US" sz="2400" spc="-36" dirty="0">
                <a:solidFill>
                  <a:srgbClr val="161723">
                    <a:alpha val="100000"/>
                  </a:srgbClr>
                </a:solidFill>
                <a:latin typeface="Inter" panose="00000700000000000000" pitchFamily="2" charset="0"/>
              </a:rPr>
              <a:t>Guide l'ordre de traitement</a:t>
            </a:r>
          </a:p>
        </p:txBody>
      </p:sp>
      <p:sp>
        <p:nvSpPr>
          <p:cNvPr id="1258" name="Description of a primary heading-5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982200" y="8015954"/>
            <a:ext cx="7196138" cy="4381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408"/>
              </a:lnSpc>
            </a:pPr>
            <a:r>
              <a:rPr lang="en-US" sz="2400" spc="-36" dirty="0">
                <a:solidFill>
                  <a:srgbClr val="161723">
                    <a:alpha val="100000"/>
                  </a:srgbClr>
                </a:solidFill>
                <a:latin typeface="Inter" panose="00000700000000000000" pitchFamily="2" charset="0"/>
              </a:rPr>
              <a:t> </a:t>
            </a:r>
            <a:r>
              <a:rPr lang="en-US" sz="2400" b="1" spc="-36" dirty="0">
                <a:solidFill>
                  <a:srgbClr val="161723"/>
                </a:solidFill>
                <a:latin typeface="Inter" panose="00000700000000000000" pitchFamily="2" charset="0"/>
              </a:rPr>
              <a:t>priorite VARCHAR(20)</a:t>
            </a:r>
          </a:p>
        </p:txBody>
      </p:sp>
      <p:sp>
        <p:nvSpPr>
          <p:cNvPr id="1260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876300"/>
            <a:ext cx="12682538" cy="6953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5376"/>
              </a:lnSpc>
            </a:pPr>
            <a:r>
              <a:rPr lang="en-US" sz="4200" spc="-105" dirty="0">
                <a:solidFill>
                  <a:srgbClr val="161723">
                    <a:alpha val="100000"/>
                  </a:srgbClr>
                </a:solidFill>
                <a:latin typeface="Inter" panose="00000700000000000000" pitchFamily="2" charset="0"/>
              </a:rPr>
              <a:t>Données clés d'un </a:t>
            </a:r>
            <a:r>
              <a:rPr lang="en-US" sz="4200" b="1" spc="-105" dirty="0">
                <a:solidFill>
                  <a:srgbClr val="161723"/>
                </a:solidFill>
                <a:latin typeface="Inter" panose="00000700000000000000" pitchFamily="2" charset="0"/>
              </a:rPr>
              <a:t>ticket</a:t>
            </a:r>
          </a:p>
        </p:txBody>
      </p:sp>
      <p:sp>
        <p:nvSpPr>
          <p:cNvPr id="1262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1676400"/>
            <a:ext cx="1268253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1800" spc="-36" dirty="0">
                <a:solidFill>
                  <a:srgbClr val="27395D">
                    <a:alpha val="100000"/>
                  </a:srgbClr>
                </a:solidFill>
                <a:latin typeface="Inter" panose="00000700000000000000" pitchFamily="2" charset="0"/>
              </a:rPr>
              <a:t>Attributs essentiels pour suivi et triage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15.xml><?xml version="1.0" encoding="utf-8"?>
<p:sld xmlns:a16="http://schemas.microsoft.com/office/drawing/2014/main" xmlns:asvg="http://schemas.microsoft.com/office/drawing/2016/SVG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11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26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13">
            <a:alphaModFix amt="100000"/>
          </a:blip>
          <a:stretch/>
        </p:blipFill>
        <p:spPr>
          <a:xfrm>
            <a:off x="14630400" y="0"/>
            <a:ext cx="3657600" cy="914400"/>
          </a:xfrm>
          <a:prstGeom prst="rect">
            <a:avLst/>
          </a:prstGeom>
        </p:spPr>
      </p:pic>
      <p:pic>
        <p:nvPicPr>
          <p:cNvPr id="1268" name="ipad-landscape-Layer_1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16">
            <a:alphaModFix amt="100000"/>
            <a:extLst>
              <a:ext uri="{4EEC51A9-76D2-479B-AB98-EBC507B6138B}">
                <asvg:svgBlip xmlns:r="http://schemas.openxmlformats.org/officeDocument/2006/relationships" xmlns:asvg="http://schemas.microsoft.com/office/drawing/2016/SVG/main" r:embed="rId515"/>
                <a14:useLocalDpi xmlns:a14="http://schemas.microsoft.com/office/drawing/2010/main" val="0"/>
              </a:ext>
            </a:extLst>
          </a:blip>
          <a:srcRect l="0" t="0" r="0" b="0"/>
          <a:stretch/>
        </p:blipFill>
        <p:spPr>
          <a:xfrm>
            <a:off x="5845225" y="3510856"/>
            <a:ext cx="6597288" cy="4827283"/>
          </a:xfrm>
          <a:prstGeom prst="rect">
            <a:avLst/>
          </a:prstGeom>
        </p:spPr>
      </p:pic>
      <p:sp>
        <p:nvSpPr>
          <p:cNvPr id="1270" name="imageNode0">
            <a:extLst>
              <a:ext uri="{FF2B5EF4-FFF2-40B4-BE49-F238E27FC236}">
                <a16:creationId xmlns:a16="http://schemas.microsoft.com/office/drawing/2014/main" id="{7FE0DFEB-0BAD-D23A-1B58-081BA55AEF1A}"/>
              </a:ext>
            </a:extLst>
          </p:cNvPr>
          <p:cNvSpPr/>
          <p:nvPr/>
        </p:nvSpPr>
        <p:spPr>
          <a:xfrm>
            <a:off x="6286500" y="3754487"/>
            <a:ext cx="5804234" cy="4057217"/>
          </a:xfrm>
          <a:custGeom>
            <a:avLst/>
            <a:gdLst>
              <a:gd name="connsiteX0" fmla="*/ 4716780 w 4812030"/>
              <a:gd name="connsiteY0" fmla="*/ 0 h 3365468"/>
              <a:gd name="connsiteX1" fmla="*/ 4812030 w 4812030"/>
              <a:gd name="connsiteY1" fmla="*/ 95250 h 3365468"/>
              <a:gd name="connsiteX2" fmla="*/ 4812030 w 4812030"/>
              <a:gd name="connsiteY2" fmla="*/ 3270218 h 3365468"/>
              <a:gd name="connsiteX3" fmla="*/ 4716780 w 4812030"/>
              <a:gd name="connsiteY3" fmla="*/ 3365468 h 3365468"/>
              <a:gd name="connsiteX4" fmla="*/ 95250 w 4812030"/>
              <a:gd name="connsiteY4" fmla="*/ 3365468 h 3365468"/>
              <a:gd name="connsiteX5" fmla="*/ 0 w 4812030"/>
              <a:gd name="connsiteY5" fmla="*/ 3270218 h 3365468"/>
              <a:gd name="connsiteX6" fmla="*/ 0 w 4812030"/>
              <a:gd name="connsiteY6" fmla="*/ 95250 h 3365468"/>
              <a:gd name="connsiteX7" fmla="*/ 95250 w 4812030"/>
              <a:gd name="connsiteY7" fmla="*/ 0 h 3365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812030" h="3365468">
                <a:moveTo>
                  <a:pt x="4716780" y="0"/>
                </a:moveTo>
                <a:cubicBezTo>
                  <a:pt x="4769385" y="0"/>
                  <a:pt x="4812030" y="42645"/>
                  <a:pt x="4812030" y="95250"/>
                </a:cubicBezTo>
                <a:lnTo>
                  <a:pt x="4812030" y="3270218"/>
                </a:lnTo>
                <a:cubicBezTo>
                  <a:pt x="4812030" y="3322824"/>
                  <a:pt x="4769385" y="3365468"/>
                  <a:pt x="4716780" y="3365468"/>
                </a:cubicBezTo>
                <a:lnTo>
                  <a:pt x="95250" y="3365468"/>
                </a:lnTo>
                <a:cubicBezTo>
                  <a:pt x="42645" y="3365468"/>
                  <a:pt x="0" y="3322824"/>
                  <a:pt x="0" y="3270218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blipFill rotWithShape="1">
            <a:blip r:embed="rId517">
              <a:alphaModFix amt="100000"/>
            </a:blip>
            <a:srcRect l="0" t="0" r="0" b="0"/>
            <a:stretch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pic>
        <p:nvPicPr>
          <p:cNvPr id="1272" name="imageNode0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519">
            <a:alphaModFix amt="100000"/>
          </a:blip>
          <a:stretch/>
        </p:blipFill>
        <p:spPr>
          <a:xfrm>
            <a:off x="4260342" y="3893820"/>
            <a:ext cx="971550" cy="971550"/>
          </a:xfrm>
          <a:prstGeom prst="rect">
            <a:avLst/>
          </a:prstGeom>
        </p:spPr>
      </p:pic>
      <p:sp>
        <p:nvSpPr>
          <p:cNvPr id="1274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6114" y="3180302"/>
            <a:ext cx="3148012" cy="4381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3408"/>
              </a:lnSpc>
            </a:pPr>
            <a:r>
              <a:rPr lang="en-US" sz="2400" spc="-52" dirty="0">
                <a:solidFill>
                  <a:srgbClr val="161723">
                    <a:alpha val="100000"/>
                  </a:srgbClr>
                </a:solidFill>
                <a:latin typeface="Inter SemiBold" panose="00000700000000000000" pitchFamily="2" charset="0"/>
              </a:rPr>
              <a:t>Génération de tickets</a:t>
            </a:r>
          </a:p>
        </p:txBody>
      </p:sp>
      <p:sp>
        <p:nvSpPr>
          <p:cNvPr id="1276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6114" y="3689223"/>
            <a:ext cx="3148012" cy="19050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2982"/>
              </a:lnSpc>
            </a:pPr>
            <a:r>
              <a:rPr lang="en-US" sz="2100" spc="-36" dirty="0">
                <a:solidFill>
                  <a:srgbClr val="161723">
                    <a:alpha val="100000"/>
                  </a:srgbClr>
                </a:solidFill>
                <a:latin typeface="Inter" panose="00000700000000000000" pitchFamily="2" charset="0"/>
              </a:rPr>
              <a:t>Composant Python produisant événements de tickets (création, mise à jour, fermeture) avec schéma structuré.</a:t>
            </a:r>
          </a:p>
        </p:txBody>
      </p:sp>
      <p:pic>
        <p:nvPicPr>
          <p:cNvPr id="1278" name="imageNode1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521">
            <a:alphaModFix amt="100000"/>
          </a:blip>
          <a:stretch/>
        </p:blipFill>
        <p:spPr>
          <a:xfrm>
            <a:off x="4260342" y="6790468"/>
            <a:ext cx="971550" cy="971550"/>
          </a:xfrm>
          <a:prstGeom prst="rect">
            <a:avLst/>
          </a:prstGeom>
        </p:spPr>
      </p:pic>
      <p:sp>
        <p:nvSpPr>
          <p:cNvPr id="1280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6114" y="5887593"/>
            <a:ext cx="3148012" cy="4381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3408"/>
              </a:lnSpc>
            </a:pPr>
            <a:r>
              <a:rPr lang="en-US" sz="2400" spc="-52" dirty="0">
                <a:solidFill>
                  <a:srgbClr val="161723">
                    <a:alpha val="100000"/>
                  </a:srgbClr>
                </a:solidFill>
                <a:latin typeface="Inter SemiBold" panose="00000700000000000000" pitchFamily="2" charset="0"/>
              </a:rPr>
              <a:t>Ingestion temps réel</a:t>
            </a:r>
          </a:p>
        </p:txBody>
      </p:sp>
      <p:sp>
        <p:nvSpPr>
          <p:cNvPr id="1282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6114" y="6396514"/>
            <a:ext cx="3148012" cy="22860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2982"/>
              </a:lnSpc>
            </a:pPr>
            <a:r>
              <a:rPr lang="en-US" sz="2100" spc="-36" dirty="0">
                <a:solidFill>
                  <a:srgbClr val="161723">
                    <a:alpha val="100000"/>
                  </a:srgbClr>
                </a:solidFill>
                <a:latin typeface="Inter" panose="00000700000000000000" pitchFamily="2" charset="0"/>
              </a:rPr>
              <a:t>Redpanda comme bus d'événements résilient et faible latence pour transporter les messages entre producteurs et consommateurs.</a:t>
            </a:r>
          </a:p>
        </p:txBody>
      </p:sp>
      <p:pic>
        <p:nvPicPr>
          <p:cNvPr id="1284" name="imageNode2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523">
            <a:alphaModFix amt="100000"/>
          </a:blip>
          <a:stretch/>
        </p:blipFill>
        <p:spPr>
          <a:xfrm>
            <a:off x="13052203" y="4083177"/>
            <a:ext cx="971550" cy="971550"/>
          </a:xfrm>
          <a:prstGeom prst="rect">
            <a:avLst/>
          </a:prstGeom>
        </p:spPr>
      </p:pic>
      <p:sp>
        <p:nvSpPr>
          <p:cNvPr id="1286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4256163" y="3342608"/>
            <a:ext cx="3148012" cy="8763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408"/>
              </a:lnSpc>
            </a:pPr>
            <a:r>
              <a:rPr lang="en-US" sz="2400" spc="-52" dirty="0">
                <a:solidFill>
                  <a:srgbClr val="161723">
                    <a:alpha val="100000"/>
                  </a:srgbClr>
                </a:solidFill>
                <a:latin typeface="Inter SemiBold" panose="00000700000000000000" pitchFamily="2" charset="0"/>
              </a:rPr>
              <a:t>Traitement et transformation</a:t>
            </a:r>
          </a:p>
        </p:txBody>
      </p:sp>
      <p:sp>
        <p:nvSpPr>
          <p:cNvPr id="1288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4256163" y="4284345"/>
            <a:ext cx="3148012" cy="15240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982"/>
              </a:lnSpc>
            </a:pPr>
            <a:r>
              <a:rPr lang="en-US" sz="2100" spc="-36" dirty="0">
                <a:solidFill>
                  <a:srgbClr val="161723">
                    <a:alpha val="100000"/>
                  </a:srgbClr>
                </a:solidFill>
                <a:latin typeface="Inter" panose="00000700000000000000" pitchFamily="2" charset="0"/>
              </a:rPr>
              <a:t>Consommateur Python qui enrichit, filtre et prépare les données avant persistance.</a:t>
            </a:r>
          </a:p>
        </p:txBody>
      </p:sp>
      <p:pic>
        <p:nvPicPr>
          <p:cNvPr id="1290" name="imageNode3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525">
            <a:alphaModFix amt="100000"/>
          </a:blip>
          <a:stretch/>
        </p:blipFill>
        <p:spPr>
          <a:xfrm>
            <a:off x="13052203" y="6817424"/>
            <a:ext cx="971550" cy="971550"/>
          </a:xfrm>
          <a:prstGeom prst="rect">
            <a:avLst/>
          </a:prstGeom>
        </p:spPr>
      </p:pic>
      <p:sp>
        <p:nvSpPr>
          <p:cNvPr id="1292" name="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4256163" y="6103906"/>
            <a:ext cx="3148012" cy="4381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408"/>
              </a:lnSpc>
            </a:pPr>
            <a:r>
              <a:rPr lang="en-US" sz="2400" spc="-52" dirty="0">
                <a:solidFill>
                  <a:srgbClr val="161723">
                    <a:alpha val="100000"/>
                  </a:srgbClr>
                </a:solidFill>
                <a:latin typeface="Inter SemiBold" panose="00000700000000000000" pitchFamily="2" charset="0"/>
              </a:rPr>
              <a:t>Stockage en base</a:t>
            </a:r>
          </a:p>
        </p:txBody>
      </p:sp>
      <p:sp>
        <p:nvSpPr>
          <p:cNvPr id="1294" name="Description of a 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4256163" y="6612922"/>
            <a:ext cx="3148012" cy="19050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982"/>
              </a:lnSpc>
            </a:pPr>
            <a:r>
              <a:rPr lang="en-US" sz="2100" spc="-36" dirty="0">
                <a:solidFill>
                  <a:srgbClr val="161723">
                    <a:alpha val="100000"/>
                  </a:srgbClr>
                </a:solidFill>
                <a:latin typeface="Inter" panose="00000700000000000000" pitchFamily="2" charset="0"/>
              </a:rPr>
              <a:t>MySQL pour stockage relationnel durable des tickets, requêtes analytiques et intégrité transactionnelle.</a:t>
            </a:r>
          </a:p>
        </p:txBody>
      </p:sp>
      <p:sp>
        <p:nvSpPr>
          <p:cNvPr id="1296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885825"/>
            <a:ext cx="12682538" cy="6000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4608"/>
              </a:lnSpc>
            </a:pPr>
            <a:r>
              <a:rPr lang="en-US" sz="3600" spc="-105" dirty="0">
                <a:solidFill>
                  <a:srgbClr val="161723">
                    <a:alpha val="100000"/>
                  </a:srgbClr>
                </a:solidFill>
                <a:latin typeface="Inter" panose="00000700000000000000" pitchFamily="2" charset="0"/>
              </a:rPr>
              <a:t>Pipeline streaming : Python → Redpanda → Python → MySQL</a:t>
            </a:r>
          </a:p>
        </p:txBody>
      </p:sp>
      <p:sp>
        <p:nvSpPr>
          <p:cNvPr id="1298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1600200"/>
            <a:ext cx="12682538" cy="3905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982"/>
              </a:lnSpc>
            </a:pPr>
            <a:r>
              <a:rPr lang="en-US" sz="2100" spc="-36" dirty="0">
                <a:solidFill>
                  <a:srgbClr val="27395D">
                    <a:alpha val="100000"/>
                  </a:srgbClr>
                </a:solidFill>
                <a:latin typeface="Inter" panose="00000700000000000000" pitchFamily="2" charset="0"/>
              </a:rPr>
              <a:t>Déroulé du mini POC :</a:t>
            </a:r>
            <a:r>
              <a:rPr lang="en-US" sz="2100" b="1" spc="-36" dirty="0">
                <a:solidFill>
                  <a:srgbClr val="4D5D27"/>
                </a:solidFill>
                <a:latin typeface="Inter" panose="00000700000000000000" pitchFamily="2" charset="0"/>
              </a:rPr>
              <a:t> 1168 tickets 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16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29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30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31">
            <a:alphaModFix amt="100000"/>
          </a:blip>
          <a:stretch/>
        </p:blipFill>
        <p:spPr>
          <a:xfrm>
            <a:off x="14630400" y="0"/>
            <a:ext cx="3657600" cy="914400"/>
          </a:xfrm>
          <a:prstGeom prst="rect">
            <a:avLst/>
          </a:prstGeom>
        </p:spPr>
      </p:pic>
      <p:pic>
        <p:nvPicPr>
          <p:cNvPr id="1304" name="svg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33">
            <a:alphaModFix amt="100000"/>
          </a:blip>
          <a:stretch/>
        </p:blipFill>
        <p:spPr>
          <a:xfrm>
            <a:off x="0" y="2781300"/>
            <a:ext cx="18288000" cy="6629400"/>
          </a:xfrm>
          <a:prstGeom prst="rect">
            <a:avLst/>
          </a:prstGeom>
        </p:spPr>
      </p:pic>
      <p:sp>
        <p:nvSpPr>
          <p:cNvPr id="1305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851565" y="2933700"/>
            <a:ext cx="4176712" cy="3905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982"/>
              </a:lnSpc>
            </a:pPr>
            <a:r>
              <a:rPr lang="en-US" sz="2100" spc="-52" dirty="0">
                <a:solidFill>
                  <a:srgbClr val="FFFFFF">
                    <a:alpha val="100000"/>
                  </a:srgbClr>
                </a:solidFill>
                <a:latin typeface="Inter SemiBold" panose="00000700000000000000" pitchFamily="2" charset="0"/>
              </a:rPr>
              <a:t>Producer Python</a:t>
            </a:r>
          </a:p>
        </p:txBody>
      </p:sp>
      <p:sp>
        <p:nvSpPr>
          <p:cNvPr id="1306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851565" y="3388614"/>
            <a:ext cx="4176712" cy="8667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244"/>
              </a:lnSpc>
            </a:pPr>
            <a:r>
              <a:rPr lang="en-US" sz="1650" spc="-33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Génère tickets JSON (ticket_id, client_id, created_at, type_demande, priorite) et publie sur topic client_tickets</a:t>
            </a:r>
          </a:p>
        </p:txBody>
      </p:sp>
      <p:sp>
        <p:nvSpPr>
          <p:cNvPr id="1307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4461891" y="7739920"/>
            <a:ext cx="4176712" cy="3905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982"/>
              </a:lnSpc>
            </a:pPr>
            <a:r>
              <a:rPr lang="en-US" sz="2100" spc="-52" dirty="0">
                <a:solidFill>
                  <a:srgbClr val="FFFFFF">
                    <a:alpha val="100000"/>
                  </a:srgbClr>
                </a:solidFill>
                <a:latin typeface="Inter SemiBold" panose="00000700000000000000" pitchFamily="2" charset="0"/>
              </a:rPr>
              <a:t>Redpanda</a:t>
            </a:r>
          </a:p>
        </p:txBody>
      </p:sp>
      <p:sp>
        <p:nvSpPr>
          <p:cNvPr id="1308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4461891" y="8194834"/>
            <a:ext cx="4176712" cy="8667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244"/>
              </a:lnSpc>
            </a:pPr>
            <a:r>
              <a:rPr lang="en-US" sz="1650" spc="-33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Stockage temps réel du topic client_tickets avec 3 partitions pour persistance et scalabilité</a:t>
            </a:r>
          </a:p>
        </p:txBody>
      </p:sp>
      <p:sp>
        <p:nvSpPr>
          <p:cNvPr id="1309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072217" y="2933700"/>
            <a:ext cx="4176712" cy="3905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982"/>
              </a:lnSpc>
            </a:pPr>
            <a:r>
              <a:rPr lang="en-US" sz="2100" spc="-52" dirty="0">
                <a:solidFill>
                  <a:srgbClr val="FFFFFF">
                    <a:alpha val="100000"/>
                  </a:srgbClr>
                </a:solidFill>
                <a:latin typeface="Inter SemiBold" panose="00000700000000000000" pitchFamily="2" charset="0"/>
              </a:rPr>
              <a:t>Spark Streaming</a:t>
            </a:r>
          </a:p>
        </p:txBody>
      </p:sp>
      <p:sp>
        <p:nvSpPr>
          <p:cNvPr id="1310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072217" y="3388614"/>
            <a:ext cx="4176712" cy="8667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244"/>
              </a:lnSpc>
            </a:pPr>
            <a:r>
              <a:rPr lang="en-US" sz="1650" spc="-33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Lecture Kafka via .readStream.format("kafka") et parsing JSON en DataFrame PySpark</a:t>
            </a:r>
          </a:p>
        </p:txBody>
      </p:sp>
      <p:sp>
        <p:nvSpPr>
          <p:cNvPr id="1311" name="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682639" y="7739920"/>
            <a:ext cx="4176712" cy="3905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982"/>
              </a:lnSpc>
            </a:pPr>
            <a:r>
              <a:rPr lang="en-US" sz="2100" spc="-52" dirty="0">
                <a:solidFill>
                  <a:srgbClr val="FFFFFF">
                    <a:alpha val="100000"/>
                  </a:srgbClr>
                </a:solidFill>
                <a:latin typeface="Inter SemiBold" panose="00000700000000000000" pitchFamily="2" charset="0"/>
              </a:rPr>
              <a:t>Transformations</a:t>
            </a:r>
          </a:p>
        </p:txBody>
      </p:sp>
      <p:sp>
        <p:nvSpPr>
          <p:cNvPr id="1312" name="Description of a 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682639" y="8194834"/>
            <a:ext cx="4176712" cy="11525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244"/>
              </a:lnSpc>
            </a:pPr>
            <a:r>
              <a:rPr lang="en-US" sz="1650" spc="-33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Enrichissement équipe (technique→Equipe Tech, facturation→Equipe Billing, compte→Equipe Account) et agrégations 1 minute</a:t>
            </a:r>
          </a:p>
        </p:txBody>
      </p:sp>
      <p:sp>
        <p:nvSpPr>
          <p:cNvPr id="1313" name="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292965" y="2933700"/>
            <a:ext cx="4176712" cy="3905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982"/>
              </a:lnSpc>
            </a:pPr>
            <a:r>
              <a:rPr lang="en-US" sz="2100" spc="-52" dirty="0">
                <a:solidFill>
                  <a:srgbClr val="FFFFFF">
                    <a:alpha val="100000"/>
                  </a:srgbClr>
                </a:solidFill>
                <a:latin typeface="Inter SemiBold" panose="00000700000000000000" pitchFamily="2" charset="0"/>
              </a:rPr>
              <a:t>Écriture MySQL</a:t>
            </a:r>
          </a:p>
        </p:txBody>
      </p:sp>
      <p:sp>
        <p:nvSpPr>
          <p:cNvPr id="1314" name="Description of a 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292965" y="3388614"/>
            <a:ext cx="4176712" cy="8667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244"/>
              </a:lnSpc>
            </a:pPr>
            <a:r>
              <a:rPr lang="en-US" sz="1650" spc="-33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Ecriture vers tables tickets_enriched et tickets_stats via .writeStream.foreachBatch avec checkpoint pour reprise</a:t>
            </a:r>
          </a:p>
        </p:txBody>
      </p:sp>
      <p:sp>
        <p:nvSpPr>
          <p:cNvPr id="1315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876300"/>
            <a:ext cx="12682538" cy="6953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5376"/>
              </a:lnSpc>
            </a:pPr>
            <a:r>
              <a:rPr lang="en-US" sz="4200" spc="-105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Pipeline streaming client tickets &amp; PySpark</a:t>
            </a:r>
          </a:p>
        </p:txBody>
      </p:sp>
      <p:sp>
        <p:nvSpPr>
          <p:cNvPr id="1317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1676400"/>
            <a:ext cx="12682538" cy="6381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1800" spc="-36" dirty="0">
                <a:solidFill>
                  <a:srgbClr val="F1F2F5">
                    <a:alpha val="100000"/>
                  </a:srgbClr>
                </a:solidFill>
                <a:latin typeface="Inter" panose="00000700000000000000" pitchFamily="2" charset="0"/>
              </a:rPr>
              <a:t>Architecture complète: génération Python, ingestion Redpanda, traitement PySpark, enrichissement et stockage MySQL avec reprise via checkpoint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17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37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32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39">
            <a:alphaModFix amt="100000"/>
          </a:blip>
          <a:stretch/>
        </p:blipFill>
        <p:spPr>
          <a:xfrm>
            <a:off x="0" y="0"/>
            <a:ext cx="6362700" cy="10287000"/>
          </a:xfrm>
          <a:prstGeom prst="rect">
            <a:avLst/>
          </a:prstGeom>
        </p:spPr>
      </p:pic>
      <p:pic>
        <p:nvPicPr>
          <p:cNvPr id="132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41">
            <a:alphaModFix amt="100000"/>
          </a:blip>
          <a:stretch/>
        </p:blipFill>
        <p:spPr>
          <a:xfrm>
            <a:off x="7315200" y="2291429"/>
            <a:ext cx="1371600" cy="1371600"/>
          </a:xfrm>
          <a:prstGeom prst="rect">
            <a:avLst/>
          </a:prstGeom>
        </p:spPr>
      </p:pic>
      <p:pic>
        <p:nvPicPr>
          <p:cNvPr id="1326" name="iconNode0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43">
            <a:alphaModFix amt="100000"/>
          </a:blip>
          <a:stretch/>
        </p:blipFill>
        <p:spPr>
          <a:xfrm>
            <a:off x="7658100" y="2634329"/>
            <a:ext cx="685800" cy="685800"/>
          </a:xfrm>
          <a:prstGeom prst="rect">
            <a:avLst/>
          </a:prstGeom>
        </p:spPr>
      </p:pic>
      <p:sp>
        <p:nvSpPr>
          <p:cNvPr id="1328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877300" y="1669066"/>
            <a:ext cx="8529638" cy="6572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5112"/>
              </a:lnSpc>
            </a:pPr>
            <a:r>
              <a:rPr lang="en-US" sz="3600" spc="-52" dirty="0">
                <a:solidFill>
                  <a:srgbClr val="161723">
                    <a:alpha val="100000"/>
                  </a:srgbClr>
                </a:solidFill>
                <a:latin typeface="Inter SemiBold" panose="00000700000000000000" pitchFamily="2" charset="0"/>
              </a:rPr>
              <a:t>Génération des tickets</a:t>
            </a:r>
          </a:p>
        </p:txBody>
      </p:sp>
      <p:sp>
        <p:nvSpPr>
          <p:cNvPr id="1330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20759" y="2337626"/>
            <a:ext cx="8286178" cy="14668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834"/>
              </a:lnSpc>
            </a:pPr>
            <a:r>
              <a:rPr lang="en-US" sz="2700" spc="-36" dirty="0">
                <a:solidFill>
                  <a:srgbClr val="161723">
                    <a:alpha val="100000"/>
                  </a:srgbClr>
                </a:solidFill>
                <a:latin typeface="Inter" panose="00000700000000000000" pitchFamily="2" charset="0"/>
              </a:rPr>
              <a:t>Script producer_tickets.py génère tickets aléatoires avec ticket_id, client_id, date de création, demande, type, priorité</a:t>
            </a:r>
          </a:p>
        </p:txBody>
      </p:sp>
      <p:pic>
        <p:nvPicPr>
          <p:cNvPr id="1332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45">
            <a:alphaModFix amt="100000"/>
          </a:blip>
          <a:stretch/>
        </p:blipFill>
        <p:spPr>
          <a:xfrm>
            <a:off x="8877300" y="2532412"/>
            <a:ext cx="97334" cy="97334"/>
          </a:xfrm>
          <a:prstGeom prst="rect">
            <a:avLst/>
          </a:prstGeom>
        </p:spPr>
      </p:pic>
      <p:sp>
        <p:nvSpPr>
          <p:cNvPr id="1334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20759" y="3798284"/>
            <a:ext cx="8286178" cy="9810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834"/>
              </a:lnSpc>
            </a:pPr>
            <a:r>
              <a:rPr lang="en-US" sz="2700" spc="-36" dirty="0">
                <a:solidFill>
                  <a:srgbClr val="161723">
                    <a:alpha val="100000"/>
                  </a:srgbClr>
                </a:solidFill>
                <a:latin typeface="Inter" panose="00000700000000000000" pitchFamily="2" charset="0"/>
              </a:rPr>
              <a:t>Envoi dans topic Redpanda compatible Kafka nommé client_tickets</a:t>
            </a:r>
          </a:p>
        </p:txBody>
      </p:sp>
      <p:pic>
        <p:nvPicPr>
          <p:cNvPr id="1336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47">
            <a:alphaModFix amt="100000"/>
          </a:blip>
          <a:stretch/>
        </p:blipFill>
        <p:spPr>
          <a:xfrm>
            <a:off x="8877300" y="3993070"/>
            <a:ext cx="97334" cy="97334"/>
          </a:xfrm>
          <a:prstGeom prst="rect">
            <a:avLst/>
          </a:prstGeom>
        </p:spPr>
      </p:pic>
      <p:pic>
        <p:nvPicPr>
          <p:cNvPr id="133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49">
            <a:alphaModFix amt="100000"/>
          </a:blip>
          <a:stretch/>
        </p:blipFill>
        <p:spPr>
          <a:xfrm>
            <a:off x="7315200" y="5212366"/>
            <a:ext cx="1371600" cy="1371600"/>
          </a:xfrm>
          <a:prstGeom prst="rect">
            <a:avLst/>
          </a:prstGeom>
        </p:spPr>
      </p:pic>
      <p:pic>
        <p:nvPicPr>
          <p:cNvPr id="1340" name="iconNode1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51">
            <a:alphaModFix amt="100000"/>
          </a:blip>
          <a:stretch/>
        </p:blipFill>
        <p:spPr>
          <a:xfrm>
            <a:off x="7658100" y="5555266"/>
            <a:ext cx="685800" cy="685800"/>
          </a:xfrm>
          <a:prstGeom prst="rect">
            <a:avLst/>
          </a:prstGeom>
        </p:spPr>
      </p:pic>
      <p:sp>
        <p:nvSpPr>
          <p:cNvPr id="1342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877300" y="4590098"/>
            <a:ext cx="8529638" cy="6572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5112"/>
              </a:lnSpc>
            </a:pPr>
            <a:r>
              <a:rPr lang="en-US" sz="3600" spc="-52" dirty="0">
                <a:solidFill>
                  <a:srgbClr val="161723">
                    <a:alpha val="100000"/>
                  </a:srgbClr>
                </a:solidFill>
                <a:latin typeface="Inter SemiBold" panose="00000700000000000000" pitchFamily="2" charset="0"/>
              </a:rPr>
              <a:t>Ingestion et traitement</a:t>
            </a:r>
          </a:p>
        </p:txBody>
      </p:sp>
      <p:sp>
        <p:nvSpPr>
          <p:cNvPr id="1344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20759" y="5301329"/>
            <a:ext cx="8286178" cy="9810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834"/>
              </a:lnSpc>
            </a:pPr>
            <a:r>
              <a:rPr lang="en-US" sz="2700" spc="-36" dirty="0">
                <a:solidFill>
                  <a:srgbClr val="161723">
                    <a:alpha val="100000"/>
                  </a:srgbClr>
                </a:solidFill>
                <a:latin typeface="Inter" panose="00000700000000000000" pitchFamily="2" charset="0"/>
              </a:rPr>
              <a:t>PySpark lit le topic Redpanda et convertit JSON en DataFrame Spark</a:t>
            </a:r>
          </a:p>
        </p:txBody>
      </p:sp>
      <p:pic>
        <p:nvPicPr>
          <p:cNvPr id="1346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53">
            <a:alphaModFix amt="100000"/>
          </a:blip>
          <a:stretch/>
        </p:blipFill>
        <p:spPr>
          <a:xfrm>
            <a:off x="8877300" y="5496020"/>
            <a:ext cx="97334" cy="97334"/>
          </a:xfrm>
          <a:prstGeom prst="rect">
            <a:avLst/>
          </a:prstGeom>
        </p:spPr>
      </p:pic>
      <p:sp>
        <p:nvSpPr>
          <p:cNvPr id="1348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20759" y="6275070"/>
            <a:ext cx="8286178" cy="9810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834"/>
              </a:lnSpc>
            </a:pPr>
            <a:r>
              <a:rPr lang="en-US" sz="2700" spc="-36" dirty="0">
                <a:solidFill>
                  <a:srgbClr val="161723">
                    <a:alpha val="100000"/>
                  </a:srgbClr>
                </a:solidFill>
                <a:latin typeface="Inter" panose="00000700000000000000" pitchFamily="2" charset="0"/>
              </a:rPr>
              <a:t>Structuration via schéma défini et enrichissement des données</a:t>
            </a:r>
          </a:p>
        </p:txBody>
      </p:sp>
      <p:pic>
        <p:nvPicPr>
          <p:cNvPr id="1350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55">
            <a:alphaModFix amt="100000"/>
          </a:blip>
          <a:stretch/>
        </p:blipFill>
        <p:spPr>
          <a:xfrm>
            <a:off x="8877300" y="6469856"/>
            <a:ext cx="97334" cy="97334"/>
          </a:xfrm>
          <a:prstGeom prst="rect">
            <a:avLst/>
          </a:prstGeom>
        </p:spPr>
      </p:pic>
      <p:pic>
        <p:nvPicPr>
          <p:cNvPr id="135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57">
            <a:alphaModFix amt="100000"/>
          </a:blip>
          <a:stretch/>
        </p:blipFill>
        <p:spPr>
          <a:xfrm>
            <a:off x="7315200" y="7756017"/>
            <a:ext cx="1371600" cy="1371600"/>
          </a:xfrm>
          <a:prstGeom prst="rect">
            <a:avLst/>
          </a:prstGeom>
        </p:spPr>
      </p:pic>
      <p:pic>
        <p:nvPicPr>
          <p:cNvPr id="1354" name="iconNode2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59">
            <a:alphaModFix amt="100000"/>
          </a:blip>
          <a:stretch/>
        </p:blipFill>
        <p:spPr>
          <a:xfrm>
            <a:off x="7658100" y="8098917"/>
            <a:ext cx="685800" cy="685800"/>
          </a:xfrm>
          <a:prstGeom prst="rect">
            <a:avLst/>
          </a:prstGeom>
        </p:spPr>
      </p:pic>
      <p:sp>
        <p:nvSpPr>
          <p:cNvPr id="1356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877300" y="7511129"/>
            <a:ext cx="8529638" cy="6572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5112"/>
              </a:lnSpc>
            </a:pPr>
            <a:r>
              <a:rPr lang="en-US" sz="3600" spc="-52" dirty="0">
                <a:solidFill>
                  <a:srgbClr val="161723">
                    <a:alpha val="100000"/>
                  </a:srgbClr>
                </a:solidFill>
                <a:latin typeface="Inter SemiBold" panose="00000700000000000000" pitchFamily="2" charset="0"/>
              </a:rPr>
              <a:t>Enrichissement métier</a:t>
            </a:r>
          </a:p>
        </p:txBody>
      </p:sp>
      <p:sp>
        <p:nvSpPr>
          <p:cNvPr id="1358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877300" y="8236553"/>
            <a:ext cx="8529638" cy="11430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982"/>
              </a:lnSpc>
            </a:pPr>
            <a:r>
              <a:rPr lang="en-US" sz="2100" spc="-36" dirty="0">
                <a:solidFill>
                  <a:srgbClr val="161723">
                    <a:alpha val="100000"/>
                  </a:srgbClr>
                </a:solidFill>
                <a:latin typeface="Inter" panose="00000700000000000000" pitchFamily="2" charset="0"/>
              </a:rPr>
              <a:t>Ajout automatique d une équipe support selon type de demandeRègles: technique -</a:t>
            </a:r>
            <a:r>
              <a:rPr lang="en-US" sz="2100" spc="-36" dirty="0">
                <a:solidFill>
                  <a:srgbClr val="161723"/>
                </a:solidFill>
                <a:latin typeface="Inter" panose="00000700000000000000" pitchFamily="2" charset="0"/>
              </a:rPr>
              <a:t> Équipe technique</a:t>
            </a:r>
            <a:r>
              <a:rPr lang="en-US" sz="2100" spc="-36" dirty="0">
                <a:solidFill>
                  <a:srgbClr val="161723"/>
                </a:solidFill>
                <a:latin typeface="Inter" panose="00000700000000000000" pitchFamily="2" charset="0"/>
              </a:rPr>
              <a:t> facturation -</a:t>
            </a:r>
            <a:r>
              <a:rPr lang="en-US" sz="2100" spc="-36" dirty="0">
                <a:solidFill>
                  <a:srgbClr val="161723"/>
                </a:solidFill>
                <a:latin typeface="Inter" panose="00000700000000000000" pitchFamily="2" charset="0"/>
              </a:rPr>
              <a:t> Équipe facturation</a:t>
            </a:r>
            <a:r>
              <a:rPr lang="en-US" sz="2100" spc="-36" dirty="0">
                <a:solidFill>
                  <a:srgbClr val="161723"/>
                </a:solidFill>
                <a:latin typeface="Inter" panose="00000700000000000000" pitchFamily="2" charset="0"/>
              </a:rPr>
              <a:t> compte -</a:t>
            </a:r>
            <a:r>
              <a:rPr lang="en-US" sz="2100" spc="-36" dirty="0">
                <a:solidFill>
                  <a:srgbClr val="161723"/>
                </a:solidFill>
                <a:latin typeface="Inter" panose="00000700000000000000" pitchFamily="2" charset="0"/>
              </a:rPr>
              <a:t> Équipe compte</a:t>
            </a:r>
          </a:p>
        </p:txBody>
      </p:sp>
      <p:sp>
        <p:nvSpPr>
          <p:cNvPr id="1360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52500" y="886968"/>
            <a:ext cx="4491038" cy="13620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5376"/>
              </a:lnSpc>
            </a:pPr>
            <a:r>
              <a:rPr lang="en-US" sz="4200" spc="-105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POC: pipeline de tickets clients</a:t>
            </a:r>
          </a:p>
        </p:txBody>
      </p:sp>
      <p:sp>
        <p:nvSpPr>
          <p:cNvPr id="1362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52500" y="2438400"/>
            <a:ext cx="4491038" cy="12858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1800" spc="-36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Déployer un pipeline temps réel simulant la gestion de tickets avec Redpanda, PySpark et MySQL pour ingestion, transformation et enrichissement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18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63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36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65">
            <a:alphaModFix amt="100000"/>
          </a:blip>
          <a:stretch/>
        </p:blipFill>
        <p:spPr>
          <a:xfrm>
            <a:off x="14630400" y="0"/>
            <a:ext cx="3657600" cy="914400"/>
          </a:xfrm>
          <a:prstGeom prst="rect">
            <a:avLst/>
          </a:prstGeom>
        </p:spPr>
      </p:pic>
      <p:pic>
        <p:nvPicPr>
          <p:cNvPr id="1368" name="svg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67">
            <a:alphaModFix amt="100000"/>
          </a:blip>
          <a:stretch/>
        </p:blipFill>
        <p:spPr>
          <a:xfrm>
            <a:off x="914400" y="2819400"/>
            <a:ext cx="16459200" cy="6553200"/>
          </a:xfrm>
          <a:prstGeom prst="rect">
            <a:avLst/>
          </a:prstGeom>
        </p:spPr>
      </p:pic>
      <p:sp>
        <p:nvSpPr>
          <p:cNvPr id="1369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3922681"/>
            <a:ext cx="4938712" cy="3905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2982"/>
              </a:lnSpc>
            </a:pPr>
            <a:r>
              <a:rPr lang="en-US" sz="2100" spc="-52" dirty="0">
                <a:solidFill>
                  <a:srgbClr val="161723">
                    <a:alpha val="100000"/>
                  </a:srgbClr>
                </a:solidFill>
                <a:latin typeface="Inter SemiBold" panose="00000700000000000000" pitchFamily="2" charset="0"/>
              </a:rPr>
              <a:t>Python Producer</a:t>
            </a:r>
          </a:p>
        </p:txBody>
      </p:sp>
      <p:sp>
        <p:nvSpPr>
          <p:cNvPr id="1370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4377595"/>
            <a:ext cx="4938712" cy="9810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2556"/>
              </a:lnSpc>
            </a:pPr>
            <a:r>
              <a:rPr lang="en-US" sz="1800" spc="-36" dirty="0">
                <a:solidFill>
                  <a:srgbClr val="161723">
                    <a:alpha val="100000"/>
                  </a:srgbClr>
                </a:solidFill>
                <a:latin typeface="Inter" panose="00000700000000000000" pitchFamily="2" charset="0"/>
              </a:rPr>
              <a:t>Producteur Python qui publie les événements de tickets vers le topic Redpanda en temps réel.</a:t>
            </a:r>
          </a:p>
        </p:txBody>
      </p:sp>
      <p:sp>
        <p:nvSpPr>
          <p:cNvPr id="1371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6210" y="7002780"/>
            <a:ext cx="6119812" cy="3905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2982"/>
              </a:lnSpc>
            </a:pPr>
            <a:r>
              <a:rPr lang="en-US" sz="2100" spc="-52" dirty="0">
                <a:solidFill>
                  <a:srgbClr val="161723">
                    <a:alpha val="100000"/>
                  </a:srgbClr>
                </a:solidFill>
                <a:latin typeface="Inter SemiBold" panose="00000700000000000000" pitchFamily="2" charset="0"/>
              </a:rPr>
              <a:t>Redpanda (topic tickets)</a:t>
            </a:r>
          </a:p>
        </p:txBody>
      </p:sp>
      <p:sp>
        <p:nvSpPr>
          <p:cNvPr id="1372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6210" y="7457694"/>
            <a:ext cx="6119812" cy="6572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2556"/>
              </a:lnSpc>
            </a:pPr>
            <a:r>
              <a:rPr lang="en-US" sz="1800" spc="-36" dirty="0">
                <a:solidFill>
                  <a:srgbClr val="161723">
                    <a:alpha val="100000"/>
                  </a:srgbClr>
                </a:solidFill>
                <a:latin typeface="Inter" panose="00000700000000000000" pitchFamily="2" charset="0"/>
              </a:rPr>
              <a:t>Broker de streaming qui stocke le topic tickets et sert de tampon pour la consommation par PySpark.</a:t>
            </a:r>
          </a:p>
        </p:txBody>
      </p:sp>
      <p:sp>
        <p:nvSpPr>
          <p:cNvPr id="1373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288363" y="7002780"/>
            <a:ext cx="6119812" cy="3905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982"/>
              </a:lnSpc>
            </a:pPr>
            <a:r>
              <a:rPr lang="en-US" sz="2100" spc="-52" dirty="0">
                <a:solidFill>
                  <a:srgbClr val="161723">
                    <a:alpha val="100000"/>
                  </a:srgbClr>
                </a:solidFill>
                <a:latin typeface="Inter SemiBold" panose="00000700000000000000" pitchFamily="2" charset="0"/>
              </a:rPr>
              <a:t>PySpark</a:t>
            </a:r>
          </a:p>
        </p:txBody>
      </p:sp>
      <p:sp>
        <p:nvSpPr>
          <p:cNvPr id="1374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288363" y="7457694"/>
            <a:ext cx="6119812" cy="6572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1800" spc="-36" dirty="0">
                <a:solidFill>
                  <a:srgbClr val="161723">
                    <a:alpha val="100000"/>
                  </a:srgbClr>
                </a:solidFill>
                <a:latin typeface="Inter" panose="00000700000000000000" pitchFamily="2" charset="0"/>
              </a:rPr>
              <a:t>Traitements de transformation et d'analyse des données de tickets: nettoyage, enrichissement et agrégations.</a:t>
            </a:r>
          </a:p>
        </p:txBody>
      </p:sp>
      <p:sp>
        <p:nvSpPr>
          <p:cNvPr id="1375" name="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463939" y="4085082"/>
            <a:ext cx="4938712" cy="3905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982"/>
              </a:lnSpc>
            </a:pPr>
            <a:r>
              <a:rPr lang="en-US" sz="2100" spc="-52" dirty="0">
                <a:solidFill>
                  <a:srgbClr val="161723">
                    <a:alpha val="100000"/>
                  </a:srgbClr>
                </a:solidFill>
                <a:latin typeface="Inter SemiBold" panose="00000700000000000000" pitchFamily="2" charset="0"/>
              </a:rPr>
              <a:t>MySQL</a:t>
            </a:r>
          </a:p>
        </p:txBody>
      </p:sp>
      <p:sp>
        <p:nvSpPr>
          <p:cNvPr id="1376" name="Description of a 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463939" y="4539901"/>
            <a:ext cx="4938712" cy="6572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1800" spc="-36" dirty="0">
                <a:solidFill>
                  <a:srgbClr val="161723">
                    <a:alpha val="100000"/>
                  </a:srgbClr>
                </a:solidFill>
                <a:latin typeface="Inter" panose="00000700000000000000" pitchFamily="2" charset="0"/>
              </a:rPr>
              <a:t>Stockage final des résultats analytiques dans des tables MySQL pour requêtes et rapports.</a:t>
            </a:r>
          </a:p>
        </p:txBody>
      </p:sp>
      <p:sp>
        <p:nvSpPr>
          <p:cNvPr id="1377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876300"/>
            <a:ext cx="12682538" cy="6953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5376"/>
              </a:lnSpc>
            </a:pPr>
            <a:r>
              <a:rPr lang="en-US" sz="4200" spc="-105" dirty="0">
                <a:solidFill>
                  <a:srgbClr val="452E5A">
                    <a:alpha val="100000"/>
                  </a:srgbClr>
                </a:solidFill>
                <a:latin typeface="Inter" panose="00000700000000000000" pitchFamily="2" charset="0"/>
              </a:rPr>
              <a:t>Pipeline de traitement de tickets</a:t>
            </a:r>
          </a:p>
        </p:txBody>
      </p:sp>
      <p:sp>
        <p:nvSpPr>
          <p:cNvPr id="1379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1676400"/>
            <a:ext cx="12682538" cy="6381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1800" spc="-36" dirty="0">
                <a:solidFill>
                  <a:srgbClr val="6E6E74">
                    <a:alpha val="100000"/>
                  </a:srgbClr>
                </a:solidFill>
                <a:latin typeface="Inter" panose="00000700000000000000" pitchFamily="2" charset="0"/>
              </a:rPr>
              <a:t>Flux simple de production de données: ingestion avec Redpanda, transformation avec PySpark, puis stockage analytique dans MySQL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19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71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38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73">
            <a:alphaModFix amt="100000"/>
          </a:blip>
          <a:stretch/>
        </p:blipFill>
        <p:spPr>
          <a:xfrm>
            <a:off x="14630400" y="0"/>
            <a:ext cx="3657600" cy="914400"/>
          </a:xfrm>
          <a:prstGeom prst="rect">
            <a:avLst/>
          </a:prstGeom>
        </p:spPr>
      </p:pic>
      <p:pic>
        <p:nvPicPr>
          <p:cNvPr id="138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75">
            <a:alphaModFix amt="100000"/>
          </a:blip>
          <a:stretch/>
        </p:blipFill>
        <p:spPr>
          <a:xfrm>
            <a:off x="914400" y="3486150"/>
            <a:ext cx="1371600" cy="1371600"/>
          </a:xfrm>
          <a:prstGeom prst="rect">
            <a:avLst/>
          </a:prstGeom>
        </p:spPr>
      </p:pic>
      <p:pic>
        <p:nvPicPr>
          <p:cNvPr id="1387" name="iconNode0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77">
            <a:alphaModFix amt="100000"/>
          </a:blip>
          <a:stretch/>
        </p:blipFill>
        <p:spPr>
          <a:xfrm>
            <a:off x="1257300" y="3829050"/>
            <a:ext cx="685800" cy="685800"/>
          </a:xfrm>
          <a:prstGeom prst="rect">
            <a:avLst/>
          </a:prstGeom>
        </p:spPr>
      </p:pic>
      <p:sp>
        <p:nvSpPr>
          <p:cNvPr id="1389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5238750"/>
            <a:ext cx="2900362" cy="7715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982"/>
              </a:lnSpc>
            </a:pPr>
            <a:r>
              <a:rPr lang="en-US" sz="2100" spc="-52" dirty="0">
                <a:solidFill>
                  <a:srgbClr val="161723">
                    <a:alpha val="100000"/>
                  </a:srgbClr>
                </a:solidFill>
                <a:latin typeface="Inter SemiBold" panose="00000700000000000000" pitchFamily="2" charset="0"/>
              </a:rPr>
              <a:t>          Analyse des tickets</a:t>
            </a:r>
          </a:p>
        </p:txBody>
      </p:sp>
      <p:pic>
        <p:nvPicPr>
          <p:cNvPr id="139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79">
            <a:alphaModFix amt="100000"/>
          </a:blip>
          <a:stretch/>
        </p:blipFill>
        <p:spPr>
          <a:xfrm>
            <a:off x="914400" y="5238750"/>
            <a:ext cx="381000" cy="381000"/>
          </a:xfrm>
          <a:prstGeom prst="rect">
            <a:avLst/>
          </a:prstGeom>
        </p:spPr>
      </p:pic>
      <p:sp>
        <p:nvSpPr>
          <p:cNvPr id="1393" name="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50703" y="5238750"/>
            <a:ext cx="138112" cy="3905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982"/>
              </a:lnSpc>
            </a:pPr>
            <a:r>
              <a:rPr lang="en-US" sz="2100" spc="-52" dirty="0">
                <a:solidFill>
                  <a:srgbClr val="161723">
                    <a:alpha val="85000"/>
                  </a:srgbClr>
                </a:solidFill>
                <a:latin typeface="Inter SemiBold" panose="00000700000000000000" pitchFamily="2" charset="0"/>
              </a:rPr>
              <a:t>1</a:t>
            </a:r>
          </a:p>
        </p:txBody>
      </p:sp>
      <p:sp>
        <p:nvSpPr>
          <p:cNvPr id="1395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6110478"/>
            <a:ext cx="2900362" cy="26098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1800" spc="-36" dirty="0">
                <a:solidFill>
                  <a:srgbClr val="161723">
                    <a:alpha val="100000"/>
                  </a:srgbClr>
                </a:solidFill>
                <a:latin typeface="Inter" panose="00000700000000000000" pitchFamily="2" charset="0"/>
              </a:rPr>
              <a:t>Agrégation réalisée avec PySpark pour produire des indicateurs métier; exemple clé: nombre de tickets par type de demande pour identifier catégories fréquentes et charge support</a:t>
            </a:r>
          </a:p>
        </p:txBody>
      </p:sp>
      <p:pic>
        <p:nvPicPr>
          <p:cNvPr id="139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81">
            <a:alphaModFix amt="100000"/>
          </a:blip>
          <a:stretch/>
        </p:blipFill>
        <p:spPr>
          <a:xfrm>
            <a:off x="4312920" y="3486150"/>
            <a:ext cx="1371600" cy="1371600"/>
          </a:xfrm>
          <a:prstGeom prst="rect">
            <a:avLst/>
          </a:prstGeom>
        </p:spPr>
      </p:pic>
      <p:pic>
        <p:nvPicPr>
          <p:cNvPr id="1399" name="iconNode1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83">
            <a:alphaModFix amt="100000"/>
          </a:blip>
          <a:stretch/>
        </p:blipFill>
        <p:spPr>
          <a:xfrm>
            <a:off x="4655820" y="3829050"/>
            <a:ext cx="685800" cy="685800"/>
          </a:xfrm>
          <a:prstGeom prst="rect">
            <a:avLst/>
          </a:prstGeom>
        </p:spPr>
      </p:pic>
      <p:sp>
        <p:nvSpPr>
          <p:cNvPr id="1401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4312920" y="5238750"/>
            <a:ext cx="2900362" cy="7715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982"/>
              </a:lnSpc>
            </a:pPr>
            <a:r>
              <a:rPr lang="en-US" sz="2100" spc="-52" dirty="0">
                <a:solidFill>
                  <a:srgbClr val="161723">
                    <a:alpha val="100000"/>
                  </a:srgbClr>
                </a:solidFill>
                <a:latin typeface="Inter SemiBold" panose="00000700000000000000" pitchFamily="2" charset="0"/>
              </a:rPr>
              <a:t>          Valeur pour le support</a:t>
            </a:r>
          </a:p>
        </p:txBody>
      </p:sp>
      <p:pic>
        <p:nvPicPr>
          <p:cNvPr id="140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85">
            <a:alphaModFix amt="100000"/>
          </a:blip>
          <a:stretch/>
        </p:blipFill>
        <p:spPr>
          <a:xfrm>
            <a:off x="4312920" y="5238750"/>
            <a:ext cx="381000" cy="381000"/>
          </a:xfrm>
          <a:prstGeom prst="rect">
            <a:avLst/>
          </a:prstGeom>
        </p:spPr>
      </p:pic>
      <p:sp>
        <p:nvSpPr>
          <p:cNvPr id="1405" name="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4422458" y="5238750"/>
            <a:ext cx="195262" cy="3905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982"/>
              </a:lnSpc>
            </a:pPr>
            <a:r>
              <a:rPr lang="en-US" sz="2100" spc="-52" dirty="0">
                <a:solidFill>
                  <a:srgbClr val="161723">
                    <a:alpha val="85000"/>
                  </a:srgbClr>
                </a:solidFill>
                <a:latin typeface="Inter SemiBold" panose="00000700000000000000" pitchFamily="2" charset="0"/>
              </a:rPr>
              <a:t>2</a:t>
            </a:r>
          </a:p>
        </p:txBody>
      </p:sp>
      <p:sp>
        <p:nvSpPr>
          <p:cNvPr id="1407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4312920" y="6110478"/>
            <a:ext cx="2900362" cy="22860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1800" spc="-36" dirty="0">
                <a:solidFill>
                  <a:srgbClr val="161723">
                    <a:alpha val="100000"/>
                  </a:srgbClr>
                </a:solidFill>
                <a:latin typeface="Inter" panose="00000700000000000000" pitchFamily="2" charset="0"/>
              </a:rPr>
              <a:t>Identification des catégories de problèmes les plus fréquentes et estimation de la charge de travail des équipes support pour priorisation et dimensionnement</a:t>
            </a:r>
          </a:p>
        </p:txBody>
      </p:sp>
      <p:pic>
        <p:nvPicPr>
          <p:cNvPr id="140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87">
            <a:alphaModFix amt="100000"/>
          </a:blip>
          <a:stretch/>
        </p:blipFill>
        <p:spPr>
          <a:xfrm>
            <a:off x="7711440" y="3486150"/>
            <a:ext cx="1371600" cy="1371600"/>
          </a:xfrm>
          <a:prstGeom prst="rect">
            <a:avLst/>
          </a:prstGeom>
        </p:spPr>
      </p:pic>
      <p:pic>
        <p:nvPicPr>
          <p:cNvPr id="1411" name="iconNode2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89">
            <a:alphaModFix amt="100000"/>
          </a:blip>
          <a:stretch/>
        </p:blipFill>
        <p:spPr>
          <a:xfrm>
            <a:off x="8054340" y="3829050"/>
            <a:ext cx="685800" cy="685800"/>
          </a:xfrm>
          <a:prstGeom prst="rect">
            <a:avLst/>
          </a:prstGeom>
        </p:spPr>
      </p:pic>
      <p:sp>
        <p:nvSpPr>
          <p:cNvPr id="1413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711440" y="5238750"/>
            <a:ext cx="2900362" cy="3905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982"/>
              </a:lnSpc>
            </a:pPr>
            <a:r>
              <a:rPr lang="en-US" sz="2100" spc="-52" dirty="0">
                <a:solidFill>
                  <a:srgbClr val="161723">
                    <a:alpha val="100000"/>
                  </a:srgbClr>
                </a:solidFill>
                <a:latin typeface="Inter SemiBold" panose="00000700000000000000" pitchFamily="2" charset="0"/>
              </a:rPr>
              <a:t>          Stockage MySQL</a:t>
            </a:r>
          </a:p>
        </p:txBody>
      </p:sp>
      <p:pic>
        <p:nvPicPr>
          <p:cNvPr id="141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91">
            <a:alphaModFix amt="100000"/>
          </a:blip>
          <a:stretch/>
        </p:blipFill>
        <p:spPr>
          <a:xfrm>
            <a:off x="7711440" y="5238750"/>
            <a:ext cx="381000" cy="381000"/>
          </a:xfrm>
          <a:prstGeom prst="rect">
            <a:avLst/>
          </a:prstGeom>
        </p:spPr>
      </p:pic>
      <p:sp>
        <p:nvSpPr>
          <p:cNvPr id="1417" name="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819263" y="5238750"/>
            <a:ext cx="195262" cy="3905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982"/>
              </a:lnSpc>
            </a:pPr>
            <a:r>
              <a:rPr lang="en-US" sz="2100" spc="-52" dirty="0">
                <a:solidFill>
                  <a:srgbClr val="161723">
                    <a:alpha val="85000"/>
                  </a:srgbClr>
                </a:solidFill>
                <a:latin typeface="Inter SemiBold" panose="00000700000000000000" pitchFamily="2" charset="0"/>
              </a:rPr>
              <a:t>3</a:t>
            </a:r>
          </a:p>
        </p:txBody>
      </p:sp>
      <p:sp>
        <p:nvSpPr>
          <p:cNvPr id="1419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711440" y="5731764"/>
            <a:ext cx="2900362" cy="16287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1800" spc="-36" dirty="0">
                <a:solidFill>
                  <a:srgbClr val="161723">
                    <a:alpha val="100000"/>
                  </a:srgbClr>
                </a:solidFill>
                <a:latin typeface="Inter" panose="00000700000000000000" pitchFamily="2" charset="0"/>
              </a:rPr>
              <a:t>Données transformées écrites dans une base MySQL sous deux tables distinctes pour réutilisation en reporting et dashboards</a:t>
            </a:r>
          </a:p>
        </p:txBody>
      </p:sp>
      <p:pic>
        <p:nvPicPr>
          <p:cNvPr id="142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93">
            <a:alphaModFix amt="100000"/>
          </a:blip>
          <a:stretch/>
        </p:blipFill>
        <p:spPr>
          <a:xfrm>
            <a:off x="11109960" y="3486150"/>
            <a:ext cx="1371600" cy="1371600"/>
          </a:xfrm>
          <a:prstGeom prst="rect">
            <a:avLst/>
          </a:prstGeom>
        </p:spPr>
      </p:pic>
      <p:pic>
        <p:nvPicPr>
          <p:cNvPr id="1423" name="iconNode3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95">
            <a:alphaModFix amt="100000"/>
          </a:blip>
          <a:stretch/>
        </p:blipFill>
        <p:spPr>
          <a:xfrm>
            <a:off x="11452860" y="3829050"/>
            <a:ext cx="685800" cy="685800"/>
          </a:xfrm>
          <a:prstGeom prst="rect">
            <a:avLst/>
          </a:prstGeom>
        </p:spPr>
      </p:pic>
      <p:sp>
        <p:nvSpPr>
          <p:cNvPr id="1425" name="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109960" y="5238750"/>
            <a:ext cx="2900362" cy="3905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982"/>
              </a:lnSpc>
            </a:pPr>
            <a:r>
              <a:rPr lang="en-US" sz="2100" spc="-52" dirty="0">
                <a:solidFill>
                  <a:srgbClr val="161723">
                    <a:alpha val="100000"/>
                  </a:srgbClr>
                </a:solidFill>
                <a:latin typeface="Inter SemiBold" panose="00000700000000000000" pitchFamily="2" charset="0"/>
              </a:rPr>
              <a:t>          Tables générées</a:t>
            </a:r>
          </a:p>
        </p:txBody>
      </p:sp>
      <p:pic>
        <p:nvPicPr>
          <p:cNvPr id="142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97">
            <a:alphaModFix amt="100000"/>
          </a:blip>
          <a:stretch/>
        </p:blipFill>
        <p:spPr>
          <a:xfrm>
            <a:off x="11109960" y="5238750"/>
            <a:ext cx="381000" cy="381000"/>
          </a:xfrm>
          <a:prstGeom prst="rect">
            <a:avLst/>
          </a:prstGeom>
        </p:spPr>
      </p:pic>
      <p:sp>
        <p:nvSpPr>
          <p:cNvPr id="1429" name="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213782" y="5238750"/>
            <a:ext cx="204788" cy="3905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982"/>
              </a:lnSpc>
            </a:pPr>
            <a:r>
              <a:rPr lang="en-US" sz="2100" spc="-52" dirty="0">
                <a:solidFill>
                  <a:srgbClr val="161723">
                    <a:alpha val="85000"/>
                  </a:srgbClr>
                </a:solidFill>
                <a:latin typeface="Inter SemiBold" panose="00000700000000000000" pitchFamily="2" charset="0"/>
              </a:rPr>
              <a:t>4</a:t>
            </a:r>
          </a:p>
        </p:txBody>
      </p:sp>
      <p:sp>
        <p:nvSpPr>
          <p:cNvPr id="1431" name="Description of a 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109960" y="5731764"/>
            <a:ext cx="2900362" cy="19526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1800" spc="-36" dirty="0">
                <a:solidFill>
                  <a:srgbClr val="161723">
                    <a:alpha val="100000"/>
                  </a:srgbClr>
                </a:solidFill>
                <a:latin typeface="Inter" panose="00000700000000000000" pitchFamily="2" charset="0"/>
              </a:rPr>
              <a:t>tickets_enriched_batch: tickets enrichis avec l’équipe support assignée; tickets_by_type_batch: agrégation du nombre de tickets par type</a:t>
            </a:r>
          </a:p>
        </p:txBody>
      </p:sp>
      <p:pic>
        <p:nvPicPr>
          <p:cNvPr id="143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99">
            <a:alphaModFix amt="100000"/>
          </a:blip>
          <a:stretch/>
        </p:blipFill>
        <p:spPr>
          <a:xfrm>
            <a:off x="14508480" y="3486150"/>
            <a:ext cx="1371600" cy="1371600"/>
          </a:xfrm>
          <a:prstGeom prst="rect">
            <a:avLst/>
          </a:prstGeom>
        </p:spPr>
      </p:pic>
      <p:pic>
        <p:nvPicPr>
          <p:cNvPr id="1435" name="iconNode4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01">
            <a:alphaModFix amt="100000"/>
          </a:blip>
          <a:stretch/>
        </p:blipFill>
        <p:spPr>
          <a:xfrm>
            <a:off x="14851380" y="3829050"/>
            <a:ext cx="685800" cy="685800"/>
          </a:xfrm>
          <a:prstGeom prst="rect">
            <a:avLst/>
          </a:prstGeom>
        </p:spPr>
      </p:pic>
      <p:sp>
        <p:nvSpPr>
          <p:cNvPr id="1437" name="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4508480" y="5238750"/>
            <a:ext cx="2900362" cy="3905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982"/>
              </a:lnSpc>
            </a:pPr>
            <a:r>
              <a:rPr lang="en-US" sz="2100" spc="-52" dirty="0">
                <a:solidFill>
                  <a:srgbClr val="161723">
                    <a:alpha val="100000"/>
                  </a:srgbClr>
                </a:solidFill>
                <a:latin typeface="Inter SemiBold" panose="00000700000000000000" pitchFamily="2" charset="0"/>
              </a:rPr>
              <a:t>          Cas d’usage</a:t>
            </a:r>
          </a:p>
        </p:txBody>
      </p:sp>
      <p:pic>
        <p:nvPicPr>
          <p:cNvPr id="143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03">
            <a:alphaModFix amt="100000"/>
          </a:blip>
          <a:stretch/>
        </p:blipFill>
        <p:spPr>
          <a:xfrm>
            <a:off x="14508480" y="5238750"/>
            <a:ext cx="381000" cy="381000"/>
          </a:xfrm>
          <a:prstGeom prst="rect">
            <a:avLst/>
          </a:prstGeom>
        </p:spPr>
      </p:pic>
      <p:sp>
        <p:nvSpPr>
          <p:cNvPr id="1441" name="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4619446" y="5238750"/>
            <a:ext cx="185738" cy="3905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982"/>
              </a:lnSpc>
            </a:pPr>
            <a:r>
              <a:rPr lang="en-US" sz="2100" spc="-52" dirty="0">
                <a:solidFill>
                  <a:srgbClr val="161723">
                    <a:alpha val="85000"/>
                  </a:srgbClr>
                </a:solidFill>
                <a:latin typeface="Inter SemiBold" panose="00000700000000000000" pitchFamily="2" charset="0"/>
              </a:rPr>
              <a:t>5</a:t>
            </a:r>
          </a:p>
        </p:txBody>
      </p:sp>
      <p:sp>
        <p:nvSpPr>
          <p:cNvPr id="1443" name="Description of a 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4508480" y="5731764"/>
            <a:ext cx="2900362" cy="19526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1800" spc="-36" dirty="0">
                <a:solidFill>
                  <a:srgbClr val="161723">
                    <a:alpha val="100000"/>
                  </a:srgbClr>
                </a:solidFill>
                <a:latin typeface="Inter" panose="00000700000000000000" pitchFamily="2" charset="0"/>
              </a:rPr>
              <a:t>Reporting, dashboards et analyse du support client à partir des tables MySQL pour décisions opérationnelles et suivi des performances</a:t>
            </a:r>
          </a:p>
        </p:txBody>
      </p:sp>
      <p:sp>
        <p:nvSpPr>
          <p:cNvPr id="1445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876300"/>
            <a:ext cx="12682538" cy="6953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5376"/>
              </a:lnSpc>
            </a:pPr>
            <a:r>
              <a:rPr lang="en-US" sz="4200" spc="-105" dirty="0">
                <a:solidFill>
                  <a:srgbClr val="452E5A">
                    <a:alpha val="100000"/>
                  </a:srgbClr>
                </a:solidFill>
                <a:latin typeface="Inter" panose="00000700000000000000" pitchFamily="2" charset="0"/>
              </a:rPr>
              <a:t>Analyse et stockage des résultats</a:t>
            </a:r>
          </a:p>
        </p:txBody>
      </p:sp>
      <p:sp>
        <p:nvSpPr>
          <p:cNvPr id="1447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1676400"/>
            <a:ext cx="12682538" cy="6381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1800" spc="-36" dirty="0">
                <a:solidFill>
                  <a:srgbClr val="6E6E74">
                    <a:alpha val="100000"/>
                  </a:srgbClr>
                </a:solidFill>
                <a:latin typeface="Inter" panose="00000700000000000000" pitchFamily="2" charset="0"/>
              </a:rPr>
              <a:t>Agrégation PySpark pour indicateurs métier, puis persistance des données enrichies et des agrégats dans MySQL pour reporting et tableaux de bord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20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07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45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09">
            <a:alphaModFix amt="100000"/>
          </a:blip>
          <a:stretch/>
        </p:blipFill>
        <p:spPr>
          <a:xfrm>
            <a:off x="14630400" y="0"/>
            <a:ext cx="3657600" cy="914400"/>
          </a:xfrm>
          <a:prstGeom prst="rect">
            <a:avLst/>
          </a:prstGeom>
        </p:spPr>
      </p:pic>
      <p:pic>
        <p:nvPicPr>
          <p:cNvPr id="1453" name="svg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11">
            <a:alphaModFix amt="100000"/>
          </a:blip>
          <a:stretch/>
        </p:blipFill>
        <p:spPr>
          <a:xfrm>
            <a:off x="914400" y="2880360"/>
            <a:ext cx="16459200" cy="3276600"/>
          </a:xfrm>
          <a:prstGeom prst="rect">
            <a:avLst/>
          </a:prstGeom>
        </p:spPr>
      </p:pic>
      <p:sp>
        <p:nvSpPr>
          <p:cNvPr id="1454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66800" y="6385560"/>
            <a:ext cx="3024188" cy="1905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1404"/>
              </a:lnSpc>
            </a:pPr>
            <a:r>
              <a:rPr lang="en-US" sz="900" spc="-30" dirty="0">
                <a:solidFill>
                  <a:srgbClr val="161723">
                    <a:alpha val="100000"/>
                  </a:srgbClr>
                </a:solidFill>
                <a:latin typeface="Inter SemiBold" panose="00000700000000000000" pitchFamily="2" charset="0"/>
              </a:rPr>
              <a:t>Génération des tickets</a:t>
            </a:r>
          </a:p>
        </p:txBody>
      </p:sp>
      <p:sp>
        <p:nvSpPr>
          <p:cNvPr id="1455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66800" y="6678168"/>
            <a:ext cx="3024188" cy="6667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1728"/>
              </a:lnSpc>
            </a:pPr>
            <a:r>
              <a:rPr lang="en-US" sz="1200" spc="-24" dirty="0">
                <a:solidFill>
                  <a:srgbClr val="161723">
                    <a:alpha val="100000"/>
                  </a:srgbClr>
                </a:solidFill>
                <a:latin typeface="Inter" panose="00000700000000000000" pitchFamily="2" charset="0"/>
              </a:rPr>
              <a:t>Un Script Python crée tickets simulés avec id ticket, id client, date, type, description et priorité puis publie dans topic client_tickets</a:t>
            </a:r>
          </a:p>
        </p:txBody>
      </p:sp>
      <p:sp>
        <p:nvSpPr>
          <p:cNvPr id="1456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4358640" y="6385560"/>
            <a:ext cx="3024188" cy="1905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1404"/>
              </a:lnSpc>
            </a:pPr>
            <a:r>
              <a:rPr lang="en-US" sz="900" spc="-30" dirty="0">
                <a:solidFill>
                  <a:srgbClr val="161723">
                    <a:alpha val="100000"/>
                  </a:srgbClr>
                </a:solidFill>
                <a:latin typeface="Inter SemiBold" panose="00000700000000000000" pitchFamily="2" charset="0"/>
              </a:rPr>
              <a:t>Ingestion Redpanda</a:t>
            </a:r>
          </a:p>
        </p:txBody>
      </p:sp>
      <p:sp>
        <p:nvSpPr>
          <p:cNvPr id="1457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4358640" y="6678168"/>
            <a:ext cx="3024188" cy="6667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1728"/>
              </a:lnSpc>
            </a:pPr>
            <a:r>
              <a:rPr lang="en-US" sz="1200" spc="-24" dirty="0">
                <a:solidFill>
                  <a:srgbClr val="161723">
                    <a:alpha val="100000"/>
                  </a:srgbClr>
                </a:solidFill>
                <a:latin typeface="Inter" panose="00000700000000000000" pitchFamily="2" charset="0"/>
              </a:rPr>
              <a:t>Topic client_tickets reçoit les messages en temps réel (simuantr l-arrivée continue de données)</a:t>
            </a:r>
          </a:p>
        </p:txBody>
      </p:sp>
      <p:sp>
        <p:nvSpPr>
          <p:cNvPr id="1458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50480" y="6385560"/>
            <a:ext cx="3024188" cy="1905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1404"/>
              </a:lnSpc>
            </a:pPr>
            <a:r>
              <a:rPr lang="en-US" sz="900" spc="-30" dirty="0">
                <a:solidFill>
                  <a:srgbClr val="161723">
                    <a:alpha val="100000"/>
                  </a:srgbClr>
                </a:solidFill>
                <a:latin typeface="Inter SemiBold" panose="00000700000000000000" pitchFamily="2" charset="0"/>
              </a:rPr>
              <a:t>Traitement PySpark</a:t>
            </a:r>
          </a:p>
        </p:txBody>
      </p:sp>
      <p:sp>
        <p:nvSpPr>
          <p:cNvPr id="1459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650480" y="6678168"/>
            <a:ext cx="3024188" cy="8858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1728"/>
              </a:lnSpc>
            </a:pPr>
            <a:r>
              <a:rPr lang="en-US" sz="1200" spc="-24" dirty="0">
                <a:solidFill>
                  <a:srgbClr val="161723">
                    <a:alpha val="100000"/>
                  </a:srgbClr>
                </a:solidFill>
                <a:latin typeface="Inter" panose="00000700000000000000" pitchFamily="2" charset="0"/>
              </a:rPr>
              <a:t>Script poc_tickets_batch_json.py lit le topic, convertit JSON en DataFrame, applique schéma et enrichit avec équipe de support</a:t>
            </a:r>
          </a:p>
        </p:txBody>
      </p:sp>
      <p:sp>
        <p:nvSpPr>
          <p:cNvPr id="1460" name="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942320" y="6385560"/>
            <a:ext cx="3024188" cy="1905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1404"/>
              </a:lnSpc>
            </a:pPr>
            <a:r>
              <a:rPr lang="en-US" sz="900" spc="-30" dirty="0">
                <a:solidFill>
                  <a:srgbClr val="161723">
                    <a:alpha val="100000"/>
                  </a:srgbClr>
                </a:solidFill>
                <a:latin typeface="Inter SemiBold" panose="00000700000000000000" pitchFamily="2" charset="0"/>
              </a:rPr>
              <a:t>Stockage et export</a:t>
            </a:r>
          </a:p>
        </p:txBody>
      </p:sp>
      <p:sp>
        <p:nvSpPr>
          <p:cNvPr id="1461" name="Description of a 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942320" y="6678168"/>
            <a:ext cx="3024188" cy="8858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1728"/>
              </a:lnSpc>
            </a:pPr>
            <a:r>
              <a:rPr lang="en-US" sz="1200" spc="-24" dirty="0">
                <a:solidFill>
                  <a:srgbClr val="161723">
                    <a:alpha val="100000"/>
                  </a:srgbClr>
                </a:solidFill>
                <a:latin typeface="Inter" panose="00000700000000000000" pitchFamily="2" charset="0"/>
              </a:rPr>
              <a:t>Résultats sauvegardés dans MySQL pour stockage structuré et exportés en fichiers JSON et parquet pour visualisation ou intégration</a:t>
            </a:r>
          </a:p>
        </p:txBody>
      </p:sp>
      <p:sp>
        <p:nvSpPr>
          <p:cNvPr id="1462" name="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4234160" y="6385560"/>
            <a:ext cx="3024188" cy="1905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1404"/>
              </a:lnSpc>
            </a:pPr>
            <a:r>
              <a:rPr lang="en-US" sz="900" spc="-30" dirty="0">
                <a:solidFill>
                  <a:srgbClr val="161723">
                    <a:alpha val="100000"/>
                  </a:srgbClr>
                </a:solidFill>
                <a:latin typeface="Inter SemiBold" panose="00000700000000000000" pitchFamily="2" charset="0"/>
              </a:rPr>
              <a:t>Analyses générées</a:t>
            </a:r>
          </a:p>
        </p:txBody>
      </p:sp>
      <p:sp>
        <p:nvSpPr>
          <p:cNvPr id="1463" name="Description of a 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4234160" y="6678168"/>
            <a:ext cx="3024188" cy="13239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1728"/>
              </a:lnSpc>
            </a:pPr>
            <a:r>
              <a:rPr lang="en-US" sz="1200" spc="-24" dirty="0">
                <a:solidFill>
                  <a:srgbClr val="161723">
                    <a:alpha val="100000"/>
                  </a:srgbClr>
                </a:solidFill>
                <a:latin typeface="Inter" panose="00000700000000000000" pitchFamily="2" charset="0"/>
              </a:rPr>
              <a:t>Dans output/analyses/ :</a:t>
            </a:r>
            <a:r>
              <a:rPr lang="en-US" sz="1200" spc="-24" dirty="0">
                <a:solidFill>
                  <a:srgbClr val="161723"/>
                </a:solidFill>
                <a:latin typeface="Inter" panose="00000700000000000000" pitchFamily="2" charset="0"/>
              </a:rPr>
              <a:t>- tickets_by_priority_json/ : tickets par priorité</a:t>
            </a:r>
            <a:r>
              <a:rPr lang="en-US" sz="1200" spc="-24" dirty="0">
                <a:solidFill>
                  <a:srgbClr val="161723"/>
                </a:solidFill>
                <a:latin typeface="Inter" panose="00000700000000000000" pitchFamily="2" charset="0"/>
              </a:rPr>
              <a:t>- tickets_by_team_json/ : tickets par équipe support</a:t>
            </a:r>
            <a:r>
              <a:rPr lang="en-US" sz="1200" spc="-24" dirty="0">
                <a:solidFill>
                  <a:srgbClr val="161723"/>
                </a:solidFill>
                <a:latin typeface="Inter" panose="00000700000000000000" pitchFamily="2" charset="0"/>
              </a:rPr>
              <a:t>- tickets_by_day_csv/ : tickets par jour</a:t>
            </a:r>
            <a:r>
              <a:rPr lang="en-US" sz="1200" spc="-24" dirty="0">
                <a:solidFill>
                  <a:srgbClr val="161723"/>
                </a:solidFill>
                <a:latin typeface="Inter" panose="00000700000000000000" pitchFamily="2" charset="0"/>
              </a:rPr>
              <a:t>- top_clients_csv/ : top 10 clients</a:t>
            </a:r>
          </a:p>
        </p:txBody>
      </p:sp>
      <p:sp>
        <p:nvSpPr>
          <p:cNvPr id="1464" name="Description of a 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4234160" y="7994523"/>
            <a:ext cx="3024188" cy="2286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1728"/>
              </a:lnSpc>
            </a:pPr>
            <a:r>
              <a:rPr lang="en-US" sz="1200" spc="-24" dirty="0">
                <a:solidFill>
                  <a:srgbClr val="161723">
                    <a:alpha val="100000"/>
                  </a:srgbClr>
                </a:solidFill>
                <a:latin typeface="Inter" panose="00000700000000000000" pitchFamily="2" charset="0"/>
              </a:rPr>
              <a:t>Dans `output/analyses/` :</a:t>
            </a:r>
          </a:p>
        </p:txBody>
      </p:sp>
      <p:sp>
        <p:nvSpPr>
          <p:cNvPr id="1465" name="Description of a 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4234160" y="8213884"/>
            <a:ext cx="3024188" cy="4476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1728"/>
              </a:lnSpc>
            </a:pPr>
            <a:r>
              <a:rPr lang="en-US" sz="1200" spc="-24" dirty="0">
                <a:solidFill>
                  <a:srgbClr val="161723">
                    <a:alpha val="100000"/>
                  </a:srgbClr>
                </a:solidFill>
                <a:latin typeface="Inter" panose="00000700000000000000" pitchFamily="2" charset="0"/>
              </a:rPr>
              <a:t>- `tickets_by_priority_json/` : tickets par priorité</a:t>
            </a:r>
          </a:p>
        </p:txBody>
      </p:sp>
      <p:sp>
        <p:nvSpPr>
          <p:cNvPr id="1466" name="Description of a 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4234160" y="8652700"/>
            <a:ext cx="3024188" cy="4476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1728"/>
              </a:lnSpc>
            </a:pPr>
            <a:r>
              <a:rPr lang="en-US" sz="1200" spc="-24" dirty="0">
                <a:solidFill>
                  <a:srgbClr val="161723">
                    <a:alpha val="100000"/>
                  </a:srgbClr>
                </a:solidFill>
                <a:latin typeface="Inter" panose="00000700000000000000" pitchFamily="2" charset="0"/>
              </a:rPr>
              <a:t>- `tickets_by_team_json/` : tickets par équipe support</a:t>
            </a:r>
          </a:p>
        </p:txBody>
      </p:sp>
      <p:sp>
        <p:nvSpPr>
          <p:cNvPr id="1467" name="Description of a 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4234160" y="9091422"/>
            <a:ext cx="3024188" cy="2286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1728"/>
              </a:lnSpc>
            </a:pPr>
            <a:r>
              <a:rPr lang="en-US" sz="1200" spc="-24" dirty="0">
                <a:solidFill>
                  <a:srgbClr val="161723">
                    <a:alpha val="100000"/>
                  </a:srgbClr>
                </a:solidFill>
                <a:latin typeface="Inter" panose="00000700000000000000" pitchFamily="2" charset="0"/>
              </a:rPr>
              <a:t>- `tickets_by_day_csv/` : tickets par jour</a:t>
            </a:r>
          </a:p>
        </p:txBody>
      </p:sp>
      <p:sp>
        <p:nvSpPr>
          <p:cNvPr id="1468" name="Description of a primary heading-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4234160" y="9310878"/>
            <a:ext cx="3024188" cy="2286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1728"/>
              </a:lnSpc>
            </a:pPr>
            <a:r>
              <a:rPr lang="en-US" sz="1200" spc="-24" dirty="0">
                <a:solidFill>
                  <a:srgbClr val="161723">
                    <a:alpha val="100000"/>
                  </a:srgbClr>
                </a:solidFill>
                <a:latin typeface="Inter" panose="00000700000000000000" pitchFamily="2" charset="0"/>
              </a:rPr>
              <a:t>- `top_clients_csv/` : top 10 clients</a:t>
            </a:r>
          </a:p>
        </p:txBody>
      </p:sp>
      <p:sp>
        <p:nvSpPr>
          <p:cNvPr id="1469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876300"/>
            <a:ext cx="12682538" cy="6953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5376"/>
              </a:lnSpc>
            </a:pPr>
            <a:r>
              <a:rPr lang="en-US" sz="4200" spc="-105" dirty="0">
                <a:solidFill>
                  <a:srgbClr val="452E5A">
                    <a:alpha val="100000"/>
                  </a:srgbClr>
                </a:solidFill>
                <a:latin typeface="Inter" panose="00000700000000000000" pitchFamily="2" charset="0"/>
              </a:rPr>
              <a:t>POC gestion de tickets: pipeline ++</a:t>
            </a:r>
          </a:p>
        </p:txBody>
      </p:sp>
      <p:sp>
        <p:nvSpPr>
          <p:cNvPr id="1471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1676400"/>
            <a:ext cx="12682538" cy="6381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1800" spc="-36" dirty="0">
                <a:solidFill>
                  <a:srgbClr val="6E6E74">
                    <a:alpha val="100000"/>
                  </a:srgbClr>
                </a:solidFill>
                <a:latin typeface="Inter" panose="00000700000000000000" pitchFamily="2" charset="0"/>
              </a:rPr>
              <a:t>Simulation complète d-ingestion avec Redpanda, traitement distribué PySpark et export des résultats pour analyse et stockage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slides/slide21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15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476" name="3ce7124b-dbb9-493c-a4b0-79daa17415f8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617">
            <a:alphaModFix amt="10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47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19">
            <a:alphaModFix amt="10000"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1480" name="Title 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881062"/>
            <a:ext cx="12682538" cy="6477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4992"/>
              </a:lnSpc>
            </a:pPr>
            <a:r>
              <a:rPr lang="en-US" sz="3900" spc="-105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Pipeline ++</a:t>
            </a:r>
          </a:p>
        </p:txBody>
      </p:sp>
      <p:sp>
        <p:nvSpPr>
          <p:cNvPr id="1482" name="SubTitle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14400" y="1714500"/>
            <a:ext cx="12682538" cy="3429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56"/>
              </a:lnSpc>
            </a:pPr>
            <a:r>
              <a:rPr lang="en-US" sz="1800" spc="-36" dirty="0">
                <a:solidFill>
                  <a:srgbClr val="FFFFFF">
                    <a:alpha val="100000"/>
                  </a:srgbClr>
                </a:solidFill>
                <a:latin typeface="Inter" panose="00000700000000000000" pitchFamily="2" charset="0"/>
              </a:rPr>
              <a:t>diagramme mermaid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143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Calibri Light</vt:lpstr>
      <vt:lpstr>Office Theme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>Exporter Version: 2.6.0.0, docId: 26857564, orderId: 10192424</dc:title>
  <dc:creator>Presentations.AI Exporter</dc:creator>
  <lastModifiedBy>Presentations.AI Exporter</lastModifiedBy>
  <revision>1</revision>
  <dcterms:created xsi:type="dcterms:W3CDTF">2026-03-22T07:15:24.0000000Z</dcterms:created>
  <dcterms:modified xsi:type="dcterms:W3CDTF">2026-03-22T07:15:24.0000000Z</dcterms:modified>
</coreProperties>
</file>